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83ee6e355944f6" /><Relationship Type="http://schemas.openxmlformats.org/officeDocument/2006/relationships/extended-properties" Target="/docProps/app.xml" Id="R90a64e42aefb4905" /><Relationship Type="http://schemas.openxmlformats.org/officeDocument/2006/relationships/officeDocument" Target="/ppt/presentation.xml" Id="Rfbd1de8d63fc4e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57dab09086403f"/>
  </p:sldMasterIdLst>
  <p:notesMasterIdLst>
    <p:notesMasterId xmlns:r="http://schemas.openxmlformats.org/officeDocument/2006/relationships" r:id="R111cef44a9314d69"/>
  </p:notesMasterIdLst>
  <p:sldIdLst>
    <p:sldId xmlns:r="http://schemas.openxmlformats.org/officeDocument/2006/relationships" id="256" r:id="R8ada4fe2db754cba"/>
    <p:sldId xmlns:r="http://schemas.openxmlformats.org/officeDocument/2006/relationships" id="257" r:id="Rd60d94d8765c47f0"/>
    <p:sldId xmlns:r="http://schemas.openxmlformats.org/officeDocument/2006/relationships" id="258" r:id="R6d0458d5142f4847"/>
    <p:sldId xmlns:r="http://schemas.openxmlformats.org/officeDocument/2006/relationships" id="259" r:id="R2413cc7c42594ee7"/>
    <p:sldId xmlns:r="http://schemas.openxmlformats.org/officeDocument/2006/relationships" id="260" r:id="R948b987b92224670"/>
    <p:sldId xmlns:r="http://schemas.openxmlformats.org/officeDocument/2006/relationships" id="261" r:id="R70e9eb964ce246c3"/>
    <p:sldId xmlns:r="http://schemas.openxmlformats.org/officeDocument/2006/relationships" id="262" r:id="R37bdc6c66c534be6"/>
    <p:sldId xmlns:r="http://schemas.openxmlformats.org/officeDocument/2006/relationships" id="263" r:id="R204a4d0d81794bbd"/>
    <p:sldId xmlns:r="http://schemas.openxmlformats.org/officeDocument/2006/relationships" id="264" r:id="Rdba942dabeb04d48"/>
    <p:sldId xmlns:r="http://schemas.openxmlformats.org/officeDocument/2006/relationships" id="265" r:id="R82ba50c545e14815"/>
    <p:sldId xmlns:r="http://schemas.openxmlformats.org/officeDocument/2006/relationships" id="266" r:id="R61a7e2faaf3e4290"/>
    <p:sldId xmlns:r="http://schemas.openxmlformats.org/officeDocument/2006/relationships" id="267" r:id="R49bb70a509824c02"/>
    <p:sldId xmlns:r="http://schemas.openxmlformats.org/officeDocument/2006/relationships" id="268" r:id="R06ae3241c3944634"/>
    <p:sldId xmlns:r="http://schemas.openxmlformats.org/officeDocument/2006/relationships" id="269" r:id="R220fa9ae88794160"/>
    <p:sldId xmlns:r="http://schemas.openxmlformats.org/officeDocument/2006/relationships" id="270" r:id="R28c36e8cb56a443e"/>
    <p:sldId xmlns:r="http://schemas.openxmlformats.org/officeDocument/2006/relationships" id="271" r:id="Rd1b0319d9ebf4e09"/>
    <p:sldId xmlns:r="http://schemas.openxmlformats.org/officeDocument/2006/relationships" id="272" r:id="R8d9545fd2f184154"/>
    <p:sldId xmlns:r="http://schemas.openxmlformats.org/officeDocument/2006/relationships" id="273" r:id="Rae01bec352c34fc9"/>
    <p:sldId xmlns:r="http://schemas.openxmlformats.org/officeDocument/2006/relationships" id="274" r:id="Rf776a1b73f2a4160"/>
    <p:sldId xmlns:r="http://schemas.openxmlformats.org/officeDocument/2006/relationships" id="275" r:id="R409cca0d44de4963"/>
    <p:sldId xmlns:r="http://schemas.openxmlformats.org/officeDocument/2006/relationships" id="276" r:id="R0ba00979f2884778"/>
    <p:sldId xmlns:r="http://schemas.openxmlformats.org/officeDocument/2006/relationships" id="277" r:id="R374ea5dfb3a54447"/>
    <p:sldId xmlns:r="http://schemas.openxmlformats.org/officeDocument/2006/relationships" id="278" r:id="Ra621b9bc48844902"/>
    <p:sldId xmlns:r="http://schemas.openxmlformats.org/officeDocument/2006/relationships" id="279" r:id="R15d21483be614c72"/>
    <p:sldId xmlns:r="http://schemas.openxmlformats.org/officeDocument/2006/relationships" id="280" r:id="Rfcfc602552aa4c8e"/>
    <p:sldId xmlns:r="http://schemas.openxmlformats.org/officeDocument/2006/relationships" id="281" r:id="Rb39e6fa925c2410f"/>
    <p:sldId xmlns:r="http://schemas.openxmlformats.org/officeDocument/2006/relationships" id="282" r:id="Raa5c49e370f24fdb"/>
    <p:sldId xmlns:r="http://schemas.openxmlformats.org/officeDocument/2006/relationships" id="283" r:id="R13761c6ada424338"/>
    <p:sldId xmlns:r="http://schemas.openxmlformats.org/officeDocument/2006/relationships" id="284" r:id="Raaee573fc1f44b84"/>
    <p:sldId xmlns:r="http://schemas.openxmlformats.org/officeDocument/2006/relationships" id="285" r:id="Rbbac6d339cf543c9"/>
    <p:sldId xmlns:r="http://schemas.openxmlformats.org/officeDocument/2006/relationships" id="286" r:id="Reae0d231357d4458"/>
    <p:sldId xmlns:r="http://schemas.openxmlformats.org/officeDocument/2006/relationships" id="287" r:id="R2c104ee530244f93"/>
    <p:sldId xmlns:r="http://schemas.openxmlformats.org/officeDocument/2006/relationships" id="288" r:id="R01c6acd8d3314c03"/>
    <p:sldId xmlns:r="http://schemas.openxmlformats.org/officeDocument/2006/relationships" id="289" r:id="R97fbb486361f4ac7"/>
    <p:sldId xmlns:r="http://schemas.openxmlformats.org/officeDocument/2006/relationships" id="290" r:id="R09424daaf39d4a3e"/>
    <p:sldId xmlns:r="http://schemas.openxmlformats.org/officeDocument/2006/relationships" id="291" r:id="R31701e42d89c4c19"/>
    <p:sldId xmlns:r="http://schemas.openxmlformats.org/officeDocument/2006/relationships" id="292" r:id="R402e71914fb44cbf"/>
    <p:sldId xmlns:r="http://schemas.openxmlformats.org/officeDocument/2006/relationships" id="293" r:id="R05855a205f3d47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e85582849f41fe" /><Relationship Type="http://schemas.openxmlformats.org/officeDocument/2006/relationships/slideMaster" Target="/ppt/slideMasters/slideMaster1.xml" Id="Rb957dab09086403f" /><Relationship Type="http://schemas.openxmlformats.org/officeDocument/2006/relationships/notesMaster" Target="/ppt/notesMasters/notesMaster1.xml" Id="R111cef44a9314d69" /><Relationship Type="http://schemas.openxmlformats.org/officeDocument/2006/relationships/presProps" Target="/ppt/presProps.xml" Id="Rdc2befaa1d364c77" /><Relationship Type="http://schemas.openxmlformats.org/officeDocument/2006/relationships/tableStyles" Target="/ppt/tableStyles.xml" Id="R3f7f80eb5ac94993" /><Relationship Type="http://schemas.openxmlformats.org/officeDocument/2006/relationships/slide" Target="/ppt/slides/slide1.xml" Id="R8ada4fe2db754cba" /><Relationship Type="http://schemas.openxmlformats.org/officeDocument/2006/relationships/slide" Target="/ppt/slides/slide2.xml" Id="Rd60d94d8765c47f0" /><Relationship Type="http://schemas.openxmlformats.org/officeDocument/2006/relationships/slide" Target="/ppt/slides/slide3.xml" Id="R6d0458d5142f4847" /><Relationship Type="http://schemas.openxmlformats.org/officeDocument/2006/relationships/slide" Target="/ppt/slides/slide4.xml" Id="R2413cc7c42594ee7" /><Relationship Type="http://schemas.openxmlformats.org/officeDocument/2006/relationships/slide" Target="/ppt/slides/slide5.xml" Id="R948b987b92224670" /><Relationship Type="http://schemas.openxmlformats.org/officeDocument/2006/relationships/slide" Target="/ppt/slides/slide6.xml" Id="R70e9eb964ce246c3" /><Relationship Type="http://schemas.openxmlformats.org/officeDocument/2006/relationships/slide" Target="/ppt/slides/slide7.xml" Id="R37bdc6c66c534be6" /><Relationship Type="http://schemas.openxmlformats.org/officeDocument/2006/relationships/slide" Target="/ppt/slides/slide8.xml" Id="R204a4d0d81794bbd" /><Relationship Type="http://schemas.openxmlformats.org/officeDocument/2006/relationships/slide" Target="/ppt/slides/slide9.xml" Id="Rdba942dabeb04d48" /><Relationship Type="http://schemas.openxmlformats.org/officeDocument/2006/relationships/slide" Target="/ppt/slides/slide10.xml" Id="R82ba50c545e14815" /><Relationship Type="http://schemas.openxmlformats.org/officeDocument/2006/relationships/slide" Target="/ppt/slides/slide11.xml" Id="R61a7e2faaf3e4290" /><Relationship Type="http://schemas.openxmlformats.org/officeDocument/2006/relationships/slide" Target="/ppt/slides/slide12.xml" Id="R49bb70a509824c02" /><Relationship Type="http://schemas.openxmlformats.org/officeDocument/2006/relationships/slide" Target="/ppt/slides/slide13.xml" Id="R06ae3241c3944634" /><Relationship Type="http://schemas.openxmlformats.org/officeDocument/2006/relationships/slide" Target="/ppt/slides/slide14.xml" Id="R220fa9ae88794160" /><Relationship Type="http://schemas.openxmlformats.org/officeDocument/2006/relationships/slide" Target="/ppt/slides/slide15.xml" Id="R28c36e8cb56a443e" /><Relationship Type="http://schemas.openxmlformats.org/officeDocument/2006/relationships/slide" Target="/ppt/slides/slide16.xml" Id="Rd1b0319d9ebf4e09" /><Relationship Type="http://schemas.openxmlformats.org/officeDocument/2006/relationships/slide" Target="/ppt/slides/slide17.xml" Id="R8d9545fd2f184154" /><Relationship Type="http://schemas.openxmlformats.org/officeDocument/2006/relationships/slide" Target="/ppt/slides/slide18.xml" Id="Rae01bec352c34fc9" /><Relationship Type="http://schemas.openxmlformats.org/officeDocument/2006/relationships/slide" Target="/ppt/slides/slide19.xml" Id="Rf776a1b73f2a4160" /><Relationship Type="http://schemas.openxmlformats.org/officeDocument/2006/relationships/slide" Target="/ppt/slides/slide20.xml" Id="R409cca0d44de4963" /><Relationship Type="http://schemas.openxmlformats.org/officeDocument/2006/relationships/slide" Target="/ppt/slides/slide21.xml" Id="R0ba00979f2884778" /><Relationship Type="http://schemas.openxmlformats.org/officeDocument/2006/relationships/slide" Target="/ppt/slides/slide22.xml" Id="R374ea5dfb3a54447" /><Relationship Type="http://schemas.openxmlformats.org/officeDocument/2006/relationships/slide" Target="/ppt/slides/slide23.xml" Id="Ra621b9bc48844902" /><Relationship Type="http://schemas.openxmlformats.org/officeDocument/2006/relationships/slide" Target="/ppt/slides/slide24.xml" Id="R15d21483be614c72" /><Relationship Type="http://schemas.openxmlformats.org/officeDocument/2006/relationships/slide" Target="/ppt/slides/slide25.xml" Id="Rfcfc602552aa4c8e" /><Relationship Type="http://schemas.openxmlformats.org/officeDocument/2006/relationships/slide" Target="/ppt/slides/slide26.xml" Id="Rb39e6fa925c2410f" /><Relationship Type="http://schemas.openxmlformats.org/officeDocument/2006/relationships/slide" Target="/ppt/slides/slide27.xml" Id="Raa5c49e370f24fdb" /><Relationship Type="http://schemas.openxmlformats.org/officeDocument/2006/relationships/slide" Target="/ppt/slides/slide28.xml" Id="R13761c6ada424338" /><Relationship Type="http://schemas.openxmlformats.org/officeDocument/2006/relationships/slide" Target="/ppt/slides/slide29.xml" Id="Raaee573fc1f44b84" /><Relationship Type="http://schemas.openxmlformats.org/officeDocument/2006/relationships/slide" Target="/ppt/slides/slide30.xml" Id="Rbbac6d339cf543c9" /><Relationship Type="http://schemas.openxmlformats.org/officeDocument/2006/relationships/slide" Target="/ppt/slides/slide31.xml" Id="Reae0d231357d4458" /><Relationship Type="http://schemas.openxmlformats.org/officeDocument/2006/relationships/slide" Target="/ppt/slides/slide32.xml" Id="R2c104ee530244f93" /><Relationship Type="http://schemas.openxmlformats.org/officeDocument/2006/relationships/slide" Target="/ppt/slides/slide33.xml" Id="R01c6acd8d3314c03" /><Relationship Type="http://schemas.openxmlformats.org/officeDocument/2006/relationships/slide" Target="/ppt/slides/slide34.xml" Id="R97fbb486361f4ac7" /><Relationship Type="http://schemas.openxmlformats.org/officeDocument/2006/relationships/slide" Target="/ppt/slides/slide35.xml" Id="R09424daaf39d4a3e" /><Relationship Type="http://schemas.openxmlformats.org/officeDocument/2006/relationships/slide" Target="/ppt/slides/slide36.xml" Id="R31701e42d89c4c19" /><Relationship Type="http://schemas.openxmlformats.org/officeDocument/2006/relationships/slide" Target="/ppt/slides/slide37.xml" Id="R402e71914fb44cbf" /><Relationship Type="http://schemas.openxmlformats.org/officeDocument/2006/relationships/slide" Target="/ppt/slides/slide38.xml" Id="R05855a205f3d47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596af3c68047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fe71d6a23f4fae" /><Relationship Type="http://schemas.openxmlformats.org/officeDocument/2006/relationships/notesMaster" Target="/ppt/notesMasters/notesMaster1.xml" Id="R821256d0f20e4b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5ff1b06cf749c4" /><Relationship Type="http://schemas.openxmlformats.org/officeDocument/2006/relationships/notesMaster" Target="/ppt/notesMasters/notesMaster1.xml" Id="R52480f8a66ec4a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16de4d5d6a449d" /><Relationship Type="http://schemas.openxmlformats.org/officeDocument/2006/relationships/notesMaster" Target="/ppt/notesMasters/notesMaster1.xml" Id="Re9a09e58328546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90c186544b43f3" /><Relationship Type="http://schemas.openxmlformats.org/officeDocument/2006/relationships/notesMaster" Target="/ppt/notesMasters/notesMaster1.xml" Id="Rd60c8419019d42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b7f99f17ce4745" /><Relationship Type="http://schemas.openxmlformats.org/officeDocument/2006/relationships/notesMaster" Target="/ppt/notesMasters/notesMaster1.xml" Id="R04b7c6202c6a44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792c1869d344a3" /><Relationship Type="http://schemas.openxmlformats.org/officeDocument/2006/relationships/notesMaster" Target="/ppt/notesMasters/notesMaster1.xml" Id="Rf1172267bdc742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6af9c3128d47de" /><Relationship Type="http://schemas.openxmlformats.org/officeDocument/2006/relationships/notesMaster" Target="/ppt/notesMasters/notesMaster1.xml" Id="R7d46e435a42c4c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fa3cfc260b4347" /><Relationship Type="http://schemas.openxmlformats.org/officeDocument/2006/relationships/notesMaster" Target="/ppt/notesMasters/notesMaster1.xml" Id="Re7ae85b2e3544c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702bb4f91146dc" /><Relationship Type="http://schemas.openxmlformats.org/officeDocument/2006/relationships/notesMaster" Target="/ppt/notesMasters/notesMaster1.xml" Id="R674f34232b7149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8c3ff6cc4a4045" /><Relationship Type="http://schemas.openxmlformats.org/officeDocument/2006/relationships/notesMaster" Target="/ppt/notesMasters/notesMaster1.xml" Id="R50052abc94e24b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2d2a4154614128" /><Relationship Type="http://schemas.openxmlformats.org/officeDocument/2006/relationships/notesMaster" Target="/ppt/notesMasters/notesMaster1.xml" Id="R1db18459cc6548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3e514e76004822" /><Relationship Type="http://schemas.openxmlformats.org/officeDocument/2006/relationships/notesMaster" Target="/ppt/notesMasters/notesMaster1.xml" Id="Ra7757240232846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326fe3adb64876" /><Relationship Type="http://schemas.openxmlformats.org/officeDocument/2006/relationships/notesMaster" Target="/ppt/notesMasters/notesMaster1.xml" Id="R92d01e7758e34f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7cdaba64504963" /><Relationship Type="http://schemas.openxmlformats.org/officeDocument/2006/relationships/notesMaster" Target="/ppt/notesMasters/notesMaster1.xml" Id="R36269d633f924c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148bf152a84b13" /><Relationship Type="http://schemas.openxmlformats.org/officeDocument/2006/relationships/notesMaster" Target="/ppt/notesMasters/notesMaster1.xml" Id="R714089c0f9804e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e30c31a75342ab" /><Relationship Type="http://schemas.openxmlformats.org/officeDocument/2006/relationships/notesMaster" Target="/ppt/notesMasters/notesMaster1.xml" Id="R04abb9d68b584a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1a58a3c2a6465b" /><Relationship Type="http://schemas.openxmlformats.org/officeDocument/2006/relationships/notesMaster" Target="/ppt/notesMasters/notesMaster1.xml" Id="Raa4f523efa784d2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c702a1dffd434c" /><Relationship Type="http://schemas.openxmlformats.org/officeDocument/2006/relationships/notesMaster" Target="/ppt/notesMasters/notesMaster1.xml" Id="R3910c5c5b6dc4a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57f2fa81da4ac1" /><Relationship Type="http://schemas.openxmlformats.org/officeDocument/2006/relationships/notesMaster" Target="/ppt/notesMasters/notesMaster1.xml" Id="R8b797b1fb36442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30417b56b34901" /><Relationship Type="http://schemas.openxmlformats.org/officeDocument/2006/relationships/notesMaster" Target="/ppt/notesMasters/notesMaster1.xml" Id="R42c12190502346a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cee1e1116c410b" /><Relationship Type="http://schemas.openxmlformats.org/officeDocument/2006/relationships/notesMaster" Target="/ppt/notesMasters/notesMaster1.xml" Id="R98bc9be0821040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d03435040d049b2" /><Relationship Type="http://schemas.openxmlformats.org/officeDocument/2006/relationships/notesMaster" Target="/ppt/notesMasters/notesMaster1.xml" Id="R74ef0474bd08470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1c62067bec34b3b" /><Relationship Type="http://schemas.openxmlformats.org/officeDocument/2006/relationships/notesMaster" Target="/ppt/notesMasters/notesMaster1.xml" Id="R6eb2eb54699545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e26bd1b8c304690" /><Relationship Type="http://schemas.openxmlformats.org/officeDocument/2006/relationships/notesMaster" Target="/ppt/notesMasters/notesMaster1.xml" Id="Reb2a910e0fef433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c0ac8e9225b48f5" /><Relationship Type="http://schemas.openxmlformats.org/officeDocument/2006/relationships/notesMaster" Target="/ppt/notesMasters/notesMaster1.xml" Id="Ra2d11d822f74435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d85baa7f534add" /><Relationship Type="http://schemas.openxmlformats.org/officeDocument/2006/relationships/notesMaster" Target="/ppt/notesMasters/notesMaster1.xml" Id="R9ebcd41c80144e4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ee0f3297aba4cf1" /><Relationship Type="http://schemas.openxmlformats.org/officeDocument/2006/relationships/notesMaster" Target="/ppt/notesMasters/notesMaster1.xml" Id="R12e445dfb6414f7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fcd6f00868f4dfd" /><Relationship Type="http://schemas.openxmlformats.org/officeDocument/2006/relationships/notesMaster" Target="/ppt/notesMasters/notesMaster1.xml" Id="Rbc5d38ab01fb41f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1c32ba258ba4e8b" /><Relationship Type="http://schemas.openxmlformats.org/officeDocument/2006/relationships/notesMaster" Target="/ppt/notesMasters/notesMaster1.xml" Id="R418a25940f2b491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8ad1b2d2b2047be" /><Relationship Type="http://schemas.openxmlformats.org/officeDocument/2006/relationships/notesMaster" Target="/ppt/notesMasters/notesMaster1.xml" Id="R560fc3c0bb234aa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94f05b59b684ffa" /><Relationship Type="http://schemas.openxmlformats.org/officeDocument/2006/relationships/notesMaster" Target="/ppt/notesMasters/notesMaster1.xml" Id="R137da2c1734245f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ae012a4f70f421f" /><Relationship Type="http://schemas.openxmlformats.org/officeDocument/2006/relationships/notesMaster" Target="/ppt/notesMasters/notesMaster1.xml" Id="Rc40fccacfcef42d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16ee48d5aaf4f4d" /><Relationship Type="http://schemas.openxmlformats.org/officeDocument/2006/relationships/notesMaster" Target="/ppt/notesMasters/notesMaster1.xml" Id="R35f63b1b2eef4ec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70f638336d34d91" /><Relationship Type="http://schemas.openxmlformats.org/officeDocument/2006/relationships/notesMaster" Target="/ppt/notesMasters/notesMaster1.xml" Id="R3332118c674d400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d3ec62413a54adf" /><Relationship Type="http://schemas.openxmlformats.org/officeDocument/2006/relationships/notesMaster" Target="/ppt/notesMasters/notesMaster1.xml" Id="R6d6ac5107069446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c9150f8fe1541ea" /><Relationship Type="http://schemas.openxmlformats.org/officeDocument/2006/relationships/notesMaster" Target="/ppt/notesMasters/notesMaster1.xml" Id="R589daef06828433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92ab70444704031" /><Relationship Type="http://schemas.openxmlformats.org/officeDocument/2006/relationships/notesMaster" Target="/ppt/notesMasters/notesMaster1.xml" Id="R2c34578823e24d4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f88fd7f46de438b" /><Relationship Type="http://schemas.openxmlformats.org/officeDocument/2006/relationships/notesMaster" Target="/ppt/notesMasters/notesMaster1.xml" Id="R0a04176a692f4b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分鐘循環顯示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講述：歡迎各位。請先確認帳號可以使用，不要急著送出建置需求。今天會比較兩條路徑，請先保留 Lovable 的可用額度。 如果今天的 5 點已經用完，請先向我示意，我會私下提供群組加入方式。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操作：打開學員講義的環境準備。請已完成的人協助鄰座。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檢核：學員能指出自己的工具、帳號與教材所在位置。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轉場：接著確認本機起始專案。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講述：起始專案尚未實作搜尋、收藏或衝堂提示。請先不要打開參考解答。設定及安裝時間會另外記錄，正式建置才開始 15 分鐘計時。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 starter 終端機示範兩個指令，指出需要停留在有 package.json 的資料夾。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檢核：學員能看到空白頁，知道本機網址。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轉場：最後確認額度與卡關時的接續方法。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講述：免費建置額度不是固定五次提示。如果今天的 5 點已用完，或可用額度不足，請向我示意，我會私下提供群組加入方式。加入後依現場安排確認是否能繼續實作。若仍無法建置，保留當下狀態，使用離線版完成驗收練習。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操作：查看帳號餘額。由講師私下提供邀請並協助加入群組，確認實作入口可用。群組加入屬環境準備，另外記錄設定時間。指出離線版本作為下一層備援。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檢核：每人知道自己的額度來源。額度用完者能向講師取得群組加入方式；仍無法實作者知道離線檔案位置。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轉場：13:30 開始正式課程。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時間：13:30–13:31，1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講述：我是林建宏 Wolke。我把自己定位為一名啟發者，透過分享開發經驗，幫助大家理解問題並動手實作。我是 Google Developer Expert、LINE Expert，也是技術書作者，持續分享 AI 人機協作、提示工程與程式開發。今天用同一份 Web 需求，親自觀察兩種工具的建置、修改與驗收。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操作：約 30 秒介紹背景，指出 Medium 文章與著作。接著說明本次以 Codex 桌面 App 示範通用工具，CLI 操作放在附錄。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檢核：確認全場能看清投影字體。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轉場：先看看今天要完成的作品。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時間：13:31–13:33，2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講述：這是一個 12 場議程的小工具。我們希望能搜尋講者、篩選主題，並保存自己想去的場次。畫面中的議程與講者是合成資料。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操作：現場開啟離線參考版，搜尋林以安，收藏 S01、S03，重新整理，確認收藏仍在。切第二版加入 S02 看提醒。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檢核：請學員說出畫面可見但尚未證明的功能，例如重新整理保存。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轉場：接下來說明今天要留下什麼。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時間：13:33–13:35，2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講述：請舉手讓我知道大家主要使用哪套工具。你可以沿用自己熟悉的工具，只要使用相同需求及資料，並記下條件。今天希望每個人都能留下可操作作品和自己的觀察。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操作：快速詢問工具分布。指出兩段 15 分鐘建置與各 5 分鐘修改。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檢核：確認學員知道可以自選通用工具，不必現場換裝。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轉場：先看兩類工具在工作流程中的差別。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時間：13:35–13:37，2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講述：通用工具可以在多種專案中工作，場景工具把特定開發流程整合在一起。兩者能力有重疊，不能只憑介面分類就推斷誰一定比較好。今天選 Web 開發作為共同任務。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操作：指出本機預覽與平台預覽的差異。本次 Lovable 新專案使用平台原生技術堆疊，本機為 React、TypeScript 與 Vite。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檢核：學員理解比較的是整個工作流程，無法單獨歸因於模型。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轉場：把傳統開發也放進同一個流程來看。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時間：13:37–13:39，2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講述：AI 改變產生程式的方式，但需求確認與成果驗收仍需人負責。手工開發用同一份空白專案，允許查官方文件並關閉 AI 補全。手工及兩套 AI 的獨立計時紀錄若未取得，就會明示。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操作：指出一段等待生成的時間與一段人工檢查的時間，都屬於開發流程。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檢核：確認沒有人把參考解答當成手工實測。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轉場：現在把完成標準寫清楚。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時間：13:39–13:41，2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講述：我們用六個驗收項目共同定義第一版。請注意 A6 同時包含收藏保存與手機版操作，不能只看首頁截圖就打勾。每一項的完整操作在學員講義。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操作：快速指向 A1–A6 文件，確認學員找到表格。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檢核：請一位學員說出 A3 的預期，例如 AI 搜尋加 Web 主題應為零筆。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轉場：接著定義如何計時。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時間：13:41–13:43，2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講述：設定與套件安裝另計。每輪從開始處理需求或程式計時，驗收也算進去。到截止時沒通過就保留未完成狀態。不要把截止的十五分鐘寫成十五分鐘完成。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操作：展示紀錄表的狀態與通過 ID 欄位。說明除錯時間包含在經過時間內，不能再加總一次。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檢核：確認學員能區分未取得、未測及零。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轉場：最後把規格整理成可貼給工具的提示。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時間：13:43–13:45，2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講述：一份可執行需求應包含目標、資料、限制和驗收條件。把資料固定，可以避免比較時某個版本自動加出不存在的議程。工具回報測試通過後，我們仍要依表格實際操作。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操作：打開初版提示，指出正文相同，只有 Lovable 附完整 JSON、本機版指定檔案位置。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檢核：學員能找到兩份提示並理解差異。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轉場：先從 Lovable 開始。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時間：13:45–13:47，2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講述：這份提示已包含所有合成資料。請用新專案，避免帶入既有功能。平台介面可能調整，以帳號當日畫面為準。如果先顯示計畫，需要進入建置才會改程式。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操作：先確認學員使用個人額度或講師提供群組的實作安排，再在 Lovable 新專案貼完整提示並示範預覽位置。若額度已用完，講師私下提供群組加入方式。若服務仍無法使用，切換離線參考版做驗收並保留原因。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檢核：學員準備好送出提示及計時。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轉場：下一頁會固定顯示任務。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時間：13:47–14:03，1 分鐘說明加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講述：計時從 13:48 開始。大家要在這十五分鐘裡建置並操作六個驗收項目。畫面出現後就開始檢查，不要把最後一分鐘全部留給驗收。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操作：第 5 分鐘提醒查看預覽。第 10 分鐘提醒轉入驗收。最後 2 分鐘提醒保存紀錄。依現場狀況走動但不逐台長時間排障。 額度用完者先由講師私下提供群組加入方式；仍無法接續時依 2 分鐘規則切離線版。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檢核：完成條件是可操作初版及 A1–A6 紀錄。截止未完成同樣保留觀察。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轉場：時間到後一起回報完成狀態。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時間：14:03–14:05，2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講述：請看這個容易漏掉的驗收：搜尋 AI 並選 Web 主題，應該沒有結果。改成 AI 主題，應只剩 S01 與 S06。再確認收藏及重新整理。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操作：用舉手快速統計六項通過、部分通過、還未生成。只作課堂進度，不以人數宣告工具勝負。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檢核：學員紀錄含未完成原因及可見用量。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轉場：接下來從空白起點使用通用工具。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時間：14:05–14:06，1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講述：今天以 Codex 桌面 App 示範通用開發代理。開啟正確資料夾很重要，工具需要看到這次實驗的檔案。其他工具沿用相同需求與資料即可。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操作：桌面選 Codex，開啟獨立 starter 副本。指出專案路徑與檔案清單。官方介面更新時，以軟體開發及本機資料夾功能辨認。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檢核：確認沒有學員直接把第一條路徑的程式交給第二條路徑。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轉場：接著指出三份最重要的上下文。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時間：14:06–14:06:40，40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講述：這三份檔案讓需求不只存在聊天裡。以後更換工具或開新的對話時，也能讀到相同基準。驗收文件的作用是留下預期行為，不能由 AI 任意改寫來讓自己通過。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操作：打開三份檔案，示範在提示中引用名稱。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檢核：學員知道資料的位置及共同規格。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轉場：接著確認結果如何執行。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時間：14:06:40–14:07:20，40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講述：代理回覆已完成之後，仍需確認預覽真的可用。請看它改了哪些檔案，並保留錯誤原文。只有本機頁面開啟且驗收成立，才算對應功能完成。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操作：展示終端機及檔案差異入口。若預覽無法啟動，依兩分鐘備援規則繼續。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檢核：學員知道如何找到錯誤資訊。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轉場：現在開始第二條路徑的計時。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時間：14:07:20–14:23，40 秒說明加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講述：13:48 那一輪已經結束，請不要把未完成的工作混到這一輪。這次從 14:08 計時，依相同規格做一份新作品。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操作：14:08 開始，14:13 提醒看預覽，14:18 提醒驗收，14:21 提醒留紀錄，14:23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檢核：完成條件是第二份可操作版本及六項紀錄。若使用備援，明示來源。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轉場：時間到，一起確認最容易漏掉的保存。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時間：14:23–14:25，2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講述：請確認我的議程只顯示收藏，排序正確，重新整理後仍在。保存是在同一瀏覽器與同一網址下比較。若埠號改變，瀏覽器會視為另一個來源。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操作：請學員記下本輪通過項目、時間及主要卡關原因，保留目前的收藏供下一輪檢查。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檢核：兩條路徑都有可辨識的結果狀態。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轉場：現在需求要改變了。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時間：14:25–14:25:20，20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講述：現在增加一個需求：讓使用者知道哪些收藏時間衝突。提醒要列出相關議程，但不自動取消任何收藏。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操作：展示第二版的衝堂區域，快速指出有兩場名稱與時段。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檢核：學員理解修改的範圍。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轉場：先把邊界說清楚。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時間：14:25:20–14:25:40，20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講述：首尾相接不算重疊。只比較開始時間或只判斷開始時刻相等都不足。請將時間轉為可比較的數值，採用這個區間判斷。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操作：指向最後一列，強調 09:40 接續不衝堂。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檢核：學員能預測四組案例。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轉場：最後補上修改時必須保留的行為。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時間：14:25:40–14:26，20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講述：這個提醒要看全部收藏，不受目前搜尋與篩選影響。請維持原來的儲存鍵與格式，避免改完功能卻清掉收藏。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操作：請學員開啟 prompt-revision-v2.txt。指出其中的保留條件及驗收案例。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檢核：學員準備好在各自的第一版繼續修改。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轉場：開始各五分鐘。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時間：14:26–14:36，共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講述：先用五分鐘修改 Lovable，14:31 切換通用工具。兩條路徑各保留自己的提示與結果，不互相複製程式。若額度不足，先保留狀態並向講師取得群組加入方式。若改變實作環境，記錄切換前後的條件，確認仍是自己的初版專案及收藏；無法接續時使用備援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操作：14:26 開始第一段，14:29 提醒驗收，14:31 切換，14:34 提醒驗收，14:36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 B1–B6 的結果紀錄。沒有測到的項目填未測。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轉場：一起檢查修改有沒有影響原功能。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時間：14:36–14:40，4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講述：請用不同組合逐一檢查，測每一組之前清除其他收藏。尤其要測相接時段、篩選後仍顯示衝突、取消收藏後提示消失。再重做第一版驗收。沒有做完回歸就把 B6 記為未測。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操作：保留約兩分鐘操作，再邀請兩位學員各用一句話分享：一個成功案例或一個預期與實際不符的地方。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檢核：學生知道 AI 修改也可能破壞舊功能，紀錄可重現。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轉場：接著用紀錄討論效率。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時間：14:40–14:43，3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講述：這張表只接受依共同規格完成的獨立紀錄。尚未取得的欄位維持未知。課堂上大家的條件不同，分享可用來發現問題，不能直接合成工具排名。有資料時先讀完成項目，再讀耗時。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操作：若講師已完成實測，填入核實的 A／B 通過數與時間，揭露條件。若沒有，帶學員讀自己的表格，討論會影響比較的變數。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檢核：學員能區分完成時間與截止未完成，知道為何無法用現成解答排名。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轉場：我們用一個可重現錯誤來看除錯工作。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時間：14:43–14:45，2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講述：這是刻意植入的教學錯誤，不能歸因於任一工具。小於等於會把相接也算作重疊。好的除錯提示應提供現象、預期和重現步驟，修改後既要測修好的案例，也要測原本正確的案例。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操作：指出兩個等號，說明最小修改。請學員以 S01+S03 與 S01+S02 成對驗證。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檢核：學員能說出修正後要測的兩種結果。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轉場：接著把時間與費用放在一起看。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時間：14:45–14:48，3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講述：不同平台的點數不能直接當成相同價值。訂閱包含的額度、額外付費與人的時間需要分開。Codex 以 ChatGPT 登入和 API 金鑰登入適用不同計費口徑。公式中的費率與分攤都要寫清楚。 使用講師提供群組者，額度來源要註明；若無法取得個人消耗數據，填未取得，不把講師提供當作工具成本為零。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操作：以學員紀錄表找出可取得與不可取得的欄位。沒有值就保留公式，跨幣別先交代匯率與日期。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檢核：學員不把未知用量當零，也不重複加總除錯時間。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轉場：還有一些影響後續使用的成本，今天只能觀察指標。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時間：14:48–14:50，2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講述：我們今天只做一次修改，所以不能推估一整年的維護成本。可以留下的是：原始碼能否取得、修改範圍、啟動方式、回歸結果，以及不同畫面是否可操作。這些會幫助下一位開發者接手。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操作：以手機畫面與回歸紀錄為例，指出畫面漂亮與功能驗收是不同證據。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檢核：學員能說出一個本次觀察到的接手條件。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轉場：把這些觀察帶回自己的工作情境。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時間：14:50–14:52，2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講述：選型從工作條件開始。要快速驗證新 Web 想法時，看看場景整合能節省哪些步驟。既有專案則先確認工具能否處理現有檔案與測試。持續維護需要累積更多紀錄，再調整組合。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操作：請學員寫下下一個真實專案及最重要的驗收條件。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檢核：學員給的理由能連結到本次觀察，不只說偏好某個品牌。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轉場：用 PDCA 把這種選擇變成可以重複的流程。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時間：14:52–14:54，2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講述：把今天做過的事情連回 PDCA。Plan 是我們固定的需求與資料，Do 是建置，Check 是驗收，Act 是修改方式與下一輪的選擇。模型能力的調整也應根據任務難度與驗收結果，不能只看單次價格。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操作：指出專案中需求、紀錄及錯誤重現三類文件。請學員保留一個下一輪要改善的點。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檢核：學員知道如何把一次體驗變成可重複流程。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轉場：最後看教材裡能接著練什麼。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時間：14:54–14:55，1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講述：講義整理了今天的步驟與提示，兩版解答供課後比對。完成者可練習行事曆匯出，注意時區及中文文字。先保留自己的紀錄，才能看出自己在哪一步需要改善。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操作：展示教材資料夾及 extension-ics.md 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檢核：學員知道離線版本、講義和參考答案的位置。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轉場：最後五分鐘開放問題。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時間：14:55–15:00，5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講述：歡迎分享今天遇到的需求理解、修改或驗收問題。也可以把下一個專案的條件說出來，我們一起檢查選型理由。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操作：優先回覆能讓全場受益的問題。個別安裝問題留待課後。15:00 準時結束。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檢核：學員至少能說出一個條件與相對應的觀察。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轉場：謝謝大家，教材可繼續用於課後練習。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時間：附錄，視問題使用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講述：桌面 App 與 CLI 都可在專案上下文中工作。這裡示範最少的對應操作，不要求全場臨時換介面。CLI 需要先完成安裝和登入，設定與可用功能仍應記錄。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操作：在準備好的專案資料夾啟動 codex，引用相同檔案。需要查看額度時用 /status。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CLI 是另一個操作入口，並非本課額外必裝工具。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轉場：回到實作或 Q&amp;A。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時間：附錄，準備時段使用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講述：第一次 npm ci 需要網路。請讀取錯誤原文，不要盲目重試。版本不符先完成環境或改用備援，本課不安排逐台重裝。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操作：指向套件安裝及本機網址，說明埠號已使用時工具可能改用其他埠。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檢核：學員能分辨資料夾錯誤、版本錯誤與套件下載失敗。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轉場：兩分鐘無法接續時切備援。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時間：附錄，現場排錯使用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的 5 點已用完或額度不足時，講師會私下提供群組加入方式。加入後確認可以繼續操作；若仍無法建置或服務中斷，再使用離線參考版。使用個人額度、講師群組或離線版，皆在紀錄中註明，保留切換原因。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操作：先提供群組加入協助；仍無法接續者，打開 offline/reference-v1.html 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檢核：學員知道如何維持進度與紀錄來源。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轉場：回到下一個教學步驟。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時間：附錄，課後延伸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講述：匯出 ICS 是一個很好的需求延伸題。除了把字串拼起來，還要處理時區、文字跳脫、CRLF 與長行折行。參考實作依 RFC 5545 的相關格式，正式使用前仍需驗證目標行事曆。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 extension-ics.md，指出測試例子與下載動作。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檢核：學員能說出至少一個畫面以外的驗收問題，例如 UTC 換算。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轉場：回到教材導覽。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時間：附錄，填表時使用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講述：有用的紀錄要能追溯條件。請寫驗收 ID，而不是只有感想。未取得、未測與零有不同意義：沒有查到用量不能填零，没有測功能不能填通過。 使用講師提供群組時，記下額度來源與切換時間。看不到個人用量時標示未取得。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操作：開啟完整範本，示範如何記下截止未完成及用量未知。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檢核：學員能依自己的資料填表，不虛構缺值。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轉場：需要更新簡報時，從這份紀錄取數。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時間：附錄，供查閱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講述：工具與方案會更新，請以當日官方文件及帳號畫面為準。所有成品截圖來自本套教學參考解答，議程資料為合成，獨立實測與程式 QA 分開。 講師介紹取自本人 Medium 公開自介與著作頁，群組加入方式則依本次現場安排。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操作：需要追溯來源時開啟 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檢核：來源與限制可辨識。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6fcf4c94b49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32f88badf40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918d3596540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63f4084f448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72fccd6414c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3a1d89f8a42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F1C6E9-4CB3-4A75-BC3F-6935EB45B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2E2A9-2E9B-4F03-998A-278DC7B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902D0-541C-4BD6-8DA2-06CF6DBFF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A4F12-8166-43D3-A467-8421C9365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9F0D5-867A-4D95-9ED7-47B831E51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F615C-E31E-43E8-AD6A-F2714513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20EC9-EF31-475B-8259-639F62BA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D494F-AA88-4704-926E-9F2F98711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01014-A8C4-46E2-9A31-842DFAB5C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F4C6C-B686-4422-9F4D-B4E1AC46B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2bf56766174994" /><Relationship Type="http://schemas.openxmlformats.org/officeDocument/2006/relationships/slideLayout" Target="/ppt/slideLayouts/slideLayout1.xml" Id="R25193f9b79e641e3" /><Relationship Type="http://schemas.openxmlformats.org/officeDocument/2006/relationships/slideLayout" Target="/ppt/slideLayouts/slideLayout2.xml" Id="R64da060ff9ea4940" /><Relationship Type="http://schemas.openxmlformats.org/officeDocument/2006/relationships/slideLayout" Target="/ppt/slideLayouts/slideLayout3.xml" Id="R39bc58d26f7b48b5" /><Relationship Type="http://schemas.openxmlformats.org/officeDocument/2006/relationships/slideLayout" Target="/ppt/slideLayouts/slideLayout4.xml" Id="R62a3afd51ccd4c1c" /><Relationship Type="http://schemas.openxmlformats.org/officeDocument/2006/relationships/slideLayout" Target="/ppt/slideLayouts/slideLayout5.xml" Id="R9749b4fd12814ff4" /><Relationship Type="http://schemas.openxmlformats.org/officeDocument/2006/relationships/slideLayout" Target="/ppt/slideLayouts/slideLayout6.xml" Id="R9939fc0a64794b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193f9b79e641e3"/>
    <p:sldLayoutId xmlns:r="http://schemas.openxmlformats.org/officeDocument/2006/relationships" id="2147483650" r:id="R64da060ff9ea4940"/>
    <p:sldLayoutId xmlns:r="http://schemas.openxmlformats.org/officeDocument/2006/relationships" id="2147483651" r:id="R39bc58d26f7b48b5"/>
    <p:sldLayoutId xmlns:r="http://schemas.openxmlformats.org/officeDocument/2006/relationships" id="2147483652" r:id="R62a3afd51ccd4c1c"/>
    <p:sldLayoutId xmlns:r="http://schemas.openxmlformats.org/officeDocument/2006/relationships" id="2147483653" r:id="R9749b4fd12814ff4"/>
    <p:sldLayoutId xmlns:r="http://schemas.openxmlformats.org/officeDocument/2006/relationships" id="2147483654" r:id="R9939fc0a64794b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f97f1b90dd4041" /><Relationship Type="http://schemas.openxmlformats.org/officeDocument/2006/relationships/notesSlide" Target="/ppt/notesSlides/notesSlide1.xml" Id="R4afb5cc9396b4e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c2bf7280e446f" /><Relationship Type="http://schemas.openxmlformats.org/officeDocument/2006/relationships/notesSlide" Target="/ppt/notesSlides/notesSlide2.xml" Id="R2014ae3199d24b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a8f61044c4d61" /><Relationship Type="http://schemas.openxmlformats.org/officeDocument/2006/relationships/notesSlide" Target="/ppt/notesSlides/notesSlide3.xml" Id="Re8f1982915f445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60b474bb645f2" /><Relationship Type="http://schemas.openxmlformats.org/officeDocument/2006/relationships/notesSlide" Target="/ppt/notesSlides/notesSlide4.xml" Id="Rf1e872ab203343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b13f56b874375" /><Relationship Type="http://schemas.openxmlformats.org/officeDocument/2006/relationships/image" Target="/ppt/media/image.png" Id="R3f46130048e045ff" /><Relationship Type="http://schemas.openxmlformats.org/officeDocument/2006/relationships/notesSlide" Target="/ppt/notesSlides/notesSlide5.xml" Id="R8ff9982699a647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1ca6ea95d4ac7" /><Relationship Type="http://schemas.openxmlformats.org/officeDocument/2006/relationships/notesSlide" Target="/ppt/notesSlides/notesSlide6.xml" Id="Rbbd2eb108ed14d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a4b7860c8b41b4" /><Relationship Type="http://schemas.openxmlformats.org/officeDocument/2006/relationships/notesSlide" Target="/ppt/notesSlides/notesSlide7.xml" Id="R6b755ebc39ee42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574893d124281" /><Relationship Type="http://schemas.openxmlformats.org/officeDocument/2006/relationships/notesSlide" Target="/ppt/notesSlides/notesSlide8.xml" Id="Rc4950984173947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f60d49e624076" /><Relationship Type="http://schemas.openxmlformats.org/officeDocument/2006/relationships/notesSlide" Target="/ppt/notesSlides/notesSlide9.xml" Id="Rb68e929158c549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406af4dbf246cc" /><Relationship Type="http://schemas.openxmlformats.org/officeDocument/2006/relationships/notesSlide" Target="/ppt/notesSlides/notesSlide10.xml" Id="R124b059d28824e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49fe1b5c1478c" /><Relationship Type="http://schemas.openxmlformats.org/officeDocument/2006/relationships/notesSlide" Target="/ppt/notesSlides/notesSlide11.xml" Id="R9fa2b0af1fad4b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f9c341003401b" /><Relationship Type="http://schemas.openxmlformats.org/officeDocument/2006/relationships/notesSlide" Target="/ppt/notesSlides/notesSlide12.xml" Id="Re7276b6f366444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2ae49a4f84431" /><Relationship Type="http://schemas.openxmlformats.org/officeDocument/2006/relationships/notesSlide" Target="/ppt/notesSlides/notesSlide13.xml" Id="R41e1a94e7b2642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6dea610b94e59" /><Relationship Type="http://schemas.openxmlformats.org/officeDocument/2006/relationships/image" Target="/ppt/media/image2.png" Id="R82a68fa2850a4135" /><Relationship Type="http://schemas.openxmlformats.org/officeDocument/2006/relationships/notesSlide" Target="/ppt/notesSlides/notesSlide14.xml" Id="R7b9a7944467949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8eaaf86e84091" /><Relationship Type="http://schemas.openxmlformats.org/officeDocument/2006/relationships/notesSlide" Target="/ppt/notesSlides/notesSlide15.xml" Id="R38401b2dfc2d42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9391cc445f4d54" /><Relationship Type="http://schemas.openxmlformats.org/officeDocument/2006/relationships/notesSlide" Target="/ppt/notesSlides/notesSlide16.xml" Id="R41c825a0dfa841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ecf68db544028" /><Relationship Type="http://schemas.openxmlformats.org/officeDocument/2006/relationships/notesSlide" Target="/ppt/notesSlides/notesSlide17.xml" Id="R02a4742f97db4c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10ca2a2b14b2f" /><Relationship Type="http://schemas.openxmlformats.org/officeDocument/2006/relationships/notesSlide" Target="/ppt/notesSlides/notesSlide18.xml" Id="R9fcd56dba1534d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8a95f64684ca9" /><Relationship Type="http://schemas.openxmlformats.org/officeDocument/2006/relationships/image" Target="/ppt/media/image3.png" Id="R7acab23c48194660" /><Relationship Type="http://schemas.openxmlformats.org/officeDocument/2006/relationships/notesSlide" Target="/ppt/notesSlides/notesSlide19.xml" Id="R7e722ee9942e40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eeb23741443fe" /><Relationship Type="http://schemas.openxmlformats.org/officeDocument/2006/relationships/image" Target="/ppt/media/image4.png" Id="Rd8d56c4209aa4b55" /><Relationship Type="http://schemas.openxmlformats.org/officeDocument/2006/relationships/notesSlide" Target="/ppt/notesSlides/notesSlide20.xml" Id="R2a9ca78a252d481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91b4573f4d4f3c" /><Relationship Type="http://schemas.openxmlformats.org/officeDocument/2006/relationships/notesSlide" Target="/ppt/notesSlides/notesSlide21.xml" Id="Re0b8ef26c8c345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829a478965494a" /><Relationship Type="http://schemas.openxmlformats.org/officeDocument/2006/relationships/image" Target="/ppt/media/image5.png" Id="R4755612155944a1b" /><Relationship Type="http://schemas.openxmlformats.org/officeDocument/2006/relationships/notesSlide" Target="/ppt/notesSlides/notesSlide22.xml" Id="Rbcdea390f89a4a3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f2af0f82948cc" /><Relationship Type="http://schemas.openxmlformats.org/officeDocument/2006/relationships/notesSlide" Target="/ppt/notesSlides/notesSlide23.xml" Id="R960fce7640db48b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b612b0b26641f0" /><Relationship Type="http://schemas.openxmlformats.org/officeDocument/2006/relationships/image" Target="/ppt/media/image6.png" Id="R2d10afa850d04444" /><Relationship Type="http://schemas.openxmlformats.org/officeDocument/2006/relationships/notesSlide" Target="/ppt/notesSlides/notesSlide24.xml" Id="R8eb0398c18a341e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5d39d47db4d20" /><Relationship Type="http://schemas.openxmlformats.org/officeDocument/2006/relationships/notesSlide" Target="/ppt/notesSlides/notesSlide25.xml" Id="Rce25dd4c4aad41f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27add1ea54026" /><Relationship Type="http://schemas.openxmlformats.org/officeDocument/2006/relationships/notesSlide" Target="/ppt/notesSlides/notesSlide26.xml" Id="R907c57e687e64b6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02f38c5d74fcb" /><Relationship Type="http://schemas.openxmlformats.org/officeDocument/2006/relationships/notesSlide" Target="/ppt/notesSlides/notesSlide27.xml" Id="R9f989d67fc5d4ee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66d79d8e7d47f7" /><Relationship Type="http://schemas.openxmlformats.org/officeDocument/2006/relationships/image" Target="/ppt/media/image7.png" Id="R8e9fe8839743405e" /><Relationship Type="http://schemas.openxmlformats.org/officeDocument/2006/relationships/notesSlide" Target="/ppt/notesSlides/notesSlide28.xml" Id="Rf6c6ac664f71469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345f178114e2b" /><Relationship Type="http://schemas.openxmlformats.org/officeDocument/2006/relationships/notesSlide" Target="/ppt/notesSlides/notesSlide29.xml" Id="Rffda51f0b5f04c5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56c45586fd42d9" /><Relationship Type="http://schemas.openxmlformats.org/officeDocument/2006/relationships/notesSlide" Target="/ppt/notesSlides/notesSlide30.xml" Id="Rb8f9ab58aef84a9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1cc3bd02d44a25" /><Relationship Type="http://schemas.openxmlformats.org/officeDocument/2006/relationships/notesSlide" Target="/ppt/notesSlides/notesSlide31.xml" Id="R7cbfee61087942f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41bed69dc241b7" /><Relationship Type="http://schemas.openxmlformats.org/officeDocument/2006/relationships/notesSlide" Target="/ppt/notesSlides/notesSlide32.xml" Id="R5798ae2999bf406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31485212d43c7" /><Relationship Type="http://schemas.openxmlformats.org/officeDocument/2006/relationships/notesSlide" Target="/ppt/notesSlides/notesSlide33.xml" Id="Ra32a09b6007f4fd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959c4c843a4be7" /><Relationship Type="http://schemas.openxmlformats.org/officeDocument/2006/relationships/notesSlide" Target="/ppt/notesSlides/notesSlide34.xml" Id="R78b76631c14549d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3469b2b5f4c56" /><Relationship Type="http://schemas.openxmlformats.org/officeDocument/2006/relationships/notesSlide" Target="/ppt/notesSlides/notesSlide35.xml" Id="R7ff4cd232b864d6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5b9798fa24174" /><Relationship Type="http://schemas.openxmlformats.org/officeDocument/2006/relationships/notesSlide" Target="/ppt/notesSlides/notesSlide36.xml" Id="Rd2e55cabd5794b6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a8374c7644c20" /><Relationship Type="http://schemas.openxmlformats.org/officeDocument/2006/relationships/notesSlide" Target="/ppt/notesSlides/notesSlide37.xml" Id="R0f6d5fe9ae8741d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d051acb9a84071" /><Relationship Type="http://schemas.openxmlformats.org/officeDocument/2006/relationships/notesSlide" Target="/ppt/notesSlides/notesSlide38.xml" Id="R381c63a1ea5b4f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F79B50-03C2-4D6C-9BFD-7B4AC47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入場準備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FE1B2F-E6E1-4DD2-A5B3-4F20A4F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13:00–13:30　環境準備時間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1250D3-256E-4539-ADA4-9F8D9F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2CECE-E8D0-46AD-ACE8-E841A5A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帳號已登入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0772FC-A9F7-4E87-B95D-88812E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Lovable，以及你慣用的通用 AI 工具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3A93E5-DF24-4DC3-8EA4-BBC3FE8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電腦能執行專案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6A4933-D286-4BDD-A30E-2EA49EF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Node.js、npm、瀏覽器與穩定網路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616B2B-F0D2-4325-AC5A-6A549AF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教材已解壓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2EA5A-B265-42E4-900D-E17C679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先開啟學員講義，再準備空白專案</a:t>
            </a:r>
          </a:p>
        </p:txBody>
      </p:sp>
    </p:spTree>
    <p:extLst>
      <p:ext uri="{BB962C8B-B14F-4D97-AF65-F5344CB8AC3E}">
        <p14:creationId xmlns:p14="http://schemas.microsoft.com/office/powerpoint/2010/main" val="5237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6D09E17-FB4C-4A9C-96C9-E2798B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教材與起始專案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2C77A-7505-4BC6-B5B1-2DFA100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先把空白頁跑起來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F3E6B9-0889-48FE-8971-099F041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47A879-821D-4549-859F-0DD1E0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DB5E5-9C05-491A-815E-8F2762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解壓 starter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B39F20-EAD5-4EF9-8487-EB27F3C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空白工具鏈與 12 筆合成議程資料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063854-86DA-419B-B337-DA9A16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D467E-47DD-48E4-847F-3F0E3CD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ci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77ADD8-E736-4D68-B60C-D1EDDFF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第一次安裝需要網路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975ACB-78C5-4713-ADEC-69A714F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AFE9DD2-A16C-4D56-B2E1-73BD6E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run dev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155778-6C21-4F58-8869-E6BD04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開啟終端機顯示的本機網址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87E8A3D-D7BE-4A79-93DC-1CD7C9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看到「環境已就緒」後，保留這份空白起點</a:t>
            </a:r>
          </a:p>
        </p:txBody>
      </p:sp>
    </p:spTree>
    <p:extLst>
      <p:ext uri="{BB962C8B-B14F-4D97-AF65-F5344CB8AC3E}">
        <p14:creationId xmlns:p14="http://schemas.microsoft.com/office/powerpoint/2010/main" val="17529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D76228-EBEE-4549-9390-18041C2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額度與求助方式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904B0F0-A286-4C16-AE9D-AF725FD0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先看餘額，再開始實作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5E80DA-8A40-42FD-999F-8454E0D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4397567-1196-4964-84ED-37F830CA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免費建置額度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FC92C-496F-4DD3-B6D3-35BB01D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點／日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F031012-4C42-4D3F-8F02-53A73661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另有每月 30 點上限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每次建置耗點依任務而異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D3031A-CF45-400F-B89D-DCF87A8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 5 點已用完？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5EC92A5-F6E7-4028-BCA5-DB73FE16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813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請先向講師示意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709311A-29EC-461D-BBE8-15C9BF7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147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講師私下提供群組加入方式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D223ADC-F623-4DB2-AE76-1DAD6930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482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加入後確認可繼續實作</a:t>
            </a:r>
          </a:p>
        </p:txBody>
      </p:sp>
      <p:sp>
        <p:nvSpPr>
          <p:cNvPr id="12" name="group-fallback">
            <a:extLst xmlns:a="http://schemas.openxmlformats.org/drawingml/2006/main">
              <a:ext uri="{FF2B5EF4-FFF2-40B4-BE49-F238E27FC236}">
                <a16:creationId xmlns:a16="http://schemas.microsoft.com/office/drawing/2014/main" id="{BD9B612A-2F47-4CDC-BE22-AFC16159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若仍無法建置或卡關超過 2 分鐘，保留紀錄後使用離線版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10741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544249C-15E6-429E-A759-7E8FE0A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2026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1B6FC9-A900-4A67-B5DE-BCC750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 AI CLI vs.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場景專用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3E68E5-6303-4E6B-B2D1-561791B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以 Lovable Web 開發為例的效能實測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4860C-9370-407E-861C-F083D19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林建宏 Wolke Lin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8D719-1D9B-4439-BE4E-DD9676E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 2026　10/14　13:30–15:00</a:t>
            </a:r>
          </a:p>
        </p:txBody>
      </p:sp>
      <p:sp>
        <p:nvSpPr>
          <p:cNvPr id="7" name="speaker-credentials">
            <a:extLst xmlns:a="http://schemas.openxmlformats.org/drawingml/2006/main">
              <a:ext uri="{FF2B5EF4-FFF2-40B4-BE49-F238E27FC236}">
                <a16:creationId xmlns:a16="http://schemas.microsoft.com/office/drawing/2014/main" id="{A9680F8C-024A-4B90-84F1-B5F1833D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Google Developer Expert　／　LINE Expert</a:t>
            </a:r>
          </a:p>
        </p:txBody>
      </p:sp>
      <p:sp>
        <p:nvSpPr>
          <p:cNvPr id="8" name="speaker-expertise">
            <a:extLst xmlns:a="http://schemas.openxmlformats.org/drawingml/2006/main">
              <a:ext uri="{FF2B5EF4-FFF2-40B4-BE49-F238E27FC236}">
                <a16:creationId xmlns:a16="http://schemas.microsoft.com/office/drawing/2014/main" id="{E6BA29FC-300C-459B-9470-41D1FB5B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AI 人機協作與程式開發教學　／　技術書作者</a:t>
            </a:r>
          </a:p>
        </p:txBody>
      </p:sp>
      <p:sp>
        <p:nvSpPr>
          <p:cNvPr id="9" name="speaker-medium">
            <a:extLst xmlns:a="http://schemas.openxmlformats.org/drawingml/2006/main">
              <a:ext uri="{FF2B5EF4-FFF2-40B4-BE49-F238E27FC236}">
                <a16:creationId xmlns:a16="http://schemas.microsoft.com/office/drawing/2014/main" id="{AA9927DC-7BDF-4DC1-AE89-091106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581598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5A15BB-0FF2-416B-9FEA-8BC598F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今天的成品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7BD5DE1-79AF-45D0-9F0B-AE7E8622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研討會議程收藏器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EDAC5-4B7B-452B-B395-1CE5378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7A91A-8659-4095-8478-BB9AE64FAB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6130048e045ff"/>
          <a:stretch xmlns:a="http://schemas.openxmlformats.org/drawingml/2006/main"/>
        </p:blipFill>
        <p:spPr>
          <a:xfrm xmlns:a="http://schemas.openxmlformats.org/drawingml/2006/main">
            <a:off x="3733800" y="1790796"/>
            <a:ext cx="7810500" cy="4609907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274AAF4-28C6-4503-B554-092F6BDD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查詢議程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7E15D00-CDA1-432F-B92C-5B4529C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收藏並保留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E02DF01-B565-4815-BF76-78F3092A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第二輪加入衝堂提示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51A040F-ADE5-4164-81E4-8C238429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4389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Codex 製作的教學參考解答，資料為合成議程</a:t>
            </a:r>
          </a:p>
        </p:txBody>
      </p:sp>
    </p:spTree>
    <p:extLst>
      <p:ext uri="{BB962C8B-B14F-4D97-AF65-F5344CB8AC3E}">
        <p14:creationId xmlns:p14="http://schemas.microsoft.com/office/powerpoint/2010/main" val="194647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A123E8-F1C6-46BB-B240-575E28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學習目標與流程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C847ED-4025-4B33-860D-45AC6CD2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每一步都留下可檢查的成果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DBD2D-3B87-431A-9F30-2E30E26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D767BC4-7FFC-4C1F-9B58-5A96620E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兩個初版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1AF4BE6-6859-4ADB-A389-4408301A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同一份需求、資料與驗收表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CC26D08-45B2-4C78-87E1-F0831A8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一次需求變更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D907031-6F03-4C79-B2B8-A68424E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兩套工具各修改，再做回歸檢查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DD9D4EF-B26F-45B0-B9F7-D831465A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一份選型理由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441B6AB-7F47-4BFE-B975-07D25411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根據完成度、時間與用量說明選擇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3489EFB-C854-4510-8B38-8EDD8C47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舉手：你今天主要使用哪一套通用 AI 工具？</a:t>
            </a:r>
          </a:p>
        </p:txBody>
      </p:sp>
    </p:spTree>
    <p:extLst>
      <p:ext uri="{BB962C8B-B14F-4D97-AF65-F5344CB8AC3E}">
        <p14:creationId xmlns:p14="http://schemas.microsoft.com/office/powerpoint/2010/main" val="33773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B7479BF-F720-4A0C-9588-EB6D42B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通用與場景專用工具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F29EF-45D3-4E1C-8842-74BDB2B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以工作範圍與整合方式理解差異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BF7F-1CE5-4D52-8DC7-799D4B1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3B56F-6F21-4C3A-B571-B122425DD95E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533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面向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通用開發工具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本次路徑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工作起點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既有目錄與檔案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平台新專案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執行環境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本機工具鏈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平台整合預覽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提示、檔案與終端機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提示與平台流程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比較重點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需求、驗收與紀錄相同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技術環境差異另列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6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B42FDB1E-25CA-494F-B1D1-BEB1105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三種開發流程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B42234-C273-41D5-99D8-5C35E2C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C6EED3-50AD-45D3-AD82-F58F80C2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38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手工開發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144A69D-75D7-4F4E-8144-61359DFB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自行拆解與實作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CA2B2E6-3446-4536-B066-DBECEEB6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查文件、執行、除錯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27128A1-463B-417F-93D8-04DFC7F7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由講師課前計時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88669F-38B1-4925-8771-A8F5758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38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42F27-9641-4F4E-8398-10A8378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描述需求與資料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58D699-DEB8-4CB9-91AF-CF4B726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8620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平台建置及預覽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A2992-6FAD-4110-9E6F-5B68EC7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577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檢查後提出修改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6441F3-059E-4309-B26E-BE5FA9E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38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Codex App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E5D9AE6-C87C-470A-B5C9-D5D8270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開啟本機專案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122330-25E9-40DD-BD40-5918D34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代理修改並執行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61D19D-D484-477B-BD86-870383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查看差異與驗收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47578F-2479-4975-8445-8E37A16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三條路徑都需要人確認「完成」</a:t>
            </a:r>
          </a:p>
        </p:txBody>
      </p:sp>
    </p:spTree>
    <p:extLst>
      <p:ext uri="{BB962C8B-B14F-4D97-AF65-F5344CB8AC3E}">
        <p14:creationId xmlns:p14="http://schemas.microsoft.com/office/powerpoint/2010/main" val="87864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754084-6F83-4273-8EF0-C9A296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共同需求與完成標準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88A799-21C7-4C9E-8BD7-F7C54B5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56EFF-0AF0-4772-AA11-07B8C0593A06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762250"/>
                <a:gridCol w="6438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驗收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要看到的結果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A1–A2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清單與搜尋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12 筆資料、講者搜尋、無結果提示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主題篩選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與搜尋條件同時生效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A4–A5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收藏與我的議程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無重複、可取消、依時間排序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儲存與手機版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重新整理保留、390px 可操作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F267C6-68FB-4864-88BC-ED9593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固定資料、繁體中文、本機儲存，第一輪不做衝堂</a:t>
            </a:r>
          </a:p>
        </p:txBody>
      </p:sp>
    </p:spTree>
    <p:extLst>
      <p:ext uri="{BB962C8B-B14F-4D97-AF65-F5344CB8AC3E}">
        <p14:creationId xmlns:p14="http://schemas.microsoft.com/office/powerpoint/2010/main" val="1618455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77F5A3-730D-457A-88C7-54D9685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實測規則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FAC9BC-D55E-4B6A-8350-F217D55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B5D51-2C8B-4D52-A4C3-91D6BA9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4214E8-B70E-44F6-B746-B7CD59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 分鐘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D69F4-A583-464A-B0E3-96E088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建置、等待、除錯、驗收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全部計入本輪時間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103B5A-3E4D-4CA6-AD59-3E1F64D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964F49-FF1B-491E-88AD-B4103B9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分鐘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B86E6F-6204-4071-B490-E79D8A3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修改與回歸檢查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未完成就記錄截止狀態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69C54A-8019-46FC-B712-2E888E0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設定時間另計。沒有用量資料時填「未取得」</a:t>
            </a:r>
          </a:p>
        </p:txBody>
      </p:sp>
    </p:spTree>
    <p:extLst>
      <p:ext uri="{BB962C8B-B14F-4D97-AF65-F5344CB8AC3E}">
        <p14:creationId xmlns:p14="http://schemas.microsoft.com/office/powerpoint/2010/main" val="1960004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989A51A-D6E2-4EAA-BFC6-A8A3150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結構化需求提示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D2B079-AC25-4BFE-87D4-593D43D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提示與驗收使用同一份規格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AA776-0E48-444D-86DD-3E8F052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0A9BBA-C3DF-44E2-8DFD-8D723CA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目標與輸入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087F3A-42E0-4341-A126-4DD7221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使用這 12 筆議程，協助參加者收藏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C8DF629-E7D8-4993-A1C3-3C25FF81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功能與限制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E87C053-6057-4692-A116-A5631F81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搜尋、篩選、收藏，使用本機儲存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4C29CDE-BDAC-44CA-AEE8-F91F309B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完成與驗證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50D1D04-FAC2-4A94-9291-1F117748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指定操作案例，請工具回報驗證結果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4C2E705-D350-4F56-9F44-1ED24C8E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完整提示已放在教材，現場直接複製</a:t>
            </a:r>
          </a:p>
        </p:txBody>
      </p:sp>
    </p:spTree>
    <p:extLst>
      <p:ext uri="{BB962C8B-B14F-4D97-AF65-F5344CB8AC3E}">
        <p14:creationId xmlns:p14="http://schemas.microsoft.com/office/powerpoint/2010/main" val="150369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60424DD-81E8-4F55-9909-FA480B3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操作示範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28C39-04AE-4063-B5D4-EC2D7A6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AEBFEE-E351-4965-B6DF-001A17E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0C38E-F90D-4E92-B829-3698D2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建立空白專案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92CD32-7E9F-4AEE-AA21-AAB1144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完整貼上 prompt-lovable-v1.txt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4BCDB1-DAF4-427F-AFF5-7CE9290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9DC622-09AA-48DA-B8F9-1460ED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等待可操作預覽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44C65D-5967-4FC9-9518-493AB87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查看生成進度與錯誤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D2BD64-0A0A-45C9-A350-E6DDE36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C3DF7E-876D-4F94-B307-BBD7C27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實際驗收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47E6363-7871-44DA-8769-E4A703EF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檢查功能，再提出具體修正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86D4AB8-6A75-4139-9700-7B0A6462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記錄追加提示與可見用量，保留失敗項目</a:t>
            </a:r>
          </a:p>
        </p:txBody>
      </p:sp>
    </p:spTree>
    <p:extLst>
      <p:ext uri="{BB962C8B-B14F-4D97-AF65-F5344CB8AC3E}">
        <p14:creationId xmlns:p14="http://schemas.microsoft.com/office/powerpoint/2010/main" val="1403638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F9FD0A-DC75-4CF1-847F-E93204E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A：Lovable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FDAD60-2A98-4CC3-9F74-AE838B2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初版建置與驗收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E7C-3E69-4392-B7D0-CAA2251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3853A5-EF90-4122-95A8-33E9BB1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A287C8-A4A1-4D6F-AA5E-F25AE9A6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571FED-D447-4D7A-B625-330598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送出共同需求與 12 筆資料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E0B59F-4201-4420-B98C-B59AB384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A1–A6，記下失敗項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FD8B94-5BB9-4DE0-9EDF-AE2D4E9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保存耗時、追加提示及用量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D611A6-B623-4B09-86AA-D7C4AE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額度用完：向講師取得群組加入方式；仍卡關時使用離線版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38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A9CFBD3-8EDB-43E1-9FA2-094513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FEB14-1555-4FFD-8106-0877621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搜尋與主題條件需要同時成立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D42E19-4891-4BBE-A7FC-6CD21D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FB2DA-668E-41BC-94E9-E79C56C634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68fa2850a4135"/>
          <a:stretch xmlns:a="http://schemas.openxmlformats.org/drawingml/2006/main"/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372EE7-3461-49EE-8199-DB6FA8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 AI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6E2CED-4E0E-4D48-BCF0-6BD9512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主題選 Web：0 筆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CB6491-2D0E-4260-8137-A5339E5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主題選 AI：2 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83A5AD-455D-4A9F-976C-02820A7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A3。你的版本也要自行操作</a:t>
            </a:r>
          </a:p>
        </p:txBody>
      </p:sp>
    </p:spTree>
    <p:extLst>
      <p:ext uri="{BB962C8B-B14F-4D97-AF65-F5344CB8AC3E}">
        <p14:creationId xmlns:p14="http://schemas.microsoft.com/office/powerpoint/2010/main" val="1750763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F1F8358-C076-4A41-AAB4-C529D64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 App 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E33344-9707-4B42-A3C7-2B343F77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86E424-5C6B-41E9-A806-1BFCC27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CA4B6-FD2B-49C5-91AF-95B7E96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選擇 Codex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AC72AA-AE2F-4F69-BBFB-50BC4DF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開啟本次 starter 的獨立副本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4C76FC-C977-4B2D-A62E-68E995A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55DDC2-4DDB-47FB-AC5F-B92D93A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提供需求與資料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A7E6B1-AF30-4D09-BB22-DC12D6E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讓工具讀取專案內的指定文件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02C8DB4-D2F1-4C41-A5D2-9C7517E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38BE7EB-5E80-4DDF-96AC-3CC1167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查看修改與預覽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47B103-5769-4BEC-B1A2-F1EC306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確認啟動方式、檔案差異及錯誤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976A37-0AF5-4CFE-9186-C969C3E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本輪使用全新起點，不帶入 Lovable 產生的程式</a:t>
            </a:r>
          </a:p>
        </p:txBody>
      </p:sp>
    </p:spTree>
    <p:extLst>
      <p:ext uri="{BB962C8B-B14F-4D97-AF65-F5344CB8AC3E}">
        <p14:creationId xmlns:p14="http://schemas.microsoft.com/office/powerpoint/2010/main" val="1113703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68090E5-D57D-432C-B63F-3EE1EB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專案上下文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122D6A-29C2-4815-99D4-8AB3D37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79B299-FF55-49CD-99BB-E4B975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requirements-v1.md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65B46F-4A11-4E1F-9BF6-BE1A86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本輪需求、限制與完成標準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AA1729-BA35-4C5E-A65C-3CCECAE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src/sessions.json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720D5A-DA5E-4E41-AA7E-7E29C4D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固定資料，ID 與時段保持一致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B657EF-B5B0-459F-A6CB-1155200C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acceptance-v1.md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F4EFDAB-943D-45AC-9F65-16FF3BF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人工與 AI 都能讀的驗收步驟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93F8FA-2E93-4390-96B5-A978A70C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把規格留在檔案裡，下一次修改仍有依據</a:t>
            </a:r>
          </a:p>
        </p:txBody>
      </p:sp>
    </p:spTree>
    <p:extLst>
      <p:ext uri="{BB962C8B-B14F-4D97-AF65-F5344CB8AC3E}">
        <p14:creationId xmlns:p14="http://schemas.microsoft.com/office/powerpoint/2010/main" val="287476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0A9DF51-07B8-48C5-B395-A5DB43B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執行與檢查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1DAB6B-ED7C-4F86-AD50-2F7EBA7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DA4B83-239C-4209-A264-1335F1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預覽有啟動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E0D69-A99D-4A69-9820-BC8883D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確認網址與終端機狀態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2C7D4E-1912-4558-BB0B-560FE85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修改看得懂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470181-A0E8-429F-8927-4EFBF5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知道改動哪些檔案及功能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506502-4A42-4961-AEA3-02F2AE4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結果有驗證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99D762-E37F-4A57-BC8B-58E186D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 A1–A6 操作，記下仍有問題的項目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512298-8EF6-4493-9E95-6AA1C93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啟動失敗時，先保留原始錯誤訊息</a:t>
            </a:r>
          </a:p>
        </p:txBody>
      </p:sp>
    </p:spTree>
    <p:extLst>
      <p:ext uri="{BB962C8B-B14F-4D97-AF65-F5344CB8AC3E}">
        <p14:creationId xmlns:p14="http://schemas.microsoft.com/office/powerpoint/2010/main" val="128257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02E2D21-8265-4304-8B33-CC01ED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B：通用 AI 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02BEFE-4A84-4769-93D5-2ABF9E9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從空白專案完成相同需求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CD4668-B705-4817-8455-5AAE54B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FAE04-2496-4BC9-B2E6-BF18D0A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2752F-05A9-490F-8035-C87D400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8FAA00-B0F9-41FC-A924-037DF1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提供需求文件與合成資料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3AAA9F-40FC-44F6-8E8D-EDADBE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讓工具實作並啟動預覽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A1DF9A7-48F7-4B28-B216-BD329DE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A1–A6，記錄結果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8A882-02E6-446A-B70B-656E44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講師用 Codex App，你可以沿用已準備好的工具</a:t>
            </a:r>
          </a:p>
        </p:txBody>
      </p:sp>
    </p:spTree>
    <p:extLst>
      <p:ext uri="{BB962C8B-B14F-4D97-AF65-F5344CB8AC3E}">
        <p14:creationId xmlns:p14="http://schemas.microsoft.com/office/powerpoint/2010/main" val="1210897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BE2849-FE87-47D1-8699-375B07F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同標準驗收與紀錄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8F6AD-C5E0-4610-B144-7985A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重新整理後，收藏仍要保留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A3F00F-1684-4774-BC62-21A28A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AE972-49DC-450E-B08A-CF7E1EC932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ab23c48194660"/>
          <a:stretch xmlns:a="http://schemas.openxmlformats.org/drawingml/2006/main"/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1B17D1A-87DA-447E-85F5-AC3A10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 S01、S03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DDE77-22F0-4436-AF9E-3EFA713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切到我的議程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69427AE-36AF-4681-95D3-5BCC5A6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重新整理再確認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F24D1F9-D1D1-4EA4-B670-CA9EDA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A4–A6。兩套工具使用同一張驗收表</a:t>
            </a:r>
          </a:p>
        </p:txBody>
      </p:sp>
    </p:spTree>
    <p:extLst>
      <p:ext uri="{BB962C8B-B14F-4D97-AF65-F5344CB8AC3E}">
        <p14:creationId xmlns:p14="http://schemas.microsoft.com/office/powerpoint/2010/main" val="144724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B26C35C-0B71-4FB1-8BCA-CC0DB7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新需求：收藏衝堂提示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414242-86ED-47F4-BFE7-955AB8A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使用者需要知道哪些收藏無法同時參加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1DB11-3E76-4C7D-8F18-5FBBC5C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08406-6D2C-4538-8F70-463788F940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56c4209aa4b55"/>
          <a:stretch xmlns:a="http://schemas.openxmlformats.org/drawingml/2006/main"/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66E8E-36C7-453A-887A-36FB4F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比較全部收藏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E5686D-E1EB-49BF-B1EB-A49F988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指出兩場與時段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B186AB7-812F-4F07-9897-F5FEAF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由使用者自行決定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AC6034D-3373-4232-8D77-E68A5C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第二版參考解答。提示不會自動移除收藏</a:t>
            </a:r>
          </a:p>
        </p:txBody>
      </p:sp>
    </p:spTree>
    <p:extLst>
      <p:ext uri="{BB962C8B-B14F-4D97-AF65-F5344CB8AC3E}">
        <p14:creationId xmlns:p14="http://schemas.microsoft.com/office/powerpoint/2010/main" val="2019922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0F05471-F0C3-4CA1-9CA2-17000C3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時間重疊案例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96EFA-B5C3-4712-AEEF-0A66E4F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BEE77-A0BB-403D-B876-765672BBACF6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6572250"/>
                <a:gridCol w="2057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組合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時間關係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預期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S01 + S02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09:00–09:40／09:20–10:00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S01 + S04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09:00–09:40／09:10–09:30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S05 + S06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10:30–11:10／10:30–11:10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S01 + S03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09:00–09:40／09:40–10:20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不衝堂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F658ABC-4F81-4C08-8806-18424D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a.start &lt; b.end &amp;&amp; b.start &lt; a.end</a:t>
            </a:r>
          </a:p>
        </p:txBody>
      </p:sp>
    </p:spTree>
    <p:extLst>
      <p:ext uri="{BB962C8B-B14F-4D97-AF65-F5344CB8AC3E}">
        <p14:creationId xmlns:p14="http://schemas.microsoft.com/office/powerpoint/2010/main" val="1174834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7949654-C8BD-461D-8771-C627CA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修改提示與保留條件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3EBDD-7774-4264-A125-9FB85D7B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搜尋與篩選不改變全部收藏的衝堂結果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F22C90-A57D-4B17-BC1F-84B8B8A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F0BAE-5994-4143-9F6F-18F3EF25A6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5612155944a1b"/>
          <a:stretch xmlns:a="http://schemas.openxmlformats.org/drawingml/2006/main"/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F0E5398-D50A-426E-AFE9-C189A18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保留原有收藏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4E37F1-B941-4255-A5CE-4112526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只增加衝堂功能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35821BC-07C4-4A22-A3D6-A17E0E10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完成後重做驗收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4CE01D5-DB57-4A7E-A4CE-F9B9FEEB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搜尋只顯示一場，仍提醒全部收藏的衝突</a:t>
            </a:r>
          </a:p>
        </p:txBody>
      </p:sp>
    </p:spTree>
    <p:extLst>
      <p:ext uri="{BB962C8B-B14F-4D97-AF65-F5344CB8AC3E}">
        <p14:creationId xmlns:p14="http://schemas.microsoft.com/office/powerpoint/2010/main" val="2101731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F1F8CB-3EB8-4B7E-ADE9-E124B54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兩套工具各修改一次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82F023-14D0-412C-8ADA-7ACE4D6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每套工具 5 分鐘，包含修改與驗收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5E8AB5-9CE3-4C78-8477-B1C932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EBC5D9-3EAC-49AF-AB97-21A628F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+ 5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3BCBED-AF62-423E-B97E-E7FD4EE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2AB610-EDC4-4160-9B27-78AE5E4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先在 Lovable 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52C813-089B-4DAC-B67D-647BCC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再在通用工具修改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0B681-BD4D-4448-8B78-1484F80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兩份結果分別記錄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C466CB-545F-4EBB-B9D3-2356A11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到時保存狀態，14:36 開始共同回歸檢查</a:t>
            </a:r>
          </a:p>
        </p:txBody>
      </p:sp>
    </p:spTree>
    <p:extLst>
      <p:ext uri="{BB962C8B-B14F-4D97-AF65-F5344CB8AC3E}">
        <p14:creationId xmlns:p14="http://schemas.microsoft.com/office/powerpoint/2010/main" val="80170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3CF8F81-B6A9-49D0-B833-B30C9FA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回歸檢查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3134A-A17A-4023-985A-E24A02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新功能與原有功能都要成立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0966A5-24E1-4387-907A-4F76E47B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673E3-4B4F-48FE-A3A6-1149794FE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0afa850d04444"/>
          <a:stretch xmlns:a="http://schemas.openxmlformats.org/drawingml/2006/main"/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98ADFD-B600-44F8-9426-DADB9D7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首尾相接不提醒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C72289B-08FC-4630-A860-3A384F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取消收藏即時更新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C35BF59-7001-4C7F-9F9B-C7C9258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A1–A6 仍通過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F73393-3FCA-406B-9F30-135180C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S01 與 S03 相接，收藏保留且沒有衝堂提示</a:t>
            </a:r>
          </a:p>
        </p:txBody>
      </p:sp>
    </p:spTree>
    <p:extLst>
      <p:ext uri="{BB962C8B-B14F-4D97-AF65-F5344CB8AC3E}">
        <p14:creationId xmlns:p14="http://schemas.microsoft.com/office/powerpoint/2010/main" val="3919619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841637-42B5-4548-A5B0-01B11F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三種方式的實測結果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0C1C9C-7C43-4B4A-9FAC-934F6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本次獨立比較紀錄尚未取得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5FC938-4BBB-4B73-BD9F-4D32FB4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D8F5F-D407-4C82-86FD-C0F3C9C53D35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29075"/>
                <a:gridCol w="4029075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開發方式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初版完成度／耗時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修改完成度／耗時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手工開發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未取得實測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未取得實測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未取得實測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未取得實測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 桌面 App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未取得實測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未取得實測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EEB6F40-D9A7-4756-9824-74EC30D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沒有紀錄就保留未知。參考解答的 QA 不代表工具效能</a:t>
            </a:r>
          </a:p>
        </p:txBody>
      </p:sp>
    </p:spTree>
    <p:extLst>
      <p:ext uri="{BB962C8B-B14F-4D97-AF65-F5344CB8AC3E}">
        <p14:creationId xmlns:p14="http://schemas.microsoft.com/office/powerpoint/2010/main" val="193046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07300E7-6D6C-48AE-8299-60B250D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除錯案例：首尾相接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C0612C-3977-4432-8410-E67FB1C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刻意植入的教學錯誤，非工具實測失誤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9A565-B32A-4D43-A099-496B608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AFDF3-5BC1-4493-A132-8C118B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E382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9E382E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9E382E"/>
                </a:solidFill>
                <a:latin typeface="Heiti TC"/>
                <a:ea typeface="Heiti TC"/>
                <a:cs typeface="Heiti TC"/>
              </a:rPr>
              <a:t>錯誤示例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BFC32D-71B5-4999-842A-8CACC87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62150"/>
            <a:ext cx="881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9E382E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9E382E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E382E"/>
                </a:solidFill>
                <a:latin typeface="Menlo"/>
                <a:ea typeface="Menlo"/>
                <a:cs typeface="Menlo"/>
              </a:rPr>
              <a:t>a.start &lt;= b.end &amp;&amp; b.start &lt;= a.end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7A59BE-F7A5-4B30-850A-472E51A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修正後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B7FB33-4183-47F4-A956-26A80B1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19400"/>
            <a:ext cx="881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a.start &lt; b.end &amp;&amp; b.start &lt; a.end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1778DE-4219-46E4-B2DC-3F1AA2C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現象：S01 與 S03 被誤判衝堂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AACB855-545E-46E9-8658-A544047C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重現：收藏 09:00–09:40 與 09:40–10:20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96C11DC-937A-44D9-9C90-E8991713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驗證：相接不提醒，真正重疊仍提醒</a:t>
            </a:r>
          </a:p>
        </p:txBody>
      </p:sp>
    </p:spTree>
    <p:extLst>
      <p:ext uri="{BB962C8B-B14F-4D97-AF65-F5344CB8AC3E}">
        <p14:creationId xmlns:p14="http://schemas.microsoft.com/office/powerpoint/2010/main" val="15624190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94D432-F5A8-477B-99B1-19493E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費用與開發工時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9FB219-2491-4096-82E0-4F34F25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4B8D309-ED7C-428C-9D94-CBBED39E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固定費用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BCAC6D-D942-4107-BF54-9A61D915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訂閱費與分攤假設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F3A09DC-81D3-4B04-9BEC-2227F9B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額外用量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E982525-9AD2-4917-882A-5399CB36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加購、API 費用及原始單位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45DE7A4-7FC3-48B3-BA56-C9D0C453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人的投入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5FF8DB5-D87E-494F-858E-4C03C642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主動操作與等待分開記錄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338A73-E415-4199-AC73-F02589D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專案估算＝訂閱分攤＋額外用量費＋人工作業時數 × 時薪</a:t>
            </a:r>
          </a:p>
        </p:txBody>
      </p:sp>
    </p:spTree>
    <p:extLst>
      <p:ext uri="{BB962C8B-B14F-4D97-AF65-F5344CB8AC3E}">
        <p14:creationId xmlns:p14="http://schemas.microsoft.com/office/powerpoint/2010/main" val="1766888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90A4341-CE97-4CD0-BCE1-7C7E569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可控性與維護觀察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311BB-68BD-4B41-895F-62BD498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本次只觀察一次修改與回歸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861FF-2AB4-4EAF-9379-9004909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89E5C-34B6-42D9-A036-3F293FD075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fe8839743405e"/>
          <a:stretch xmlns:a="http://schemas.openxmlformats.org/drawingml/2006/main"/>
        </p:blipFill>
        <p:spPr>
          <a:xfrm xmlns:a="http://schemas.openxmlformats.org/drawingml/2006/main">
            <a:off x="8572726" y="1724025"/>
            <a:ext cx="2095049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80A925-5FB0-42B0-A737-CA5DF30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原始碼能否取得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96DD99-085E-4BEF-A741-C7EBD61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改動範圍是否清楚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678D47-A395-4522-B870-1552FC0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不同畫面能否使用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23B412-5CAE-4F34-8FA0-87887FF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下一位能否接手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95CF66-46D6-43B3-BC18-7C54C7C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390px 寬度的參考解答</a:t>
            </a:r>
          </a:p>
        </p:txBody>
      </p:sp>
    </p:spTree>
    <p:extLst>
      <p:ext uri="{BB962C8B-B14F-4D97-AF65-F5344CB8AC3E}">
        <p14:creationId xmlns:p14="http://schemas.microsoft.com/office/powerpoint/2010/main" val="8579461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6272520-14FD-4073-98A1-E95110B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情境選型表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DFF813-945B-44BC-B19D-3D580F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先確定工作條件，再選擇起手方式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F7AC-9341-4E07-B736-980981B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1B9F1-F5DB-41F4-9936-D33CC33613A4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667250"/>
                <a:gridCol w="32004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情境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先檢查的條件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選型方向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快速驗證新想法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預覽速度、流程契合、額度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評估場景工具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修改既有專案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檔案、工具鏈、測試與權限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評估通用工具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持續迭代與交接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回歸、程式碼、知識與成本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依紀錄調整組合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7F25A7-5A0D-496B-9F17-7F77C0D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此表是決策框架，個別專案仍需驗證</a:t>
            </a:r>
          </a:p>
        </p:txBody>
      </p:sp>
    </p:spTree>
    <p:extLst>
      <p:ext uri="{BB962C8B-B14F-4D97-AF65-F5344CB8AC3E}">
        <p14:creationId xmlns:p14="http://schemas.microsoft.com/office/powerpoint/2010/main" val="2012186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0B195C1-56C3-4009-82D5-845E9A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PDCA 與專案知識管理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95CF1-9A93-415F-8014-2D087E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64BA5-2666-4294-B994-19A4D16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Plan　留下規格與完成標準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46A4B8-A170-450B-9B0D-DF89160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需求、資料、限制與驗收案例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6D361-4A22-4242-AB52-C471181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Do／Check　保留程式與驗證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9E46C4-EA1F-4963-B4F1-8C41C4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實際執行、紀錄錯誤、檢查回歸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9F7743-397A-4D4D-8416-32E5145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Act　依結果調整下一輪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66FE3C-DA99-4E38-9251-CE151EB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修改範圍、提示、工具與模型投入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93914D-59B6-4C9F-BC5A-C11613A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工具換了，需求與驗收紀錄仍能沿用</a:t>
            </a:r>
          </a:p>
        </p:txBody>
      </p:sp>
    </p:spTree>
    <p:extLst>
      <p:ext uri="{BB962C8B-B14F-4D97-AF65-F5344CB8AC3E}">
        <p14:creationId xmlns:p14="http://schemas.microsoft.com/office/powerpoint/2010/main" val="20859477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9A25B1-6325-45C2-83D0-2F40205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課後延伸與教材導覽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CE6DC-4AEB-436A-8658-35C7786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FD8DF2-ED2D-444C-9B56-CCF199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學員講義與提示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A8E51E-64D6-4FF8-9F40-219F9F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可直接沿用到下一個專案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1A6D5-1D4D-4819-9CE5-0D6B4312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兩版參考解答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240931-7D36-4472-8802-88C7BD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比對功能、儲存與衝堂判斷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8E7C20-1967-428F-86C6-3DA26F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行事曆匯出練習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01A49E-23A1-4F54-9ABE-6E58B09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將收藏輸出為 .ics 並驗證時間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41C85D-8DA3-418C-B278-0F9A2CF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保留自己的實驗紀錄，再打開參考答案</a:t>
            </a:r>
          </a:p>
        </p:txBody>
      </p:sp>
    </p:spTree>
    <p:extLst>
      <p:ext uri="{BB962C8B-B14F-4D97-AF65-F5344CB8AC3E}">
        <p14:creationId xmlns:p14="http://schemas.microsoft.com/office/powerpoint/2010/main" val="995206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4BBC1E1-DB36-4108-ADBE-EBF53DB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Q&amp;A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C0C1C2-07D5-4D32-9813-D769D8E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請用一個驗收條件，說明你的選擇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654008-231B-4100-92DF-309E71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60CF8-6CBC-451A-8F33-9BB4638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85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你的下一個專案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會先用哪套工具？</a:t>
            </a:r>
          </a:p>
        </p:txBody>
      </p:sp>
    </p:spTree>
    <p:extLst>
      <p:ext uri="{BB962C8B-B14F-4D97-AF65-F5344CB8AC3E}">
        <p14:creationId xmlns:p14="http://schemas.microsoft.com/office/powerpoint/2010/main" val="984753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F54339-6B6B-4C95-A6EC-33CAF5F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CLI 對應操作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752EF9-06D4-4307-95AC-E52C0A6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附錄：已完成安裝與登入時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E78CFE-32ED-4E17-AB8E-D4C32B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99306A-6F13-4F30-B718-00F6E7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cd 你的專案資料夾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/status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7DFCCD-0177-433B-AE4C-FF7908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同樣引用需求、資料與驗收文件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8AA4F7-1069-40A4-B71D-4533F42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/status 查看可取得的用量狀態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109B02-31A2-4057-80DB-7866AAE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詳細安裝方式依官方文件</a:t>
            </a:r>
          </a:p>
        </p:txBody>
      </p:sp>
    </p:spTree>
    <p:extLst>
      <p:ext uri="{BB962C8B-B14F-4D97-AF65-F5344CB8AC3E}">
        <p14:creationId xmlns:p14="http://schemas.microsoft.com/office/powerpoint/2010/main" val="288618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75B6AE-256F-4463-AA2B-59521FD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macOS／Windows 環境檢查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CDDD76-1753-4537-9F41-4C1C0B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附錄：在含 package.json 的資料夾執行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842134-661D-48FF-B763-10DDEB2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A4A8B-7FD2-4E3E-898F-0DA8F98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node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601FA7-D1C3-4132-90E8-78DE72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macOS：終端機進入專案目錄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951B7B-DF9A-4229-9221-B749983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Windows：在資料夾開啟終端機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5519B3-B0C0-4730-9C30-92029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採 Node.js 24，預先安裝套件</a:t>
            </a:r>
          </a:p>
        </p:txBody>
      </p:sp>
    </p:spTree>
    <p:extLst>
      <p:ext uri="{BB962C8B-B14F-4D97-AF65-F5344CB8AC3E}">
        <p14:creationId xmlns:p14="http://schemas.microsoft.com/office/powerpoint/2010/main" val="18049683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54D1C329-D056-49C7-9E4A-4C9F0D6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額度、網路與啟動問題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D5294B-571E-4A8C-B611-A2CD381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0D808-F90D-4D71-BA94-91F8A465EF68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3905250"/>
                <a:gridCol w="3962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狀況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先留下的紀錄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接續方式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額度用完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餘額與未完成項目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向講師取得群組加入方式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服務無回應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當下畫面與時間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換本機參考版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本機啟動失敗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指令與錯誤原文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分鐘後切備援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收藏沒有保留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網址、埠號、儲存警告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確認同一來源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group-fallback">
            <a:extLst xmlns:a="http://schemas.openxmlformats.org/drawingml/2006/main">
              <a:ext uri="{FF2B5EF4-FFF2-40B4-BE49-F238E27FC236}">
                <a16:creationId xmlns:a16="http://schemas.microsoft.com/office/drawing/2014/main" id="{4FC2B5E4-8189-42B7-BEE1-552D4D81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群組加入後仍無法建置時，使用離線參考版驗收</a:t>
            </a:r>
          </a:p>
        </p:txBody>
      </p:sp>
    </p:spTree>
    <p:extLst>
      <p:ext uri="{BB962C8B-B14F-4D97-AF65-F5344CB8AC3E}">
        <p14:creationId xmlns:p14="http://schemas.microsoft.com/office/powerpoint/2010/main" val="1885469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32C822-7135-465D-99EB-0A55669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進階練習：匯出行事曆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FA820-CB2C-4EA0-9F8D-C71194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1F0B3B-823A-4A43-AA79-DDAD4C9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輸出收藏議程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DE6D43-88DE-4801-8323-FA06B2F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每場一個 VEVENT，保留穩定 UID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D93460-090C-4E1C-BBAE-399584D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處理時間與文字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C50C34-22EC-4FB2-96A9-D4BAD83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UTC、中文、逗號、分號與換行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CF55C76-61AB-4AD6-BF86-2A491021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驗證匯入結果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F0C57CB-A5B8-41B0-86EB-DCBE28BA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沒有漏場、時間正確、相同事件可辨識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36469F-83AA-475B-AFD0-56C12B03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教材包含延伸提示與參考實作，主課不必完成</a:t>
            </a:r>
          </a:p>
        </p:txBody>
      </p:sp>
    </p:spTree>
    <p:extLst>
      <p:ext uri="{BB962C8B-B14F-4D97-AF65-F5344CB8AC3E}">
        <p14:creationId xmlns:p14="http://schemas.microsoft.com/office/powerpoint/2010/main" val="1077739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B10E3FC-81CC-4654-A614-CEFED6D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完整實測紀錄表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8A339-AC7D-4E99-BEF7-7DC67AD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附錄：可直接複製 measurement-template.md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B7AD0-D4F8-4CC4-8785-C346AE2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2AF6A-40E1-48BE-A203-9D208C096AA9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6953250"/>
                <a:gridCol w="215265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分類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必填內容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缺資料時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工具、模型、方案、版本、起始狀態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未取得／未揭露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時間、通過 ID、完成或截止狀態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追加提示、主動工時、等待、用量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提示、截圖、程式、錯誤與修正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明確記錄原因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102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994DA1-F84A-4E11-8D10-B4937FC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來源、版本與查核日期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FA961-FB1E-475B-BE1D-79A9D73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公開文件查核：2026-10-13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FAB65C-4353-4F93-9436-478634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C549FD-124D-41AE-86C5-639803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議程與講師 Medium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6799B7-6799-4866-9637-747B20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課程資訊、講師背景與相關著作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39DC5D-AB7E-4811-AE00-2DF422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 官方文件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7C206-3E72-40D4-A4A7-4700B6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技術堆疊、Git 同步、方案與額度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E9F4-6D59-4039-BD67-1E5CC02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OpenAI 官方文件與 RFC 5545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1B5D85-1C05-4EA2-BAE1-2B8B913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桌面／CLI 操作、計費口徑、行事曆格式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C3C4018-BF68-49C7-886B-2CEB96D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完整連結在講者備註及 evidence/sources.md</a:t>
            </a:r>
          </a:p>
        </p:txBody>
      </p:sp>
    </p:spTree>
    <p:extLst>
      <p:ext uri="{BB962C8B-B14F-4D97-AF65-F5344CB8AC3E}">
        <p14:creationId xmlns:p14="http://schemas.microsoft.com/office/powerpoint/2010/main" val="1608723155"/>
      </p:ext>
    </p:extLst>
  </p:cSld>
</p:sld>
</file>

<file path=ppt/theme/theme1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2026-10-13T03:22:15.0510000Z</dcterms:created>
  <dcterms:modified xsi:type="dcterms:W3CDTF">2026-10-13T03:22:15.0510000Z</dcterms:modified>
</coreProperties>
</file>