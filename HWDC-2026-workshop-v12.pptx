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515e6cc13c4b8b" /><Relationship Type="http://schemas.openxmlformats.org/officeDocument/2006/relationships/extended-properties" Target="/docProps/app.xml" Id="R3d11550fa218486c" /><Relationship Type="http://schemas.openxmlformats.org/officeDocument/2006/relationships/officeDocument" Target="/ppt/presentation.xml" Id="R22cfda21bab444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64203f30c440af"/>
  </p:sldMasterIdLst>
  <p:notesMasterIdLst>
    <p:notesMasterId xmlns:r="http://schemas.openxmlformats.org/officeDocument/2006/relationships" r:id="Rd68d1ceb13b1432c"/>
  </p:notesMasterIdLst>
  <p:sldIdLst>
    <p:sldId xmlns:r="http://schemas.openxmlformats.org/officeDocument/2006/relationships" id="256" r:id="Rde5e2acdb7ec4df6"/>
    <p:sldId xmlns:r="http://schemas.openxmlformats.org/officeDocument/2006/relationships" id="257" r:id="R7022def39c694593"/>
    <p:sldId xmlns:r="http://schemas.openxmlformats.org/officeDocument/2006/relationships" id="258" r:id="Ref46512a165943b7"/>
    <p:sldId xmlns:r="http://schemas.openxmlformats.org/officeDocument/2006/relationships" id="259" r:id="R77ac8c7c848b49c0"/>
    <p:sldId xmlns:r="http://schemas.openxmlformats.org/officeDocument/2006/relationships" id="260" r:id="Rec26ec61c9b147a1"/>
    <p:sldId xmlns:r="http://schemas.openxmlformats.org/officeDocument/2006/relationships" id="261" r:id="R48a6b1984eb34d8b"/>
    <p:sldId xmlns:r="http://schemas.openxmlformats.org/officeDocument/2006/relationships" id="262" r:id="R765adee5b6814a9e"/>
    <p:sldId xmlns:r="http://schemas.openxmlformats.org/officeDocument/2006/relationships" id="263" r:id="Reaffbf0507b74640"/>
    <p:sldId xmlns:r="http://schemas.openxmlformats.org/officeDocument/2006/relationships" id="264" r:id="R8af341a24e704c24"/>
    <p:sldId xmlns:r="http://schemas.openxmlformats.org/officeDocument/2006/relationships" id="265" r:id="Rd2ae380c64d44e04"/>
    <p:sldId xmlns:r="http://schemas.openxmlformats.org/officeDocument/2006/relationships" id="266" r:id="Ra1b05c4d559e4db8"/>
    <p:sldId xmlns:r="http://schemas.openxmlformats.org/officeDocument/2006/relationships" id="267" r:id="Rab808291e1c643c3"/>
    <p:sldId xmlns:r="http://schemas.openxmlformats.org/officeDocument/2006/relationships" id="268" r:id="R25c663d6873b4655"/>
    <p:sldId xmlns:r="http://schemas.openxmlformats.org/officeDocument/2006/relationships" id="269" r:id="Ra26284125e8440e2"/>
    <p:sldId xmlns:r="http://schemas.openxmlformats.org/officeDocument/2006/relationships" id="270" r:id="R613d426a8b184a0b"/>
    <p:sldId xmlns:r="http://schemas.openxmlformats.org/officeDocument/2006/relationships" id="271" r:id="R25b4b96102f343c5"/>
    <p:sldId xmlns:r="http://schemas.openxmlformats.org/officeDocument/2006/relationships" id="272" r:id="R935738e92efe4c61"/>
    <p:sldId xmlns:r="http://schemas.openxmlformats.org/officeDocument/2006/relationships" id="273" r:id="R4f8228d11eec428b"/>
    <p:sldId xmlns:r="http://schemas.openxmlformats.org/officeDocument/2006/relationships" id="274" r:id="R875f133a1cce4ca3"/>
    <p:sldId xmlns:r="http://schemas.openxmlformats.org/officeDocument/2006/relationships" id="275" r:id="Ra522816994f94c4e"/>
    <p:sldId xmlns:r="http://schemas.openxmlformats.org/officeDocument/2006/relationships" id="276" r:id="R113147a70a144f55"/>
    <p:sldId xmlns:r="http://schemas.openxmlformats.org/officeDocument/2006/relationships" id="277" r:id="Raabb41eef87e4d23"/>
    <p:sldId xmlns:r="http://schemas.openxmlformats.org/officeDocument/2006/relationships" id="278" r:id="R3d3d974f96dc4f1f"/>
    <p:sldId xmlns:r="http://schemas.openxmlformats.org/officeDocument/2006/relationships" id="279" r:id="Ree7b97c421254fa3"/>
    <p:sldId xmlns:r="http://schemas.openxmlformats.org/officeDocument/2006/relationships" id="280" r:id="R7efad81234da4f65"/>
    <p:sldId xmlns:r="http://schemas.openxmlformats.org/officeDocument/2006/relationships" id="281" r:id="Racb7e431b1234033"/>
    <p:sldId xmlns:r="http://schemas.openxmlformats.org/officeDocument/2006/relationships" id="282" r:id="R03666571d3c44773"/>
    <p:sldId xmlns:r="http://schemas.openxmlformats.org/officeDocument/2006/relationships" id="283" r:id="Re084af95655042ab"/>
    <p:sldId xmlns:r="http://schemas.openxmlformats.org/officeDocument/2006/relationships" id="284" r:id="R1073fe73f58b4547"/>
    <p:sldId xmlns:r="http://schemas.openxmlformats.org/officeDocument/2006/relationships" id="285" r:id="R972b34f6db6a4b49"/>
    <p:sldId xmlns:r="http://schemas.openxmlformats.org/officeDocument/2006/relationships" id="286" r:id="R5adfd26c03d54600"/>
    <p:sldId xmlns:r="http://schemas.openxmlformats.org/officeDocument/2006/relationships" id="287" r:id="Raec60ae20b624662"/>
    <p:sldId xmlns:r="http://schemas.openxmlformats.org/officeDocument/2006/relationships" id="288" r:id="R4db545b9a3d14ba4"/>
    <p:sldId xmlns:r="http://schemas.openxmlformats.org/officeDocument/2006/relationships" id="289" r:id="R3847e4fa4b864a04"/>
    <p:sldId xmlns:r="http://schemas.openxmlformats.org/officeDocument/2006/relationships" id="290" r:id="Raf623d45f31a4bc4"/>
    <p:sldId xmlns:r="http://schemas.openxmlformats.org/officeDocument/2006/relationships" id="291" r:id="R1df6b11c22cf432b"/>
    <p:sldId xmlns:r="http://schemas.openxmlformats.org/officeDocument/2006/relationships" id="292" r:id="Rd3a8291457254ee3"/>
    <p:sldId xmlns:r="http://schemas.openxmlformats.org/officeDocument/2006/relationships" id="293" r:id="Rfcd3572ec6044d1b"/>
    <p:sldId xmlns:r="http://schemas.openxmlformats.org/officeDocument/2006/relationships" id="294" r:id="R50ef5fcef81749af"/>
    <p:sldId xmlns:r="http://schemas.openxmlformats.org/officeDocument/2006/relationships" id="295" r:id="Re698f9d0ed894f32"/>
    <p:sldId xmlns:r="http://schemas.openxmlformats.org/officeDocument/2006/relationships" id="296" r:id="R401df33613894fd8"/>
    <p:sldId xmlns:r="http://schemas.openxmlformats.org/officeDocument/2006/relationships" id="297" r:id="R9e8dbbd120bd4b03"/>
    <p:sldId xmlns:r="http://schemas.openxmlformats.org/officeDocument/2006/relationships" id="298" r:id="Rc75e2e1e14c14650"/>
    <p:sldId xmlns:r="http://schemas.openxmlformats.org/officeDocument/2006/relationships" id="299" r:id="R0e39028355594b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bdf446f5d4069" /><Relationship Type="http://schemas.openxmlformats.org/officeDocument/2006/relationships/slideMaster" Target="/ppt/slideMasters/slideMaster1.xml" Id="R9664203f30c440af" /><Relationship Type="http://schemas.openxmlformats.org/officeDocument/2006/relationships/notesMaster" Target="/ppt/notesMasters/notesMaster1.xml" Id="Rd68d1ceb13b1432c" /><Relationship Type="http://schemas.openxmlformats.org/officeDocument/2006/relationships/presProps" Target="/ppt/presProps.xml" Id="R5c1b8e3f0681493e" /><Relationship Type="http://schemas.openxmlformats.org/officeDocument/2006/relationships/tableStyles" Target="/ppt/tableStyles.xml" Id="Re134100e5e624e0e" /><Relationship Type="http://schemas.openxmlformats.org/officeDocument/2006/relationships/slide" Target="/ppt/slides/slide1.xml" Id="Rde5e2acdb7ec4df6" /><Relationship Type="http://schemas.openxmlformats.org/officeDocument/2006/relationships/slide" Target="/ppt/slides/slide2.xml" Id="R7022def39c694593" /><Relationship Type="http://schemas.openxmlformats.org/officeDocument/2006/relationships/slide" Target="/ppt/slides/slide3.xml" Id="Ref46512a165943b7" /><Relationship Type="http://schemas.openxmlformats.org/officeDocument/2006/relationships/slide" Target="/ppt/slides/slide4.xml" Id="R77ac8c7c848b49c0" /><Relationship Type="http://schemas.openxmlformats.org/officeDocument/2006/relationships/slide" Target="/ppt/slides/slide5.xml" Id="Rec26ec61c9b147a1" /><Relationship Type="http://schemas.openxmlformats.org/officeDocument/2006/relationships/slide" Target="/ppt/slides/slide6.xml" Id="R48a6b1984eb34d8b" /><Relationship Type="http://schemas.openxmlformats.org/officeDocument/2006/relationships/slide" Target="/ppt/slides/slide7.xml" Id="R765adee5b6814a9e" /><Relationship Type="http://schemas.openxmlformats.org/officeDocument/2006/relationships/slide" Target="/ppt/slides/slide8.xml" Id="Reaffbf0507b74640" /><Relationship Type="http://schemas.openxmlformats.org/officeDocument/2006/relationships/slide" Target="/ppt/slides/slide9.xml" Id="R8af341a24e704c24" /><Relationship Type="http://schemas.openxmlformats.org/officeDocument/2006/relationships/slide" Target="/ppt/slides/slide10.xml" Id="Rd2ae380c64d44e04" /><Relationship Type="http://schemas.openxmlformats.org/officeDocument/2006/relationships/slide" Target="/ppt/slides/slide11.xml" Id="Ra1b05c4d559e4db8" /><Relationship Type="http://schemas.openxmlformats.org/officeDocument/2006/relationships/slide" Target="/ppt/slides/slide12.xml" Id="Rab808291e1c643c3" /><Relationship Type="http://schemas.openxmlformats.org/officeDocument/2006/relationships/slide" Target="/ppt/slides/slide13.xml" Id="R25c663d6873b4655" /><Relationship Type="http://schemas.openxmlformats.org/officeDocument/2006/relationships/slide" Target="/ppt/slides/slide14.xml" Id="Ra26284125e8440e2" /><Relationship Type="http://schemas.openxmlformats.org/officeDocument/2006/relationships/slide" Target="/ppt/slides/slide15.xml" Id="R613d426a8b184a0b" /><Relationship Type="http://schemas.openxmlformats.org/officeDocument/2006/relationships/slide" Target="/ppt/slides/slide16.xml" Id="R25b4b96102f343c5" /><Relationship Type="http://schemas.openxmlformats.org/officeDocument/2006/relationships/slide" Target="/ppt/slides/slide17.xml" Id="R935738e92efe4c61" /><Relationship Type="http://schemas.openxmlformats.org/officeDocument/2006/relationships/slide" Target="/ppt/slides/slide18.xml" Id="R4f8228d11eec428b" /><Relationship Type="http://schemas.openxmlformats.org/officeDocument/2006/relationships/slide" Target="/ppt/slides/slide19.xml" Id="R875f133a1cce4ca3" /><Relationship Type="http://schemas.openxmlformats.org/officeDocument/2006/relationships/slide" Target="/ppt/slides/slide20.xml" Id="Ra522816994f94c4e" /><Relationship Type="http://schemas.openxmlformats.org/officeDocument/2006/relationships/slide" Target="/ppt/slides/slide21.xml" Id="R113147a70a144f55" /><Relationship Type="http://schemas.openxmlformats.org/officeDocument/2006/relationships/slide" Target="/ppt/slides/slide22.xml" Id="Raabb41eef87e4d23" /><Relationship Type="http://schemas.openxmlformats.org/officeDocument/2006/relationships/slide" Target="/ppt/slides/slide23.xml" Id="R3d3d974f96dc4f1f" /><Relationship Type="http://schemas.openxmlformats.org/officeDocument/2006/relationships/slide" Target="/ppt/slides/slide24.xml" Id="Ree7b97c421254fa3" /><Relationship Type="http://schemas.openxmlformats.org/officeDocument/2006/relationships/slide" Target="/ppt/slides/slide25.xml" Id="R7efad81234da4f65" /><Relationship Type="http://schemas.openxmlformats.org/officeDocument/2006/relationships/slide" Target="/ppt/slides/slide26.xml" Id="Racb7e431b1234033" /><Relationship Type="http://schemas.openxmlformats.org/officeDocument/2006/relationships/slide" Target="/ppt/slides/slide27.xml" Id="R03666571d3c44773" /><Relationship Type="http://schemas.openxmlformats.org/officeDocument/2006/relationships/slide" Target="/ppt/slides/slide28.xml" Id="Re084af95655042ab" /><Relationship Type="http://schemas.openxmlformats.org/officeDocument/2006/relationships/slide" Target="/ppt/slides/slide29.xml" Id="R1073fe73f58b4547" /><Relationship Type="http://schemas.openxmlformats.org/officeDocument/2006/relationships/slide" Target="/ppt/slides/slide30.xml" Id="R972b34f6db6a4b49" /><Relationship Type="http://schemas.openxmlformats.org/officeDocument/2006/relationships/slide" Target="/ppt/slides/slide31.xml" Id="R5adfd26c03d54600" /><Relationship Type="http://schemas.openxmlformats.org/officeDocument/2006/relationships/slide" Target="/ppt/slides/slide32.xml" Id="Raec60ae20b624662" /><Relationship Type="http://schemas.openxmlformats.org/officeDocument/2006/relationships/slide" Target="/ppt/slides/slide33.xml" Id="R4db545b9a3d14ba4" /><Relationship Type="http://schemas.openxmlformats.org/officeDocument/2006/relationships/slide" Target="/ppt/slides/slide34.xml" Id="R3847e4fa4b864a04" /><Relationship Type="http://schemas.openxmlformats.org/officeDocument/2006/relationships/slide" Target="/ppt/slides/slide35.xml" Id="Raf623d45f31a4bc4" /><Relationship Type="http://schemas.openxmlformats.org/officeDocument/2006/relationships/slide" Target="/ppt/slides/slide36.xml" Id="R1df6b11c22cf432b" /><Relationship Type="http://schemas.openxmlformats.org/officeDocument/2006/relationships/slide" Target="/ppt/slides/slide37.xml" Id="Rd3a8291457254ee3" /><Relationship Type="http://schemas.openxmlformats.org/officeDocument/2006/relationships/slide" Target="/ppt/slides/slide38.xml" Id="Rfcd3572ec6044d1b" /><Relationship Type="http://schemas.openxmlformats.org/officeDocument/2006/relationships/slide" Target="/ppt/slides/slide39.xml" Id="R50ef5fcef81749af" /><Relationship Type="http://schemas.openxmlformats.org/officeDocument/2006/relationships/slide" Target="/ppt/slides/slide40.xml" Id="Re698f9d0ed894f32" /><Relationship Type="http://schemas.openxmlformats.org/officeDocument/2006/relationships/slide" Target="/ppt/slides/slide41.xml" Id="R401df33613894fd8" /><Relationship Type="http://schemas.openxmlformats.org/officeDocument/2006/relationships/slide" Target="/ppt/slides/slide42.xml" Id="R9e8dbbd120bd4b03" /><Relationship Type="http://schemas.openxmlformats.org/officeDocument/2006/relationships/slide" Target="/ppt/slides/slide43.xml" Id="Rc75e2e1e14c14650" /><Relationship Type="http://schemas.openxmlformats.org/officeDocument/2006/relationships/slide" Target="/ppt/slides/slide44.xml" Id="R0e39028355594b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9f6e62606b4e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d621c12ed34b70" /><Relationship Type="http://schemas.openxmlformats.org/officeDocument/2006/relationships/notesMaster" Target="/ppt/notesMasters/notesMaster1.xml" Id="R244f6a197c4441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59f38e0eda4807" /><Relationship Type="http://schemas.openxmlformats.org/officeDocument/2006/relationships/notesMaster" Target="/ppt/notesMasters/notesMaster1.xml" Id="Red33c90eeccd4e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5dda4680884447" /><Relationship Type="http://schemas.openxmlformats.org/officeDocument/2006/relationships/notesMaster" Target="/ppt/notesMasters/notesMaster1.xml" Id="R110b25c403f043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7006aeeac54324" /><Relationship Type="http://schemas.openxmlformats.org/officeDocument/2006/relationships/notesMaster" Target="/ppt/notesMasters/notesMaster1.xml" Id="R76c8f528c64244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680a6d90d94a7a" /><Relationship Type="http://schemas.openxmlformats.org/officeDocument/2006/relationships/notesMaster" Target="/ppt/notesMasters/notesMaster1.xml" Id="R633c1ddc83af43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ecbb716f244f5f" /><Relationship Type="http://schemas.openxmlformats.org/officeDocument/2006/relationships/notesMaster" Target="/ppt/notesMasters/notesMaster1.xml" Id="Raf4ec4fb44b246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ef972722a94377" /><Relationship Type="http://schemas.openxmlformats.org/officeDocument/2006/relationships/notesMaster" Target="/ppt/notesMasters/notesMaster1.xml" Id="R93cdc4ad406c4b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cf461f1845489b" /><Relationship Type="http://schemas.openxmlformats.org/officeDocument/2006/relationships/notesMaster" Target="/ppt/notesMasters/notesMaster1.xml" Id="R60db26e508a94b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7e826ab20b4e6d" /><Relationship Type="http://schemas.openxmlformats.org/officeDocument/2006/relationships/notesMaster" Target="/ppt/notesMasters/notesMaster1.xml" Id="R72b05824b9bf47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0b8514ba3c4d51" /><Relationship Type="http://schemas.openxmlformats.org/officeDocument/2006/relationships/notesMaster" Target="/ppt/notesMasters/notesMaster1.xml" Id="Rd32c1239efa543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023f20236f4f82" /><Relationship Type="http://schemas.openxmlformats.org/officeDocument/2006/relationships/notesMaster" Target="/ppt/notesMasters/notesMaster1.xml" Id="Rd33a8d5772da48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042cd99715478d" /><Relationship Type="http://schemas.openxmlformats.org/officeDocument/2006/relationships/notesMaster" Target="/ppt/notesMasters/notesMaster1.xml" Id="R827d4e08254543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81abf348c74eb5" /><Relationship Type="http://schemas.openxmlformats.org/officeDocument/2006/relationships/notesMaster" Target="/ppt/notesMasters/notesMaster1.xml" Id="Re66a3383f50c43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caf9539ba24f10" /><Relationship Type="http://schemas.openxmlformats.org/officeDocument/2006/relationships/notesMaster" Target="/ppt/notesMasters/notesMaster1.xml" Id="Ra61858a0f12c49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24dc1edbb84744" /><Relationship Type="http://schemas.openxmlformats.org/officeDocument/2006/relationships/notesMaster" Target="/ppt/notesMasters/notesMaster1.xml" Id="R823556696eb94d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1143a4001649b2" /><Relationship Type="http://schemas.openxmlformats.org/officeDocument/2006/relationships/notesMaster" Target="/ppt/notesMasters/notesMaster1.xml" Id="R8a5ceefd8ce64b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303cc0320b4565" /><Relationship Type="http://schemas.openxmlformats.org/officeDocument/2006/relationships/notesMaster" Target="/ppt/notesMasters/notesMaster1.xml" Id="Rbba0cbd9c0254c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40b42e2c58490d" /><Relationship Type="http://schemas.openxmlformats.org/officeDocument/2006/relationships/notesMaster" Target="/ppt/notesMasters/notesMaster1.xml" Id="R0e480b5d9c7b4c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f94656e23c4be8" /><Relationship Type="http://schemas.openxmlformats.org/officeDocument/2006/relationships/notesMaster" Target="/ppt/notesMasters/notesMaster1.xml" Id="Rdfc834e6a824446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06b64198bd489d" /><Relationship Type="http://schemas.openxmlformats.org/officeDocument/2006/relationships/notesMaster" Target="/ppt/notesMasters/notesMaster1.xml" Id="Rcead56c3a8924c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536921202644f3" /><Relationship Type="http://schemas.openxmlformats.org/officeDocument/2006/relationships/notesMaster" Target="/ppt/notesMasters/notesMaster1.xml" Id="R06ae02adbe4343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d00fda083e44058" /><Relationship Type="http://schemas.openxmlformats.org/officeDocument/2006/relationships/notesMaster" Target="/ppt/notesMasters/notesMaster1.xml" Id="R7f72e2d6d2964ca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ee82c54ce24e9a" /><Relationship Type="http://schemas.openxmlformats.org/officeDocument/2006/relationships/notesMaster" Target="/ppt/notesMasters/notesMaster1.xml" Id="Rfaa1809c24374c8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79cdeaa46ba4042" /><Relationship Type="http://schemas.openxmlformats.org/officeDocument/2006/relationships/notesMaster" Target="/ppt/notesMasters/notesMaster1.xml" Id="R3364d0db525846b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14f8b00fbb244fc" /><Relationship Type="http://schemas.openxmlformats.org/officeDocument/2006/relationships/notesMaster" Target="/ppt/notesMasters/notesMaster1.xml" Id="Re763cdd088eb4f4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90f108f83a741c5" /><Relationship Type="http://schemas.openxmlformats.org/officeDocument/2006/relationships/notesMaster" Target="/ppt/notesMasters/notesMaster1.xml" Id="R8bbe4497cdc249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1a08e1228eb43bc" /><Relationship Type="http://schemas.openxmlformats.org/officeDocument/2006/relationships/notesMaster" Target="/ppt/notesMasters/notesMaster1.xml" Id="R260838f1e47f45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41775fec26e4f5f" /><Relationship Type="http://schemas.openxmlformats.org/officeDocument/2006/relationships/notesMaster" Target="/ppt/notesMasters/notesMaster1.xml" Id="Re8db6770080742a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c7a429fe2b74a60" /><Relationship Type="http://schemas.openxmlformats.org/officeDocument/2006/relationships/notesMaster" Target="/ppt/notesMasters/notesMaster1.xml" Id="R4590eed182be47a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c83e6d04a3f4e26" /><Relationship Type="http://schemas.openxmlformats.org/officeDocument/2006/relationships/notesMaster" Target="/ppt/notesMasters/notesMaster1.xml" Id="Rf26f9c60ffe2402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b4506c66c534fdd" /><Relationship Type="http://schemas.openxmlformats.org/officeDocument/2006/relationships/notesMaster" Target="/ppt/notesMasters/notesMaster1.xml" Id="R0a1ce2ae896e4e7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f817c5a7bc84c57" /><Relationship Type="http://schemas.openxmlformats.org/officeDocument/2006/relationships/notesMaster" Target="/ppt/notesMasters/notesMaster1.xml" Id="R224a14edb11f487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6ee810bb04d45e9" /><Relationship Type="http://schemas.openxmlformats.org/officeDocument/2006/relationships/notesMaster" Target="/ppt/notesMasters/notesMaster1.xml" Id="Rc9630facf4bf403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4453668cd0446b7" /><Relationship Type="http://schemas.openxmlformats.org/officeDocument/2006/relationships/notesMaster" Target="/ppt/notesMasters/notesMaster1.xml" Id="R713787056f694fb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378f30c6a8941bd" /><Relationship Type="http://schemas.openxmlformats.org/officeDocument/2006/relationships/notesMaster" Target="/ppt/notesMasters/notesMaster1.xml" Id="R73eaff3ae6e3408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9339255f0574873" /><Relationship Type="http://schemas.openxmlformats.org/officeDocument/2006/relationships/notesMaster" Target="/ppt/notesMasters/notesMaster1.xml" Id="R3bee5b54bf0b45e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cfa5ec47ff04a25" /><Relationship Type="http://schemas.openxmlformats.org/officeDocument/2006/relationships/notesMaster" Target="/ppt/notesMasters/notesMaster1.xml" Id="R7105032ae70e46e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26ebc96a789443f" /><Relationship Type="http://schemas.openxmlformats.org/officeDocument/2006/relationships/notesMaster" Target="/ppt/notesMasters/notesMaster1.xml" Id="Rcc6339b542bc497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6684563cfda45d7" /><Relationship Type="http://schemas.openxmlformats.org/officeDocument/2006/relationships/notesMaster" Target="/ppt/notesMasters/notesMaster1.xml" Id="Rb52adbea367f49f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85b62627cda42f3" /><Relationship Type="http://schemas.openxmlformats.org/officeDocument/2006/relationships/notesMaster" Target="/ppt/notesMasters/notesMaster1.xml" Id="R2456ca46574b4b1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fcbe7ab4d5b490d" /><Relationship Type="http://schemas.openxmlformats.org/officeDocument/2006/relationships/notesMaster" Target="/ppt/notesMasters/notesMaster1.xml" Id="R45ef90d1cd4345f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9cc72748618437c" /><Relationship Type="http://schemas.openxmlformats.org/officeDocument/2006/relationships/notesMaster" Target="/ppt/notesMasters/notesMaster1.xml" Id="R2735a0e6ae234d5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e8aa25b966c49ff" /><Relationship Type="http://schemas.openxmlformats.org/officeDocument/2006/relationships/notesMaster" Target="/ppt/notesMasters/notesMaster1.xml" Id="R53adfc23414543b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abc99a80060443b" /><Relationship Type="http://schemas.openxmlformats.org/officeDocument/2006/relationships/notesMaster" Target="/ppt/notesMasters/notesMaster1.xml" Id="R5def158313654a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點已經用完，請掃第 3 頁的 QR Code 填群組申請，留下 Lovable 登入 email，再向我示意。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 starter 終端機示範兩個指令，指出需要停留在有 package.json 的資料夾。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講述：免費建置額度不是固定五次提示。今天的 5 點已用完或額度不足時，請掃右側 QR Code，只需填登入 Lovable 的 email。表單開放持連結者填寫，不要求登入 Google，也不公開其他人的回覆。送出後向講師示意。講師查看 Google 表單回覆，再安排 Lovable 群組邀請；申請送出不會自動加入。收到信後完成加入，確認可以繼續實作。仍無法建置時，保留狀態並以離線版做驗收。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操作：投影 QR Code 與可點選短網址。講師於自己的表單「回覆」分頁查看 email，再安排群組邀請；請學員確認信箱。需要在正式流程中再次顯示 QR 時，也可開第 35 頁附錄。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檢核：申請者填的是 Lovable 登入 email，知道需完成邀請流程。所有人記錄額度來源與切換時間，卡關者知道離線備援位置。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時間：13:30–13:30:30，30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講述：歡迎來到 HWDC 2026。今天用同一份 Web 需求，親自觀察 Lovable 與通用 AI 工具的建置、修改與驗收。我會以 Codex 桌面 App 示範，CLI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操作：確認投影與音量，說明今天的工具與共同任務，接著切到講師介紹。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轉場：先用一分鐘介紹我自己，以及我平常在做的事。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時間：13:30:30–13:32，1 分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講述：我是林建宏，大家也可以叫我 Wolke。我把自己定位成一名啟發者，希望把開發過程中的經驗與問題分享出來，幫助更多人理解並開始行動。我曾任 Google Developer Expert（2019–2023）與 LINE API Expert，也是技術書作者，曾在大學、社群與論壇講授。我的著作涵蓋 Gemini API、ChatGPT 協作程式開發和 LINE 聊天機器人。近期的書是《實用的 Gemini API 開發點子書》。我在 Medium 持續分享 AI 人機協作與提示工程。今天想和大家一起做的，是把需求說清楚，再親手檢查 AI 做出的成果。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操作：介紹照片、專業資格與著作。用約一分鐘講背景，最後 30 秒連到今天的 AI 協作與驗收主題。Medium 網址可點選，完整書名與來源在本頁備註及教材。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檢核：聽眾理解講師的實作與教學背景，以及本堂課為何重視需求、操作和驗收。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轉場：我們先看看今天會做出的議程收藏器，以及你會帶走什麼。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Wolke：Lovable 到底強在哪裡</a:t>
            </a:r>
          </a:p>
          <a:p xmlns:a="http://schemas.openxmlformats.org/drawingml/2006/main">
            <a:r>
              <a:t>https://ithelp.ithome.com.tw/articles/10406618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自我介紹頁右側 QR Code 連到 https://medium.com/@wolkesau，介紹時可停留讓學員掃描。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時間：13:32–13:35，3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講述：今天要完成的是找議程、收藏、重新整理後保留，再加上衝堂提示。這張畫面是使用真實議程附件的參考版，UI 只是其中一種可能。學員可自行決定 UI 設計，但 Lovable 與通用 AI 的兩個版本要保持一致。兩套工具各做一個初版，各接受一次相同的需求變更，再以完成度、時間與用量寫下自己的選型理由。你可以沿用熟悉的通用 AI 工具，只要需求與資料相同，並記錄條件。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操作：先用 90 秒操作離線參考版：搜尋林建宏，收藏 4996、5030，重新整理確認保留，再切第二版加入 5018 看衝堂。接著 60 秒說明兩段 15 分鐘初版與各 5 分鐘修改。最後 30 秒舉手詢問工具分布，提醒同學可使用自己的通用工具。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檢核：請學員說出畫面尚未證明的功能，例如重新整理保存。確認知道 UI 由學員自訂，但自己的兩個工具版本須一致、通用工具可以自選，而且要留下作品與觀察紀錄。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轉場：接著看兩套 AI 工具如何完成相同任務。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講述：本課只比較 Lovable 與通用 AI 工具，講師以 Codex 桌面 App 示範。兩套各自從新專案開始，使用相同資料與短提示，先完成初版，再加入衝堂提示。90 分鐘內以實作、試用及驗收觀察差異；UI 由學員自由設計，但兩套工具要採相同設計。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操作：對照兩條流程，指出平台預覽與本機預覽。提醒學員：初版各 15 分鐘、修改各 5 分鐘，驗收也包含在內。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檢核：確認學員知道今天只有兩套 AI 工具需要操作，兩個版本的 UI 保持一致，並依相同 UX 條件驗收。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講述：我們固定資料與 UX 邏輯。UI 由各學員自行決定，同一位學員的兩個工具版本要採相同設計。所有議程兩天各 35 筆、共 70 筆；使用者能搜尋、用日期和主題一起篩選、收藏並保留即可。資料可能有多位講者與多個標籤，不能漏掉。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講述：設定與套件安裝另計。每輪從開始補充或送出該輪提示時起算，生成等待、除錯與驗收都算進去。到截止時沒通過就保留未完成狀態。不要把截止的十五分鐘寫成十五分鐘完成。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講述：人不需要先寫成工程規格才開始。上傳資料，講清楚想做什麼、用起來要怎樣，再讓 Agent 做出可試用的第一版。色彩、版型與字型由學員自訂，但 Lovable 與通用 AI 的兩個版本要保持一致。先用一句話描述自己的 UI 設計，再把相同設計要求交給兩套工具。驗收表拿在自己手上，發現缺漏再描述操作與預期。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操作：複製本頁提示，補上自己選定的 UI 設計要求，兩套工具使用相同描述。下一頁提供 JSON 附件位置與完整網址，先上傳再送出。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JSON 是附件，不需複製 70 筆資料；也知道自己可以選擇 UI，但兩個工具版本須一致。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轉場：先確認這份資料從哪裡來，以及要上傳哪個檔案。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  <a:p xmlns:a="http://schemas.openxmlformats.org/drawingml/2006/main">
            <a:r>
              <a:t>公開 JSON：https://wolke.github.io/hwdc-2026-ai-cli-vs-lovable/HWDC-workshop/materials/hwdc-agenda-2026.json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講述：官網議程是公開來源；我們把兩天 70 筆場次整理成固定 JSON 快照。投影片寫出來源及附件完整網址。原 GitHub repo 已公開，投影片列出的 JSON 網址可免登入直接開啟；也可使用教材包 materials 裡的同一份 JSON。提示與資料分開，上傳完再送出第 11 頁提示。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操作：開啟本頁 JSON 網址，將資料下載為 hwdc-agenda-2026.json 後上傳；工具支援讀網址時，也可直接使用提示內網址。確認資料後貼第 11 頁提示，開始驗收。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講述：搜尋林建宏，日期選 10/14，主題選 AI 開發工具實戰和流程改造，應只剩 4996。改成 SDLC 相關議題為零，改 10/15 也為零。另以陳宜昌的三個主題標籤檢查多標籤是否遺漏。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操作：依 A3 實際切換條件，不要求特定按鈕位置。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檢核：條件是 AND；同一場的多個 tags 都能被找出。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轉場：下一頁直接列出可貼上的完整提示。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講述：這次直接貼本頁提示，資料位置寫在第一行。本機檔案與上傳 Lovable 的附件內容一致，UI 也採用自己在 Lovable 選定的相同設計。驗收表由人操作，發現問題再補充。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操作：複製本頁完整內容至 Codex，確認專案是獨立 starter。 加入與 Lovable 相同的 UI 設計描述。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  <a:p xmlns:a="http://schemas.openxmlformats.org/drawingml/2006/main">
            <a:r>
              <a:t>公開 JSON：https://wolke.github.io/hwdc-2026-ai-cli-vs-lovable/HWDC-workshop/materials/hwdc-agenda-2026.json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講述：用真實場次練習邊界：5030 和 5009 部分重疊；4996 包含 5018；4996 和 4993 同時段；4957 結束 10:10 正好接 4958，因此不衝堂。再比 4996 和 4992，鐘點相同但日期不同，不能誤報。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操作：每次只收藏兩場，檢查完整日期時間。數學判斷式可放講義，不必要求大家把它寫進首輪提示。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檢核：區分部分重疊、包含、相同、首尾相接與跨日。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操作：直接複製本頁三句提示，在兩套工具各自的初版接續修改。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講述：加入新功能後重做 A1–A6。特別確認第一版原有收藏沒有遺失，日期與多標籤篩選仍正確。此圖展示 4957 與 4958 相接沒有提示。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講述：這是上次長提示與 12 筆合成資料的操作彩排。兩套最後都完成。Codex 初版約 1 分 55 秒、修改約 1 分 3 秒；Lovable 初版約 4 分 22 秒、修改核心約 3 分 33 秒，精確手機尺寸在截止後補測。代理已看過解答，且第二輪交錯操作，不能據此排名。新版改用真實附件、短提示和自由 UI，必須另測。 詳細紀錄見 evidence/rehearsal-observations.md。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操作：先比較通過項目，再看時間與限制。補充 Lovable 衝堂區可直接取消，Codex 由卡片取消，示範 UX 路徑的差異。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檢核：觀察時間不被解讀成普遍速度；沒有把舊成績當作新條件成績。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講述：若沒有適合教學的實測錯誤，就用明確標示的刻意植入案例。把小於寫成小於等於會使 4957 與 4958 首尾相接被誤判。修正後，真正重疊仍應提醒，跨日不能混在一起。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操作：把範本中的操作填成收藏 4957、4958，實際填看到衝堂提示，預期填 10:10 首尾相接應不衝堂。送出後重做邊界驗收。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講述：本頁屬舊版 12 筆資料、長提示的彩排。Lovable 逐訊息實耗為初版 2 credits、修改 3.10，共 5.10。使用 Business 每月 1,200 credits 正常月費 US$588 全數分攤，單位 US$0.49，合計 US$2.499，約 US$2.50。此分攤未把每日附送點數或訂閱功能另外估值。工作區目前有全額訂閱優惠，當期訂閱帳單為 US$0，因此表中的金額不是專案實扣。若以 Business 加購 US$30／50 credits 換算，則為 US$3.06，兩個口徑不相加。Codex 在兩段實作時間窗共 743,895 輸入 tokens（其中 730,150 快取、13,745 未快取）及 10,380 輸出。依 GPT-6 Astra Standard 每百萬 tokens 的 250／25／1250 credits，換算 34.665 Codex credits。另採官方 2,500 credits 等值 US$100 的面額假設，得到約 US$1.39。這不是已核實的額度扣除或帳單。速度模式未記錄，若依加購額度的 Fast 2 倍／Ultrafast 6 倍試算，約 US$2.77／US$8.32。Codex 長對話及交錯操作使時間窗歸屬只能近似，和 Lovable 平台內訊息耗點的邊界不完全一致。這些結果不足以判定誰較便宜。人的主動工時與等待另外記錄，缺值不補零。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操作：先指認直接取得的用量，再指認換算假設。需要細節時，開啟教材 evidence/cost-check-20261013.html，展示兩張 Lovable 訊息耗點截圖、Codex token 明細與公式。提醒新條件的 70 筆議程比較仍待測。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檢核：學員能區分實耗、正常訂閱分攤、Standard 情境估算與帳單實扣，不把不同平台 credits 當成相同單位，也不重複加總快取輸入或推理輸出。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轉場：除了這次用量，接著看修改範圍與後續接手會帶來什麼工作。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講述：讓學員並排檢查自己的 Lovable 與通用 AI 作品，確認配色、版型與導覽採用同一份設計，再展示找到議程、收藏、看衝堂、決定取消或保留的流程。各學員可選不同風格，同一位學員的兩個工具版本要保持一致。若有差異，記錄工具是否遵循設計要求，以及修正所需的提示與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操作：邀請鄰座互相試用 60 秒，再用 60 秒分享兩個版本的完成度與 UI 一致性；不投票選工具冠軍。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檢核：兩套工具使用相同的 UI 設計要求，且使用者找得到完成任務的下一步。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操作：優先回覆能讓全場受益的問題。個別安裝問題留待課後。時間充裕時可選第 39–43 頁，否則直接跳第 44 頁讓學員訂閱系列；瀏覽器版可點「訂閱 QR」。15:00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轉場：謝謝大家，最後附上兩個系列的訂閱 QR Code，歡迎課後繼續練習。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額度已用完時，直接掃本頁右側 QR Code，填登入 Lovable 的 email，再向講師示意。講師查看表單回覆後另行安排群組邀請，學員完成信件中的邀請步驟。表單不會自動加入。仍無法建置或遇服務中斷時，改用離線參考版並保留切換原因。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操作：本頁即可展示 QR，不必離開排錯附錄。需要較大的 QR Code 時切到第 3 頁。邀請或排錯無法立即完成者，先做 offline/reference-v1.html 的驗收。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講述：先用這兩句人話描述想要的結果。實際 .ics 格式的欄位、跳脫、換行與時區，放在講義驗收及參考實作。匯入自己的行事曆軟體確認，不只相信文字回覆。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操作：複製本頁提示進行課後練習。檢查 4996 台北 13:00 對應 05:00 UTC，5030 台北 15:30 對應 07:30 UTC。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講述：議程附件是官網公開快照，70 筆場次與 12 筆休息原始資料分開保存。來源、擷取日期、台北時區正規化有紀錄，開課兩套工具使用同一份。主辦資訊以官網為準。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操作：直接點選本頁官方網址，附件則看第 12 頁；完整來源記錄仍保留於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講述：這組換算假設下，看起來 Codex 的美元估值較低。Lovable 是實際消耗 5.10 credits，再用正常訂閱月費分攤成約 2.50 美元。Codex 的 754,275 tokens 採 Astra Standard 額度率與每 credit 0.04 美元的面額假設，得到約 1.39 美元。兩邊都不是已核實的專案扣款。尤其 Codex 實際速度模式未取得，以加購額度 Fast／Ultrafast 試算會變成約 2.77／8.32 美元，因此不能說所有情況 Codex 都比較便宜。這是舊版 12 筆資料、長提示彩排，完成度及返工觀察一起看。今天落地的場景是網站開發，這也是通用 coding agent 的常見任務，換場景仍需實測。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操作：先比較表中兩種美元口徑，再指明速度模式缺值。若學員想看計算，回到第 27 頁或開啟費用證據。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檢核：學員知道估值大小取決於換算假設，也能區分實際用量、估算與帳單。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轉場：這也是我原本想用 Roblox Studio AI 作比較的原因。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2–3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講述：這段是我的投稿經驗。原本想比較 Roblox Studio AI，因為寫 Luau 程式以外，還有場景物件、資產及編輯器狀態，工具整合可能造成很不一樣的效果與費用。但當時預計採用的流程需要參與者提供自己的 API key 與用量預算，主辦單位去問過贊助，最後沒有取得，才改成 Lovable。這只是在說當時規劃的操作方式，不是所有 Roblox AI 功能的通則。我們今天沒有 Roblox 實測數字，因此把它當成下一個比較課題。各位可以沿用相同需求、相同驗收、限時建置、一次修改與回歸檢查的框架，再記下完成度、時間、用量和人的投入。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操作：用自身經驗說明選題與課堂成本的限制。提出 Roblox 的 Luau、場景／資產及 Playtest 為可測任務，邀請學員課後選一個專用工具重測。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檢核：學員理解本堂 Web 結果的適用邊界，不把尚未測量的 Roblox 案例當成排名或數據。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 Lovable，它的價值還包含網站完成後的發布與整合。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Wolke：Roblox Studio AI 協作開發大全</a:t>
            </a:r>
          </a:p>
          <a:p xmlns:a="http://schemas.openxmlformats.org/drawingml/2006/main">
            <a:r>
              <a:t>https://ithelp.ithome.com.tw/users/20046160/ironman/9450</a:t>
            </a:r>
          </a:p>
          <a:p xmlns:a="http://schemas.openxmlformats.org/drawingml/2006/main">
            <a:r>
              <a:t>講師提供：原投稿題目與改題經過</a:t>
            </a:r>
          </a:p>
          <a:p xmlns:a="http://schemas.openxmlformats.org/drawingml/2006/main">
            <a:r>
              <a:t>../materials/bonus-content.md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做好作品後，可以直接發布到平台提供的 lovable.app 網址。畫面上的 project-name 只是格式示意，沒有替大家建立新網站。平台提供託管，因此課堂原型可以很快分享。要分清楚編輯中的預覽和正式站，後來改完程式碼還要再次發布，正式站才會更新。付費方案可以連接自己購買的網域。發布後仍要開正式網址，測一次登入、資料與核心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操作：指認範例網域、發布及再次發布。時間充裕可開系列第 17 篇看發布流程；示範僅查看設定，依講師既有專案狀態決定是否發布。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檢核：學員能說出預覽、發布與再次更新的差別，知道自有網域是選項。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轉場：能快速發布，是因為平台已整合許多原本需要自己接起來的工具。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Wolke：發布、網域與正式上線</a:t>
            </a:r>
          </a:p>
          <a:p xmlns:a="http://schemas.openxmlformats.org/drawingml/2006/main">
            <a:r>
              <a:t>https://ithelp.ithome.com.tw/articles/10406635</a:t>
            </a:r>
          </a:p>
          <a:p xmlns:a="http://schemas.openxmlformats.org/drawingml/2006/main">
            <a:r>
              <a:t>Lovable Publishing</a:t>
            </a:r>
          </a:p>
          <a:p xmlns:a="http://schemas.openxmlformats.org/drawingml/2006/main">
            <a:r>
              <a:t>https://docs.lovable.dev/features/publish</a:t>
            </a:r>
          </a:p>
          <a:p xmlns:a="http://schemas.openxmlformats.org/drawingml/2006/main">
            <a:r>
              <a:t>Lovable Cloud</a:t>
            </a:r>
          </a:p>
          <a:p xmlns:a="http://schemas.openxmlformats.org/drawingml/2006/main">
            <a:r>
              <a:t>https://docs.lovable.dev/features/cloud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講述：依我的系列第一篇，Lovable 的重點是把需求討論、開發、後端資源、檢查與發布串成完整流程。Plan 用來先討論需求與安排工作，Build 再讓 Agent 修改專案。Cloud 提供資料庫、登入、儲存和後端函式。測試與安全工具幫忙檢查，但使用者仍要驗收核心流程。GitHub 同步程式碼，可以接續版本管理。因此平台費用不能只看每次生成用了多少 token，也要觀察自己省下多少設定與整合工時。Cloud、AI 及第三方服務的用量依方案分開核對，不假設都包含或無上限。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操作：用收藏器延伸「加會員登入、上傳檔案、保存雲端資料」的例子，讓學員說明哪部分可能省去整合工作。這些不加入今天的必做需求。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檢核：學員知道生成程式碼以外的平台工作，也理解發布前驗收仍由自己負責。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轉場：需要其他公司的資料與功能時，就會用到 connectors。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Wolke：Lovable 到底強在哪裡</a:t>
            </a:r>
          </a:p>
          <a:p xmlns:a="http://schemas.openxmlformats.org/drawingml/2006/main">
            <a:r>
              <a:t>https://ithelp.ithome.com.tw/articles/10406618</a:t>
            </a:r>
          </a:p>
          <a:p xmlns:a="http://schemas.openxmlformats.org/drawingml/2006/main">
            <a:r>
              <a:t>Lovable Cloud</a:t>
            </a:r>
          </a:p>
          <a:p xmlns:a="http://schemas.openxmlformats.org/drawingml/2006/main">
            <a:r>
              <a:t>https://docs.lovable.dev/features/cloud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已整合許多其他公司的服務，例如 Notion、Google Workspace、Slack 和 Resend。依現在的官方文件，連線有不同用途。App + chat 是共用連線，能供成品執行時或建置對話使用。Chat connector，也就是 MCP，是個人在建置時參考的上下文，不會隨成品部署。App user 則是每位使用者登入自己的第三方帳號授權。不是每個服務都支援全部類型。Connector 降低整合工作，但仍然需要帳號授權、正確權限及費用確認。像 Resend 的郵件寄送，就要連接自己的服務帳號，使用量依第三方方案核對。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操作：以「建置時讀 Notion 需求文件」與「成品 App 寫入 Notion」兩個例子對照。邀請學員判斷需要的連線類型，不在現場授權真實帳號或寄送訊息。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檢核：學員能區分建置上下文與成品功能，並知道共用帳號和每位使用者授權不同。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轉場：這些操作在系列裡都有延伸說明，最後歡迎掃碼訂閱。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Wolke：Paddle 金流、Email、AI 與第三方整合</a:t>
            </a:r>
          </a:p>
          <a:p xmlns:a="http://schemas.openxmlformats.org/drawingml/2006/main">
            <a:r>
              <a:t>https://ithelp.ithome.com.tw/articles/10406629</a:t>
            </a:r>
          </a:p>
          <a:p xmlns:a="http://schemas.openxmlformats.org/drawingml/2006/main">
            <a:r>
              <a:t>Lovable Integrations</a:t>
            </a:r>
          </a:p>
          <a:p xmlns:a="http://schemas.openxmlformats.org/drawingml/2006/main">
            <a:r>
              <a:t>https://docs.lovable.dev/integrations/introduction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時間：結尾，約 1 分鐘；可從第 32 頁直接跳入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講述：左邊是 Roblox Studio AI 協作開發大全，右邊是 Lovable：地球上最強的 AI 生成全端網站 Agentic 開發實戰。掃碼後會開啟各系列頁，登入 iT 邦幫忙後可以點訂閱系列文。歡迎沿用今天的框架，拿你在意的任務去試其他工具，留下自己的觀察。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操作：停留約 45–60 秒讓學員掃碼。若沒有選講時間，Q&amp;A 結束後直接跳這頁。網址亦可點選，另有教材中的 QR 展示頁與 PNG／SVG。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檢核：後排能掃描；學員知道掃碼開啟系列頁後，仍需自行點選訂閱。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轉場：謝謝大家，歡迎課後交流實作心得。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Wolke：Roblox Studio AI 協作開發大全</a:t>
            </a:r>
          </a:p>
          <a:p xmlns:a="http://schemas.openxmlformats.org/drawingml/2006/main">
            <a:r>
              <a:t>https://ithelp.ithome.com.tw/users/20046160/ironman/9450</a:t>
            </a:r>
          </a:p>
          <a:p xmlns:a="http://schemas.openxmlformats.org/drawingml/2006/main">
            <a:r>
              <a:t>Wolke：Lovable 全端網站 Agentic 開發實戰</a:t>
            </a:r>
          </a:p>
          <a:p xmlns:a="http://schemas.openxmlformats.org/drawingml/2006/main">
            <a:r>
              <a:t>https://ithelp.ithome.com.tw/users/20046160/ironman/9449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cbc5590434d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bf6a67a5d4c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89569789948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ba03528c14f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397f10bbe46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61a0fab324a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4719d0f6a24317" /><Relationship Type="http://schemas.openxmlformats.org/officeDocument/2006/relationships/slideLayout" Target="/ppt/slideLayouts/slideLayout1.xml" Id="R2726f25084c2499a" /><Relationship Type="http://schemas.openxmlformats.org/officeDocument/2006/relationships/slideLayout" Target="/ppt/slideLayouts/slideLayout2.xml" Id="R54116b7f6d52482c" /><Relationship Type="http://schemas.openxmlformats.org/officeDocument/2006/relationships/slideLayout" Target="/ppt/slideLayouts/slideLayout3.xml" Id="Re9f7736fe1f54706" /><Relationship Type="http://schemas.openxmlformats.org/officeDocument/2006/relationships/slideLayout" Target="/ppt/slideLayouts/slideLayout4.xml" Id="R7f75cfa746674ef2" /><Relationship Type="http://schemas.openxmlformats.org/officeDocument/2006/relationships/slideLayout" Target="/ppt/slideLayouts/slideLayout5.xml" Id="Rc9ff87b1aedf44cc" /><Relationship Type="http://schemas.openxmlformats.org/officeDocument/2006/relationships/slideLayout" Target="/ppt/slideLayouts/slideLayout6.xml" Id="Rcd5893db791243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26f25084c2499a"/>
    <p:sldLayoutId xmlns:r="http://schemas.openxmlformats.org/officeDocument/2006/relationships" id="2147483650" r:id="R54116b7f6d52482c"/>
    <p:sldLayoutId xmlns:r="http://schemas.openxmlformats.org/officeDocument/2006/relationships" id="2147483651" r:id="Re9f7736fe1f54706"/>
    <p:sldLayoutId xmlns:r="http://schemas.openxmlformats.org/officeDocument/2006/relationships" id="2147483652" r:id="R7f75cfa746674ef2"/>
    <p:sldLayoutId xmlns:r="http://schemas.openxmlformats.org/officeDocument/2006/relationships" id="2147483653" r:id="Rc9ff87b1aedf44cc"/>
    <p:sldLayoutId xmlns:r="http://schemas.openxmlformats.org/officeDocument/2006/relationships" id="2147483654" r:id="Rcd5893db7912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270f3f06e434f" /><Relationship Type="http://schemas.openxmlformats.org/officeDocument/2006/relationships/notesSlide" Target="/ppt/notesSlides/notesSlide1.xml" Id="R39b77be73d2348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b60993a6d42d9" /><Relationship Type="http://schemas.openxmlformats.org/officeDocument/2006/relationships/notesSlide" Target="/ppt/notesSlides/notesSlide2.xml" Id="R6f2d84c672b84a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c9b12b17b645d8" /><Relationship Type="http://schemas.openxmlformats.org/officeDocument/2006/relationships/image" Target="/ppt/media/image.png" Id="R6c5bcd065dff43f3" /><Relationship Type="http://schemas.openxmlformats.org/officeDocument/2006/relationships/hyperlink" Target="https://forms.gle/pt3nLWy622sYTfsG6" TargetMode="External" Id="R8d1ddb8670e645e0" /><Relationship Type="http://schemas.openxmlformats.org/officeDocument/2006/relationships/notesSlide" Target="/ppt/notesSlides/notesSlide3.xml" Id="R910980b7a60b40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d66ceb946416f" /><Relationship Type="http://schemas.openxmlformats.org/officeDocument/2006/relationships/notesSlide" Target="/ppt/notesSlides/notesSlide4.xml" Id="R422d6c04354446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e16435cbe944dd" /><Relationship Type="http://schemas.openxmlformats.org/officeDocument/2006/relationships/image" Target="/ppt/media/image2.png" Id="R006404a9ab7d4fb9" /><Relationship Type="http://schemas.openxmlformats.org/officeDocument/2006/relationships/hyperlink" Target="https://medium.com/@wolkesau" TargetMode="External" Id="R1cac1e55f0924ece" /><Relationship Type="http://schemas.openxmlformats.org/officeDocument/2006/relationships/image" Target="/ppt/media/image3.png" Id="R7df5f16cbf824825" /><Relationship Type="http://schemas.openxmlformats.org/officeDocument/2006/relationships/hyperlink" Target="https://medium.com/@wolkesau" TargetMode="External" Id="Raab16e04553d4276" /><Relationship Type="http://schemas.openxmlformats.org/officeDocument/2006/relationships/notesSlide" Target="/ppt/notesSlides/notesSlide5.xml" Id="R5121737cd21a4e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ce0dd36b6549c7" /><Relationship Type="http://schemas.openxmlformats.org/officeDocument/2006/relationships/image" Target="/ppt/media/image4.png" Id="Rf0d4618e61be43db" /><Relationship Type="http://schemas.openxmlformats.org/officeDocument/2006/relationships/notesSlide" Target="/ppt/notesSlides/notesSlide6.xml" Id="R6e1b2e9f80b645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45bfa2140478c" /><Relationship Type="http://schemas.openxmlformats.org/officeDocument/2006/relationships/notesSlide" Target="/ppt/notesSlides/notesSlide7.xml" Id="Rb614c9c3dbcc48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82d33d81134bcd" /><Relationship Type="http://schemas.openxmlformats.org/officeDocument/2006/relationships/notesSlide" Target="/ppt/notesSlides/notesSlide8.xml" Id="Rb023d7a9fb0447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d796946f84ae8" /><Relationship Type="http://schemas.openxmlformats.org/officeDocument/2006/relationships/notesSlide" Target="/ppt/notesSlides/notesSlide9.xml" Id="R53312d333a094e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a7dcdd2c84ace" /><Relationship Type="http://schemas.openxmlformats.org/officeDocument/2006/relationships/notesSlide" Target="/ppt/notesSlides/notesSlide10.xml" Id="Rbdd28d62722a4a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ce25e4918450e" /><Relationship Type="http://schemas.openxmlformats.org/officeDocument/2006/relationships/notesSlide" Target="/ppt/notesSlides/notesSlide11.xml" Id="Rc90d4a96272c49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969fe975f4fef" /><Relationship Type="http://schemas.openxmlformats.org/officeDocument/2006/relationships/hyperlink" Target="https://hwdc.ithome.com.tw/2026/agenda" TargetMode="External" Id="R49eb46134ff44674" /><Relationship Type="http://schemas.openxmlformats.org/officeDocument/2006/relationships/hyperlink" Target="https://wolke.github.io/hwdc-2026-ai-cli-vs-lovable/HWDC-workshop/materials/hwdc-agenda-2026.json" TargetMode="External" Id="R2f5e1d7f2cf240e4" /><Relationship Type="http://schemas.openxmlformats.org/officeDocument/2006/relationships/hyperlink" Target="https://wolke.github.io/hwdc-2026-ai-cli-vs-lovable/HWDC-workshop/materials/hwdc-agenda-2026.json" TargetMode="External" Id="R8146fa94d510443d" /><Relationship Type="http://schemas.openxmlformats.org/officeDocument/2006/relationships/notesSlide" Target="/ppt/notesSlides/notesSlide12.xml" Id="R0f45802139ce48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fa9f693884ec5" /><Relationship Type="http://schemas.openxmlformats.org/officeDocument/2006/relationships/notesSlide" Target="/ppt/notesSlides/notesSlide13.xml" Id="R7c686699190b49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7071c309b4f78" /><Relationship Type="http://schemas.openxmlformats.org/officeDocument/2006/relationships/image" Target="/ppt/media/image5.png" Id="Rdbe2d331e63847a6" /><Relationship Type="http://schemas.openxmlformats.org/officeDocument/2006/relationships/notesSlide" Target="/ppt/notesSlides/notesSlide14.xml" Id="Rc57fbebe89cb42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a3338fd4f4c6c" /><Relationship Type="http://schemas.openxmlformats.org/officeDocument/2006/relationships/notesSlide" Target="/ppt/notesSlides/notesSlide15.xml" Id="Rd6cc5b1b164641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bd2ad42f0b4b31" /><Relationship Type="http://schemas.openxmlformats.org/officeDocument/2006/relationships/notesSlide" Target="/ppt/notesSlides/notesSlide16.xml" Id="R25bd01b6b57647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98fcd7fc8d4196" /><Relationship Type="http://schemas.openxmlformats.org/officeDocument/2006/relationships/notesSlide" Target="/ppt/notesSlides/notesSlide17.xml" Id="R5f98702812a943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a6aba34c24c9a" /><Relationship Type="http://schemas.openxmlformats.org/officeDocument/2006/relationships/notesSlide" Target="/ppt/notesSlides/notesSlide18.xml" Id="R51dbe8ddf01f4a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df442c3314cc3" /><Relationship Type="http://schemas.openxmlformats.org/officeDocument/2006/relationships/image" Target="/ppt/media/image6.png" Id="R94773738d1cc4b4c" /><Relationship Type="http://schemas.openxmlformats.org/officeDocument/2006/relationships/notesSlide" Target="/ppt/notesSlides/notesSlide19.xml" Id="R022bbca394c34b8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27d9c86314151" /><Relationship Type="http://schemas.openxmlformats.org/officeDocument/2006/relationships/image" Target="/ppt/media/image7.png" Id="Rfa373b6854bf4673" /><Relationship Type="http://schemas.openxmlformats.org/officeDocument/2006/relationships/notesSlide" Target="/ppt/notesSlides/notesSlide20.xml" Id="R4f6d155a77df40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bc0f0563e4e6f" /><Relationship Type="http://schemas.openxmlformats.org/officeDocument/2006/relationships/notesSlide" Target="/ppt/notesSlides/notesSlide21.xml" Id="Rfe55650d4e26419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e00fefa90d4531" /><Relationship Type="http://schemas.openxmlformats.org/officeDocument/2006/relationships/notesSlide" Target="/ppt/notesSlides/notesSlide22.xml" Id="R6f89b067493648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a9b2cf6bc455d" /><Relationship Type="http://schemas.openxmlformats.org/officeDocument/2006/relationships/notesSlide" Target="/ppt/notesSlides/notesSlide23.xml" Id="Rf43d51e400dc410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987cacb094a18" /><Relationship Type="http://schemas.openxmlformats.org/officeDocument/2006/relationships/image" Target="/ppt/media/image8.png" Id="R7c50b0757eae4a4b" /><Relationship Type="http://schemas.openxmlformats.org/officeDocument/2006/relationships/notesSlide" Target="/ppt/notesSlides/notesSlide24.xml" Id="R1033522db27b47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d551fb4c04eff" /><Relationship Type="http://schemas.openxmlformats.org/officeDocument/2006/relationships/notesSlide" Target="/ppt/notesSlides/notesSlide25.xml" Id="Rec10c39d91ba4e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4a3d74f1d4ff3" /><Relationship Type="http://schemas.openxmlformats.org/officeDocument/2006/relationships/notesSlide" Target="/ppt/notesSlides/notesSlide26.xml" Id="Rdd1d45de7394449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38520a2d74f01" /><Relationship Type="http://schemas.openxmlformats.org/officeDocument/2006/relationships/hyperlink" Target="https://docs.lovable.dev/introduction/subscription-plans" TargetMode="External" Id="R2c9e3e1cf5884448" /><Relationship Type="http://schemas.openxmlformats.org/officeDocument/2006/relationships/hyperlink" Target="https://learn.chatgpt.com/docs/pricing" TargetMode="External" Id="R2fc5946ba88f4bad" /><Relationship Type="http://schemas.openxmlformats.org/officeDocument/2006/relationships/notesSlide" Target="/ppt/notesSlides/notesSlide27.xml" Id="R55a8c6f1af8c42b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576eda45a406e" /><Relationship Type="http://schemas.openxmlformats.org/officeDocument/2006/relationships/image" Target="/ppt/media/image9.png" Id="Rcf8085282a0b4684" /><Relationship Type="http://schemas.openxmlformats.org/officeDocument/2006/relationships/notesSlide" Target="/ppt/notesSlides/notesSlide28.xml" Id="Ra39e64d347a5426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73d86adc24f8a" /><Relationship Type="http://schemas.openxmlformats.org/officeDocument/2006/relationships/notesSlide" Target="/ppt/notesSlides/notesSlide29.xml" Id="R6a5240fe4103427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cc22136d514b21" /><Relationship Type="http://schemas.openxmlformats.org/officeDocument/2006/relationships/notesSlide" Target="/ppt/notesSlides/notesSlide30.xml" Id="R5f88e13e445f4f4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3b75469f84770" /><Relationship Type="http://schemas.openxmlformats.org/officeDocument/2006/relationships/notesSlide" Target="/ppt/notesSlides/notesSlide31.xml" Id="R2aaffbc73e8540f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4ebdb9d33443e" /><Relationship Type="http://schemas.openxmlformats.org/officeDocument/2006/relationships/notesSlide" Target="/ppt/notesSlides/notesSlide32.xml" Id="Rb07262e41bed4ca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12617c7e34d20" /><Relationship Type="http://schemas.openxmlformats.org/officeDocument/2006/relationships/notesSlide" Target="/ppt/notesSlides/notesSlide33.xml" Id="R563feccfb9f44ff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00e8df2104627" /><Relationship Type="http://schemas.openxmlformats.org/officeDocument/2006/relationships/notesSlide" Target="/ppt/notesSlides/notesSlide34.xml" Id="R26479c2624bf4b3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6adfa09bb422e" /><Relationship Type="http://schemas.openxmlformats.org/officeDocument/2006/relationships/image" Target="/ppt/media/image10.png" Id="R65a593ebd0334eb6" /><Relationship Type="http://schemas.openxmlformats.org/officeDocument/2006/relationships/hyperlink" Target="https://forms.gle/pt3nLWy622sYTfsG6" TargetMode="External" Id="Re1743103a76b40d5" /><Relationship Type="http://schemas.openxmlformats.org/officeDocument/2006/relationships/hyperlink" Target="https://forms.gle/pt3nLWy622sYTfsG6" TargetMode="External" Id="R8be4e19b112f412e" /><Relationship Type="http://schemas.openxmlformats.org/officeDocument/2006/relationships/notesSlide" Target="/ppt/notesSlides/notesSlide35.xml" Id="R70e8e4d9662d492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626bdfb5449d9" /><Relationship Type="http://schemas.openxmlformats.org/officeDocument/2006/relationships/hyperlink" Target="https://www.rfc-editor.org/rfc/rfc5545" TargetMode="External" Id="Rf91d409134f741ab" /><Relationship Type="http://schemas.openxmlformats.org/officeDocument/2006/relationships/notesSlide" Target="/ppt/notesSlides/notesSlide36.xml" Id="R5c1522ccc1fe459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d8970d51d4681" /><Relationship Type="http://schemas.openxmlformats.org/officeDocument/2006/relationships/notesSlide" Target="/ppt/notesSlides/notesSlide37.xml" Id="Rfc12c1750a9d4a7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358cb8692469b" /><Relationship Type="http://schemas.openxmlformats.org/officeDocument/2006/relationships/hyperlink" Target="https://hwdc.ithome.com.tw/2026/agenda" TargetMode="External" Id="R75ce1b2d7ac44b4c" /><Relationship Type="http://schemas.openxmlformats.org/officeDocument/2006/relationships/hyperlink" Target="https://docs.lovable.dev/introduction/faq" TargetMode="External" Id="R1c76309a07064b2a" /><Relationship Type="http://schemas.openxmlformats.org/officeDocument/2006/relationships/hyperlink" Target="https://docs.lovable.dev/introduction/credits-and-usage" TargetMode="External" Id="R2b1bae2f74ba41ba" /><Relationship Type="http://schemas.openxmlformats.org/officeDocument/2006/relationships/hyperlink" Target="https://learn.chatgpt.com/docs/quickstart" TargetMode="External" Id="Rcec491c567c54026" /><Relationship Type="http://schemas.openxmlformats.org/officeDocument/2006/relationships/hyperlink" Target="https://learn.chatgpt.com/docs/auth" TargetMode="External" Id="R579410e0f3874f6e" /><Relationship Type="http://schemas.openxmlformats.org/officeDocument/2006/relationships/hyperlink" Target="https://www.rfc-editor.org/rfc/rfc5545" TargetMode="External" Id="R83cdba34865643a8" /><Relationship Type="http://schemas.openxmlformats.org/officeDocument/2006/relationships/notesSlide" Target="/ppt/notesSlides/notesSlide38.xml" Id="R904b08e239bf414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a39a495a484471" /><Relationship Type="http://schemas.openxmlformats.org/officeDocument/2006/relationships/notesSlide" Target="/ppt/notesSlides/notesSlide39.xml" Id="Rdd67494e6f4e430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23bf93d57466a" /><Relationship Type="http://schemas.openxmlformats.org/officeDocument/2006/relationships/notesSlide" Target="/ppt/notesSlides/notesSlide40.xml" Id="R6f5450d22af8400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8aab7f751441ed" /><Relationship Type="http://schemas.openxmlformats.org/officeDocument/2006/relationships/hyperlink" Target="https://ithelp.ithome.com.tw/articles/10406635" TargetMode="External" Id="Rcb105775f16a4f5d" /><Relationship Type="http://schemas.openxmlformats.org/officeDocument/2006/relationships/notesSlide" Target="/ppt/notesSlides/notesSlide41.xml" Id="R64b0d669679a40a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cb249fd1940e6" /><Relationship Type="http://schemas.openxmlformats.org/officeDocument/2006/relationships/hyperlink" Target="https://ithelp.ithome.com.tw/articles/10406618" TargetMode="External" Id="R481b91b72ef74e5d" /><Relationship Type="http://schemas.openxmlformats.org/officeDocument/2006/relationships/notesSlide" Target="/ppt/notesSlides/notesSlide42.xml" Id="R7b59f983bb0e45c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c5d5362c64ef1" /><Relationship Type="http://schemas.openxmlformats.org/officeDocument/2006/relationships/hyperlink" Target="https://ithelp.ithome.com.tw/articles/10406629" TargetMode="External" Id="Rd95aa8e585e245ef" /><Relationship Type="http://schemas.openxmlformats.org/officeDocument/2006/relationships/notesSlide" Target="/ppt/notesSlides/notesSlide43.xml" Id="R4143212bfc90443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001b72ed8548c4" /><Relationship Type="http://schemas.openxmlformats.org/officeDocument/2006/relationships/image" Target="/ppt/media/image11.png" Id="R1e6057432a8f41ea" /><Relationship Type="http://schemas.openxmlformats.org/officeDocument/2006/relationships/hyperlink" Target="https://ithelp.ithome.com.tw/users/20046160/ironman/9450" TargetMode="External" Id="R7031add92db94f69" /><Relationship Type="http://schemas.openxmlformats.org/officeDocument/2006/relationships/hyperlink" Target="https://ithelp.ithome.com.tw/users/20046160/ironman/9450" TargetMode="External" Id="R9d49d801b611479d" /><Relationship Type="http://schemas.openxmlformats.org/officeDocument/2006/relationships/image" Target="/ppt/media/image12.png" Id="Rd9859ba157ac4fe8" /><Relationship Type="http://schemas.openxmlformats.org/officeDocument/2006/relationships/hyperlink" Target="https://ithelp.ithome.com.tw/users/20046160/ironman/9449" TargetMode="External" Id="R323a66da0295418c" /><Relationship Type="http://schemas.openxmlformats.org/officeDocument/2006/relationships/hyperlink" Target="https://ithelp.ithome.com.tw/users/20046160/ironman/9449" TargetMode="External" Id="R85109b69ebb84fa5" /><Relationship Type="http://schemas.openxmlformats.org/officeDocument/2006/relationships/notesSlide" Target="/ppt/notesSlides/notesSlide44.xml" Id="Re96ff536551d40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先把空白頁跑起來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70 筆 HWDC 公開議程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額度不足？申請加入群組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2" name="v7-2">
            <a:extLst xmlns:a="http://schemas.openxmlformats.org/drawingml/2006/main">
              <a:ext uri="{FF2B5EF4-FFF2-40B4-BE49-F238E27FC236}">
                <a16:creationId xmlns:a16="http://schemas.microsoft.com/office/drawing/2014/main" id="{8E075EC0-CA89-4F2A-8494-8B3A2AE1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今天的 5 點已用完，或可用額度不足時再填寫</a:t>
            </a:r>
          </a:p>
        </p:txBody>
      </p:sp>
      <p:sp>
        <p:nvSpPr>
          <p:cNvPr id="13" name="v7-3">
            <a:extLst xmlns:a="http://schemas.openxmlformats.org/drawingml/2006/main">
              <a:ext uri="{FF2B5EF4-FFF2-40B4-BE49-F238E27FC236}">
                <a16:creationId xmlns:a16="http://schemas.microsoft.com/office/drawing/2014/main" id="{7BD89B64-476D-4931-83E5-86DD102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　掃右側 QR Code</a:t>
            </a:r>
          </a:p>
        </p:txBody>
      </p:sp>
      <p:sp>
        <p:nvSpPr>
          <p:cNvPr id="14" name="v7-4">
            <a:extLst xmlns:a="http://schemas.openxmlformats.org/drawingml/2006/main">
              <a:ext uri="{FF2B5EF4-FFF2-40B4-BE49-F238E27FC236}">
                <a16:creationId xmlns:a16="http://schemas.microsoft.com/office/drawing/2014/main" id="{FC36FA73-68C9-46B4-ADE5-C588CBB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2　填入 Lovable 登入 email</a:t>
            </a:r>
          </a:p>
        </p:txBody>
      </p:sp>
      <p:sp>
        <p:nvSpPr>
          <p:cNvPr id="15" name="v7-5">
            <a:extLst xmlns:a="http://schemas.openxmlformats.org/drawingml/2006/main">
              <a:ext uri="{FF2B5EF4-FFF2-40B4-BE49-F238E27FC236}">
                <a16:creationId xmlns:a16="http://schemas.microsoft.com/office/drawing/2014/main" id="{9FEDF7DA-786D-4A9F-8AC6-497DF86F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3　向講師示意，留意邀請信</a:t>
            </a:r>
          </a:p>
        </p:txBody>
      </p:sp>
      <p:sp>
        <p:nvSpPr>
          <p:cNvPr id="16" name="v7-6">
            <a:extLst xmlns:a="http://schemas.openxmlformats.org/drawingml/2006/main">
              <a:ext uri="{FF2B5EF4-FFF2-40B4-BE49-F238E27FC236}">
                <a16:creationId xmlns:a16="http://schemas.microsoft.com/office/drawing/2014/main" id="{03424CBD-6964-4AEA-9643-3490FCFB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0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依邀請信完成加入後，再確認可繼續實作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16C5F-1B9A-4A07-B9C5-66AD3F5986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bcd065dff43f3"/>
          <a:stretch xmlns:a="http://schemas.openxmlformats.org/drawingml/2006/main"/>
        </p:blipFill>
        <p:spPr>
          <a:xfrm xmlns:a="http://schemas.openxmlformats.org/drawingml/2006/main">
            <a:off x="7620000" y="19240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8" name="v7-7">
            <a:extLst xmlns:a="http://schemas.openxmlformats.org/drawingml/2006/main">
              <a:ext uri="{FF2B5EF4-FFF2-40B4-BE49-F238E27FC236}">
                <a16:creationId xmlns:a16="http://schemas.microsoft.com/office/drawing/2014/main" id="{8821008C-C29F-4CA1-B7D1-F2CD650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6959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d1ddb8670e645e0"/>
              </a:rPr>
              <a:t>https://forms.gle/pt3nLWy622sYTfsG6</a:t>
            </a:r>
          </a:p>
        </p:txBody>
      </p:sp>
      <p:sp>
        <p:nvSpPr>
          <p:cNvPr id="19" name="v7-8">
            <a:extLst xmlns:a="http://schemas.openxmlformats.org/drawingml/2006/main">
              <a:ext uri="{FF2B5EF4-FFF2-40B4-BE49-F238E27FC236}">
                <a16:creationId xmlns:a16="http://schemas.microsoft.com/office/drawing/2014/main" id="{ABD8129B-5393-49A1-BAB7-8599DFE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仍卡關超過 2 分鐘，保留紀錄並改用離線參考版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關於我：林建宏 Wolke Lin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10" name="v8-2">
            <a:extLst xmlns:a="http://schemas.openxmlformats.org/drawingml/2006/main">
              <a:ext uri="{FF2B5EF4-FFF2-40B4-BE49-F238E27FC236}">
                <a16:creationId xmlns:a16="http://schemas.microsoft.com/office/drawing/2014/main" id="{1D850AAF-7079-400E-BE56-9C5F24A5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分享 AI 協作與程式開發經驗，讓更多人動手做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91ECF-DF8B-4D2D-9710-7B00B33376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404a9ab7d4fb9"/>
          <a:stretch xmlns:a="http://schemas.openxmlformats.org/drawingml/2006/main"/>
        </p:blipFill>
        <p:spPr>
          <a:xfrm xmlns:a="http://schemas.openxmlformats.org/drawingml/2006/main">
            <a:off x="685800" y="192405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12" name="v8-3">
            <a:extLst xmlns:a="http://schemas.openxmlformats.org/drawingml/2006/main">
              <a:ext uri="{FF2B5EF4-FFF2-40B4-BE49-F238E27FC236}">
                <a16:creationId xmlns:a16="http://schemas.microsoft.com/office/drawing/2014/main" id="{235B836A-608E-4FE8-BEE0-04E40926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啟發者</a:t>
            </a:r>
          </a:p>
        </p:txBody>
      </p:sp>
      <p:sp>
        <p:nvSpPr>
          <p:cNvPr id="15" name="v8-6">
            <a:extLst xmlns:a="http://schemas.openxmlformats.org/drawingml/2006/main">
              <a:ext uri="{FF2B5EF4-FFF2-40B4-BE49-F238E27FC236}">
                <a16:creationId xmlns:a16="http://schemas.microsoft.com/office/drawing/2014/main" id="{553B63C0-FD50-4004-950E-FB66A66D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技術書作者</a:t>
            </a:r>
          </a:p>
        </p:txBody>
      </p:sp>
      <p:sp>
        <p:nvSpPr>
          <p:cNvPr id="16" name="v8-7">
            <a:extLst xmlns:a="http://schemas.openxmlformats.org/drawingml/2006/main">
              <a:ext uri="{FF2B5EF4-FFF2-40B4-BE49-F238E27FC236}">
                <a16:creationId xmlns:a16="http://schemas.microsoft.com/office/drawing/2014/main" id="{BFC8F4A5-3952-407E-A449-CD7326F7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大學講師、社群與論壇講者</a:t>
            </a:r>
          </a:p>
        </p:txBody>
      </p:sp>
      <p:sp>
        <p:nvSpPr>
          <p:cNvPr id="17" name="v8-8">
            <a:extLst xmlns:a="http://schemas.openxmlformats.org/drawingml/2006/main">
              <a:ext uri="{FF2B5EF4-FFF2-40B4-BE49-F238E27FC236}">
                <a16:creationId xmlns:a16="http://schemas.microsoft.com/office/drawing/2014/main" id="{90B44808-D22D-4F59-B45F-806347E7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代表著作</a:t>
            </a:r>
          </a:p>
        </p:txBody>
      </p:sp>
      <p:sp>
        <p:nvSpPr>
          <p:cNvPr id="18" name="v8-9">
            <a:extLst xmlns:a="http://schemas.openxmlformats.org/drawingml/2006/main">
              <a:ext uri="{FF2B5EF4-FFF2-40B4-BE49-F238E27FC236}">
                <a16:creationId xmlns:a16="http://schemas.microsoft.com/office/drawing/2014/main" id="{995CDD64-02C8-4AA2-82B9-B4078842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01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《實用的 Gemini API 開發點子書》</a:t>
            </a:r>
          </a:p>
        </p:txBody>
      </p:sp>
      <p:sp>
        <p:nvSpPr>
          <p:cNvPr id="19" name="v8-10">
            <a:extLst xmlns:a="http://schemas.openxmlformats.org/drawingml/2006/main">
              <a:ext uri="{FF2B5EF4-FFF2-40B4-BE49-F238E27FC236}">
                <a16:creationId xmlns:a16="http://schemas.microsoft.com/office/drawing/2014/main" id="{B5B77907-C562-4E9B-98EC-C0FE8551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48275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另著 ChatGPT 程式開發、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LINE 聊天機器人書籍</a:t>
            </a:r>
          </a:p>
        </p:txBody>
      </p:sp>
      <p:sp>
        <p:nvSpPr>
          <p:cNvPr id="20" name="v8-11">
            <a:extLst xmlns:a="http://schemas.openxmlformats.org/drawingml/2006/main">
              <a:ext uri="{FF2B5EF4-FFF2-40B4-BE49-F238E27FC236}">
                <a16:creationId xmlns:a16="http://schemas.microsoft.com/office/drawing/2014/main" id="{EA1A48C2-6C8C-4208-BAFD-294FFED3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1cac1e55f0924ece"/>
              </a:rPr>
              <a:t>medium.com/@wolkesau</a:t>
            </a:r>
          </a:p>
        </p:txBody>
      </p:sp>
      <p:sp>
        <p:nvSpPr>
          <p:cNvPr id="21" name="v9-11">
            <a:extLst xmlns:a="http://schemas.openxmlformats.org/drawingml/2006/main">
              <a:ext uri="{FF2B5EF4-FFF2-40B4-BE49-F238E27FC236}">
                <a16:creationId xmlns:a16="http://schemas.microsoft.com/office/drawing/2014/main" id="{D5737FD3-8E12-4B22-AA81-8A92CCC8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曾任 Google Developer Expert（2019–2023）</a:t>
            </a:r>
          </a:p>
        </p:txBody>
      </p:sp>
      <p:sp>
        <p:nvSpPr>
          <p:cNvPr id="22" name="v9-11">
            <a:extLst xmlns:a="http://schemas.openxmlformats.org/drawingml/2006/main">
              <a:ext uri="{FF2B5EF4-FFF2-40B4-BE49-F238E27FC236}">
                <a16:creationId xmlns:a16="http://schemas.microsoft.com/office/drawing/2014/main" id="{729AD472-B98D-4538-9929-5F0789F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曾任 LINE API Expert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12CEB5-8FDD-474B-BDFD-CF492C117E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5f16cbf824825"/>
          <a:stretch xmlns:a="http://schemas.openxmlformats.org/drawingml/2006/main"/>
        </p:blipFill>
        <p:spPr>
          <a:xfrm xmlns:a="http://schemas.openxmlformats.org/drawingml/2006/main">
            <a:off x="9372600" y="3829050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24" name="medium-qr-label">
            <a:extLst xmlns:a="http://schemas.openxmlformats.org/drawingml/2006/main">
              <a:ext uri="{FF2B5EF4-FFF2-40B4-BE49-F238E27FC236}">
                <a16:creationId xmlns:a16="http://schemas.microsoft.com/office/drawing/2014/main" id="{92F87D41-B3B1-4F6D-A0C0-B57D04E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579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72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aab16e04553d4276"/>
              </a:rPr>
              <a:t>掃碼看 Medium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今天的成品與學習目標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12" name="v8-2">
            <a:extLst xmlns:a="http://schemas.openxmlformats.org/drawingml/2006/main">
              <a:ext uri="{FF2B5EF4-FFF2-40B4-BE49-F238E27FC236}">
                <a16:creationId xmlns:a16="http://schemas.microsoft.com/office/drawing/2014/main" id="{CB695D70-CCDB-457F-B951-730F0C75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研討會議程收藏器：UI 自訂，兩個版本保持一致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9B2B9-9536-49E8-A4C6-2FBF60E835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4618e61be43db"/>
          <a:stretch xmlns:a="http://schemas.openxmlformats.org/drawingml/2006/main"/>
        </p:blipFill>
        <p:spPr>
          <a:xfrm xmlns:a="http://schemas.openxmlformats.org/drawingml/2006/main">
            <a:off x="798724" y="1962150"/>
            <a:ext cx="5927302" cy="3905250"/>
          </a:xfrm>
          <a:prstGeom xmlns:a="http://schemas.openxmlformats.org/drawingml/2006/main" prst="rect">
            <a:avLst/>
          </a:prstGeom>
        </p:spPr>
      </p:pic>
      <p:sp>
        <p:nvSpPr>
          <p:cNvPr id="14" name="v8-3">
            <a:extLst xmlns:a="http://schemas.openxmlformats.org/drawingml/2006/main">
              <a:ext uri="{FF2B5EF4-FFF2-40B4-BE49-F238E27FC236}">
                <a16:creationId xmlns:a16="http://schemas.microsoft.com/office/drawing/2014/main" id="{0138A72F-470A-42CD-BDFC-7B2B73D8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16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15" name="v8-4">
            <a:extLst xmlns:a="http://schemas.openxmlformats.org/drawingml/2006/main">
              <a:ext uri="{FF2B5EF4-FFF2-40B4-BE49-F238E27FC236}">
                <a16:creationId xmlns:a16="http://schemas.microsoft.com/office/drawing/2014/main" id="{B92EF46E-8EE7-410A-A4F8-BF8ECE3E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各用一套工具完成搜尋與收藏</a:t>
            </a:r>
          </a:p>
        </p:txBody>
      </p:sp>
      <p:sp>
        <p:nvSpPr>
          <p:cNvPr id="16" name="v8-5">
            <a:extLst xmlns:a="http://schemas.openxmlformats.org/drawingml/2006/main">
              <a:ext uri="{FF2B5EF4-FFF2-40B4-BE49-F238E27FC236}">
                <a16:creationId xmlns:a16="http://schemas.microsoft.com/office/drawing/2014/main" id="{561A15E0-CEF0-4DFC-A5D4-C65BC548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17" name="v8-6">
            <a:extLst xmlns:a="http://schemas.openxmlformats.org/drawingml/2006/main">
              <a:ext uri="{FF2B5EF4-FFF2-40B4-BE49-F238E27FC236}">
                <a16:creationId xmlns:a16="http://schemas.microsoft.com/office/drawing/2014/main" id="{9D20DCDE-67F4-4105-B97C-88AA20E3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加入衝堂提示，再做回歸檢查</a:t>
            </a:r>
          </a:p>
        </p:txBody>
      </p:sp>
      <p:sp>
        <p:nvSpPr>
          <p:cNvPr id="18" name="v8-7">
            <a:extLst xmlns:a="http://schemas.openxmlformats.org/drawingml/2006/main">
              <a:ext uri="{FF2B5EF4-FFF2-40B4-BE49-F238E27FC236}">
                <a16:creationId xmlns:a16="http://schemas.microsoft.com/office/drawing/2014/main" id="{F2B7392F-A0CB-4829-A2C3-5D64719C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19" name="v8-8">
            <a:extLst xmlns:a="http://schemas.openxmlformats.org/drawingml/2006/main">
              <a:ext uri="{FF2B5EF4-FFF2-40B4-BE49-F238E27FC236}">
                <a16:creationId xmlns:a16="http://schemas.microsoft.com/office/drawing/2014/main" id="{9F86297C-57A1-4A0E-BCCC-1EE8CADD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依完成度、時間與用量比較</a:t>
            </a:r>
          </a:p>
        </p:txBody>
      </p:sp>
      <p:sp>
        <p:nvSpPr>
          <p:cNvPr id="20" name="v8-9">
            <a:extLst xmlns:a="http://schemas.openxmlformats.org/drawingml/2006/main">
              <a:ext uri="{FF2B5EF4-FFF2-40B4-BE49-F238E27FC236}">
                <a16:creationId xmlns:a16="http://schemas.microsoft.com/office/drawing/2014/main" id="{92133129-4A5F-4F04-91E0-FBBF574F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 UI；收藏需在重新整理後保留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549C0-82D1-4A45-A772-50E8552ACBC4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 AI 工具的開發流程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上傳議程附件、貼短提示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平台生成、開啟預覽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通用 AI（Codex App）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 starter、貼相同提示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Agent 建置、開啟本機預覽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同一份資料與 UX 驗收標準，兩個版本的 UI 保持一致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B615B-482D-4679-9B5C-72972533DF85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兩天 70 筆、日期清楚、可搜尋講者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日期與主題篩選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條件同時生效，多標籤皆可查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UI 由學員自訂，同一位學員的兩個版本保持一致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先上傳 hwdc-agenda-2026.json；附件位置與網址見下一頁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不用登入。做好後請開啟預覽，讓我試用。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（UI 由學員自由發揮，但請讓兩個版本保持一致。）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先自訂 UI，再給兩套工具相同的設計要求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資料附件與來源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下載同一份 JSON，再上傳至 Lovable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官方議程（公開來源）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49eb46134ff44674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上傳附件：hwdc-agenda-2026.json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教材包位置：HWDC-workshop/materials/hwdc-agenda-2026.json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公開 JSON 附件（免登入）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000" u="sng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f5e1d7f2cf240e4"/>
              </a:rPr>
              <a:t>https://wolke.github.io/hwdc-2026-ai-cli-vs-lovable/</a:t>
            </a:r>
          </a:p>
          <a:p xmlns:a="http://schemas.openxmlformats.org/drawingml/2006/main">
            <a: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000" u="sng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146fa94d510443d"/>
              </a:rPr>
              <a:t>HWDC-workshop/materials/hwdc-agenda-2026.json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兩天共 70 筆｜2026-10-13 快照｜兩套工具使用同一份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送出短提示與 HWDC 議程附件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搜尋、日期與主題條件要一起成立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CCCDE-9C1E-421A-9067-94F391359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2d331e63847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搜尋林建宏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日期選 10/14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選相符主題：1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A3：改成 10/15 或不相符主題時，應為 0 筆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指定資料檔，貼短提示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 UX 任務，讓 Agent 決定畫面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開啟獨立 starter，直接貼上以下內容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資料檔：src/sessions.json（與 HWDC 議程附件相同）。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不用登入。做好後請開啟預覽，讓我試用。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（UI 由學員自由發揮，但請讓兩個版本保持一致。）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資料與 UI 設計要求相同；完成後依 A1–A6 驗收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短提示＋相同 HWDC 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CF897-EA7D-440D-9993-EC61B91DE3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73738d1cc4b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4996、5030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0256A-54EA-4890-B04D-B84D7A8F44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73b6854bf46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A29F4-42D9-4836-99C5-BCF5B655838F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時間關係（10/14）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5030 + 5009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15:30–17:30／15:15–15:45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+ 5018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13:00–15:00／13:30–14:00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+ 4993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13:00–15:00／13:00–15:00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4957 + 4958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10:00–10:10／10:10–10:55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日期也要一起比較：4996（10/14）與 4992（10/15）不衝堂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 prompt：衝堂提醒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在自己的初版專案繼續，兩套工具使用相同提示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請在「我的議程」加上衝堂提醒，指出時間重疊的收藏，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讓我自己決定要不要取消。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要看全部收藏，不受搜尋或篩選影響；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一場結束剛好接下一場不算衝堂，不同日期也不要混在一起。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請保留原本的收藏和功能，取消收藏後立即更新提醒。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完成後讓我試用。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送出前保留收藏；修改後檢查 B1–B6 與原有功能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79E87-2FA1-461A-A897-6AFE645B86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0b0757eae4a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4957 與 4958 於 10:10 相接，不誤報衝堂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上一輪彩排觀察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舊條件：長提示、12 筆合成資料、指定配色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5250E-F176-4DC1-B118-9A60CDD6EF13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AI 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初版含驗收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修改含回歸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 分 22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核心 3 分 33 秒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手機於截止後補測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55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3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看過解答且交錯操作，非工具排名；新版短提示尚未重測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 prompt：首尾相接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以下是刻意植入錯誤的教學案例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23429"/>
                </a:solidFill>
                <a:latin typeface="Heiti TC"/>
                <a:ea typeface="Heiti TC"/>
                <a:cs typeface="Heiti TC"/>
              </a:rPr>
              <a:t>錯誤：a.start &lt;= b.end &amp;&amp; b.start &lt;= a.end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修正：a.start &lt; b.end &amp;&amp; b.start &lt;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可直接貼上的除錯提示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我操作「＿＿」時，出現「＿＿」，但我預期是「＿＿」。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請重現並修好，保留現有收藏與其他功能。修好後告訴我怎麼確認。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（有錯誤訊息或畫面時，再附上。）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本例：收藏 4957、4958 卻提醒衝堂；預期首尾相接不提醒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彩排用量與費用換算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7D263-CC30-4447-97FB-F3F77B689820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343400"/>
                <a:gridCol w="485775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階段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實耗／月費分攤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總 tokens／Standard 估算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初版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US$0.98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343,319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US$0.78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3.10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US$1.52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410,956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US$0.61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合計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st-scope">
            <a:extLst xmlns:a="http://schemas.openxmlformats.org/drawingml/2006/main">
              <a:ext uri="{FF2B5EF4-FFF2-40B4-BE49-F238E27FC236}">
                <a16:creationId xmlns:a16="http://schemas.microsoft.com/office/drawing/2014/main" id="{E58ADBC1-13E8-4DBA-AEC0-BE84E553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607185"/>
                </a:solidFill>
                <a:latin typeface="Heiti TC"/>
                <a:ea typeface="Heiti TC"/>
                <a:cs typeface="Heiti TC"/>
              </a:rPr>
              <a:t>2026/10/13 舊條件彩排，12 筆資料、長提示</a:t>
            </a:r>
          </a:p>
        </p:txBody>
      </p:sp>
      <p:sp>
        <p:nvSpPr>
          <p:cNvPr id="13" name="cost-limitations">
            <a:extLst xmlns:a="http://schemas.openxmlformats.org/drawingml/2006/main">
              <a:ext uri="{FF2B5EF4-FFF2-40B4-BE49-F238E27FC236}">
                <a16:creationId xmlns:a16="http://schemas.microsoft.com/office/drawing/2014/main" id="{7650DD54-1F58-41A8-AE66-AA48250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美元為牌價換算，實際專案扣款未取得。</a:t>
            </a:r>
          </a:p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速度模式未取得，無法據此判定誰較便宜。</a:t>
            </a:r>
          </a:p>
        </p:txBody>
      </p:sp>
      <p:sp>
        <p:nvSpPr>
          <p:cNvPr id="14" name="cost-source-0">
            <a:extLst xmlns:a="http://schemas.openxmlformats.org/drawingml/2006/main">
              <a:ext uri="{FF2B5EF4-FFF2-40B4-BE49-F238E27FC236}">
                <a16:creationId xmlns:a16="http://schemas.microsoft.com/office/drawing/2014/main" id="{17676577-FD83-4F54-8CDC-9A271DD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c9e3e1cf5884448"/>
              </a:rPr>
              <a:t>Lovable 訂閱牌價：https://docs.lovable.dev/introduction/subscription-plans</a:t>
            </a:r>
          </a:p>
        </p:txBody>
      </p:sp>
      <p:sp>
        <p:nvSpPr>
          <p:cNvPr id="15" name="cost-source-1">
            <a:extLst xmlns:a="http://schemas.openxmlformats.org/drawingml/2006/main">
              <a:ext uri="{FF2B5EF4-FFF2-40B4-BE49-F238E27FC236}">
                <a16:creationId xmlns:a16="http://schemas.microsoft.com/office/drawing/2014/main" id="{A54B9222-DB82-4BCF-B990-E9B0A70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fc5946ba88f4bad"/>
              </a:rPr>
              <a:t>Codex 額度牌價：https://learn.chatgpt.com/docs/pricing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同一個 UX，一致的 UI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檢查兩個工具版本的設計一致，再試用核心任務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28394-B03F-4904-BD44-1D99BF563B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085282a0b46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找到想聽的議程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收藏後能找回來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衝堂看得懂、能處理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自訂 UI，兩個版本一致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參考畫面非標準答案；390px 仍須可操作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4E0C9-AAB5-4244-A318-5741E7FAC817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 UX 邏輯，不要求畫面長一樣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3D5E6986-7EE9-4552-9D4D-CA0C155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有時間可選講：39–43 頁　／　系列訂閱 QR Code：44 頁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54382-BFCC-48CB-9626-785AF75C2438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7143750" cy="3943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381250"/>
                <a:gridCol w="2762250"/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餘額、未完成項目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掃右側 QR 申請</a:t>
                      </a:r>
                    </a:p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填完向講師示意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當下畫面、時間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指令、錯誤原文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v7-2">
            <a:extLst xmlns:a="http://schemas.openxmlformats.org/drawingml/2006/main">
              <a:ext uri="{FF2B5EF4-FFF2-40B4-BE49-F238E27FC236}">
                <a16:creationId xmlns:a16="http://schemas.microsoft.com/office/drawing/2014/main" id="{5997124A-58AB-464E-8A41-432FF434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31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群組加入申請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EB9CA-E99A-4502-BDEC-3710FE31E3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593ebd0334eb6"/>
          <a:stretch xmlns:a="http://schemas.openxmlformats.org/drawingml/2006/main"/>
        </p:blipFill>
        <p:spPr>
          <a:xfrm xmlns:a="http://schemas.openxmlformats.org/drawingml/2006/main">
            <a:off x="8229600" y="220980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v7-3">
            <a:extLst xmlns:a="http://schemas.openxmlformats.org/drawingml/2006/main">
              <a:ext uri="{FF2B5EF4-FFF2-40B4-BE49-F238E27FC236}">
                <a16:creationId xmlns:a16="http://schemas.microsoft.com/office/drawing/2014/main" id="{4AF03EFB-1226-45E8-926A-BF8D04FD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0545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1743103a76b40d5"/>
              </a:rPr>
              <a:t>https://forms.gle/</a:t>
            </a:r>
          </a:p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be4e19b112f412e"/>
              </a:rPr>
              <a:t>pt3nLWy622sYTfsG6</a:t>
            </a:r>
          </a:p>
        </p:txBody>
      </p:sp>
      <p:sp>
        <p:nvSpPr>
          <p:cNvPr id="9" name="v7-4">
            <a:extLst xmlns:a="http://schemas.openxmlformats.org/drawingml/2006/main">
              <a:ext uri="{FF2B5EF4-FFF2-40B4-BE49-F238E27FC236}">
                <a16:creationId xmlns:a16="http://schemas.microsoft.com/office/drawing/2014/main" id="{C2D4C248-08C3-4103-933C-79900F04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延伸 prompt：匯出行事曆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選做練習，不占正式課程的 15／5 分鐘比較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請讓我把全部收藏下載成 .ics 行事曆檔，不受搜尋或篩選影響，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匯入後要有正確的議程名稱、日期時間與會議室。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請保留原有收藏與功能，沒有收藏時提示我先收藏。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完成後給我檔案，並說明怎麼驗證匯入結果。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檢查：兩場都匯入、日期時間與中文正確、原功能仍可用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91d409134f741ab"/>
              </a:rPr>
              <a:t>格式參考：https://www.rfc-editor.org/rfc/rfc5545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59C64-8B33-44A5-9AB0-2CDFB59EB37D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資料與官方參考網址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查核日期：2026-10-13；JSON 附件完整網址見第 12 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議程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5ce1b2d7ac44b4c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技術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1c76309a07064b2a"/>
              </a:rPr>
              <a:t>https://docs.lovable.dev/introduction/faq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b1bae2f74ba41ba"/>
              </a:rPr>
              <a:t>https://docs.lovable.dev/introduction/credits-and-usage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</a:t>
            </a:r>
          </a:p>
        </p:txBody>
      </p:sp>
      <p:sp>
        <p:nvSpPr>
          <p:cNvPr id="12" name="v4-38-8">
            <a:extLst xmlns:a="http://schemas.openxmlformats.org/drawingml/2006/main">
              <a:ext uri="{FF2B5EF4-FFF2-40B4-BE49-F238E27FC236}">
                <a16:creationId xmlns:a16="http://schemas.microsoft.com/office/drawing/2014/main" id="{EC86F266-742B-4101-B852-7FEC9F5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ec491c567c54026"/>
              </a:rPr>
              <a:t>https://learn.chatgpt.com/docs/quickstart</a:t>
            </a:r>
          </a:p>
        </p:txBody>
      </p:sp>
      <p:sp>
        <p:nvSpPr>
          <p:cNvPr id="13" name="v4-38-9">
            <a:extLst xmlns:a="http://schemas.openxmlformats.org/drawingml/2006/main">
              <a:ext uri="{FF2B5EF4-FFF2-40B4-BE49-F238E27FC236}">
                <a16:creationId xmlns:a16="http://schemas.microsoft.com/office/drawing/2014/main" id="{A4F7825E-40B9-479F-8266-C734AB5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登入／計費</a:t>
            </a:r>
          </a:p>
        </p:txBody>
      </p:sp>
      <p:sp>
        <p:nvSpPr>
          <p:cNvPr id="14" name="v4-38-10">
            <a:extLst xmlns:a="http://schemas.openxmlformats.org/drawingml/2006/main">
              <a:ext uri="{FF2B5EF4-FFF2-40B4-BE49-F238E27FC236}">
                <a16:creationId xmlns:a16="http://schemas.microsoft.com/office/drawing/2014/main" id="{7208D0E7-AF9A-4A6F-B490-C00171C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79410e0f3874f6e"/>
              </a:rPr>
              <a:t>https://learn.chatgpt.com/docs/auth</a:t>
            </a:r>
          </a:p>
        </p:txBody>
      </p:sp>
      <p:sp>
        <p:nvSpPr>
          <p:cNvPr id="15" name="v4-38-11">
            <a:extLst xmlns:a="http://schemas.openxmlformats.org/drawingml/2006/main">
              <a:ext uri="{FF2B5EF4-FFF2-40B4-BE49-F238E27FC236}">
                <a16:creationId xmlns:a16="http://schemas.microsoft.com/office/drawing/2014/main" id="{5B76C102-FC49-4639-BF42-A49ED62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行事曆格式</a:t>
            </a:r>
          </a:p>
        </p:txBody>
      </p:sp>
      <p:sp>
        <p:nvSpPr>
          <p:cNvPr id="16" name="v4-38-12">
            <a:extLst xmlns:a="http://schemas.openxmlformats.org/drawingml/2006/main">
              <a:ext uri="{FF2B5EF4-FFF2-40B4-BE49-F238E27FC236}">
                <a16:creationId xmlns:a16="http://schemas.microsoft.com/office/drawing/2014/main" id="{0B9DD709-96CE-45FC-BBF2-ADBDAB3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625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3cdba34865643a8"/>
              </a:rPr>
              <a:t>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9-0">
            <a:extLst xmlns:a="http://schemas.openxmlformats.org/drawingml/2006/main">
              <a:ext uri="{FF2B5EF4-FFF2-40B4-BE49-F238E27FC236}">
                <a16:creationId xmlns:a16="http://schemas.microsoft.com/office/drawing/2014/main" id="{82344A83-8B82-4BBA-A5B5-1B7A355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費用估算與比較範圍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47D0C444-91E0-47F0-AA33-0F6F26BF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選講補充：這組換算假設下，Codex 的美元估值較低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0E76EFBC-6F47-4997-85F6-233503A7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DB01D-49AC-4201-A0C2-1D58DD6B47A1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943350"/>
                <a:gridCol w="436245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記錄到的用量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美元換算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正常訂閱分攤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Standard 額度面額估算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3C83CBB3-2B90-4651-BEA0-B90012B2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Codex 速度模式未知，Fast／Ultrafast 試算約 US$2.77／8.32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E367E5EA-088A-4FBB-9168-7B1388FE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同時看完成度、返工與人的投入；換場景後需重新比較。</a:t>
            </a:r>
          </a:p>
        </p:txBody>
      </p:sp>
      <p:sp>
        <p:nvSpPr>
          <p:cNvPr id="7" name="v9-5">
            <a:extLst xmlns:a="http://schemas.openxmlformats.org/drawingml/2006/main">
              <a:ext uri="{FF2B5EF4-FFF2-40B4-BE49-F238E27FC236}">
                <a16:creationId xmlns:a16="http://schemas.microsoft.com/office/drawing/2014/main" id="{0AB39FD7-C5A8-44CB-89A2-C3DA8178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舊版 12 筆資料彩排。美元為換算值，專案實扣未取得；詳見第 27 頁。</a:t>
            </a:r>
          </a:p>
        </p:txBody>
      </p:sp>
    </p:spTree>
    <p:extLst>
      <p:ext uri="{BB962C8B-B14F-4D97-AF65-F5344CB8AC3E}">
        <p14:creationId xmlns:p14="http://schemas.microsoft.com/office/powerpoint/2010/main" val="379783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9-0">
            <a:extLst xmlns:a="http://schemas.openxmlformats.org/drawingml/2006/main">
              <a:ext uri="{FF2B5EF4-FFF2-40B4-BE49-F238E27FC236}">
                <a16:creationId xmlns:a16="http://schemas.microsoft.com/office/drawing/2014/main" id="{CCD598C5-4C39-4E09-A4D3-1E57760E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原投稿題目：Roblox Studio AI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4CB78165-0349-480B-BB0C-7D331F00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網站開發是通用 coding agent 的常見任務，換場景仍要重測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5DA7D94A-55D8-4894-AF10-57E1BE9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40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EA56A53C-9D13-4DAA-9ED8-05DCE24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原先規劃</a:t>
            </a:r>
          </a:p>
        </p:txBody>
      </p:sp>
      <p:sp>
        <p:nvSpPr>
          <p:cNvPr id="5" name="v9-4">
            <a:extLst xmlns:a="http://schemas.openxmlformats.org/drawingml/2006/main">
              <a:ext uri="{FF2B5EF4-FFF2-40B4-BE49-F238E27FC236}">
                <a16:creationId xmlns:a16="http://schemas.microsoft.com/office/drawing/2014/main" id="{573B58D5-5107-4170-B904-1DD91C2F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977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Roblox Studio AI 與通用 AI 的開發比較</a:t>
            </a:r>
          </a:p>
        </p:txBody>
      </p:sp>
      <p:sp>
        <p:nvSpPr>
          <p:cNvPr id="6" name="v9-5">
            <a:extLst xmlns:a="http://schemas.openxmlformats.org/drawingml/2006/main">
              <a:ext uri="{FF2B5EF4-FFF2-40B4-BE49-F238E27FC236}">
                <a16:creationId xmlns:a16="http://schemas.microsoft.com/office/drawing/2014/main" id="{EB63A9B9-7FC0-4B55-8276-ABAF5D00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當時採用的流程</a:t>
            </a:r>
          </a:p>
        </p:txBody>
      </p:sp>
      <p:sp>
        <p:nvSpPr>
          <p:cNvPr id="7" name="v9-6">
            <a:extLst xmlns:a="http://schemas.openxmlformats.org/drawingml/2006/main">
              <a:ext uri="{FF2B5EF4-FFF2-40B4-BE49-F238E27FC236}">
                <a16:creationId xmlns:a16="http://schemas.microsoft.com/office/drawing/2014/main" id="{0E25901F-5880-4BAD-8440-55C57EB7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需自備 API key 與用量預算</a:t>
            </a:r>
          </a:p>
        </p:txBody>
      </p:sp>
      <p:sp>
        <p:nvSpPr>
          <p:cNvPr id="8" name="v9-7">
            <a:extLst xmlns:a="http://schemas.openxmlformats.org/drawingml/2006/main">
              <a:ext uri="{FF2B5EF4-FFF2-40B4-BE49-F238E27FC236}">
                <a16:creationId xmlns:a16="http://schemas.microsoft.com/office/drawing/2014/main" id="{6C5CBDC7-B6E5-4E5B-AFE9-863EE519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改題的經過</a:t>
            </a:r>
          </a:p>
        </p:txBody>
      </p:sp>
      <p:sp>
        <p:nvSpPr>
          <p:cNvPr id="9" name="v9-8">
            <a:extLst xmlns:a="http://schemas.openxmlformats.org/drawingml/2006/main">
              <a:ext uri="{FF2B5EF4-FFF2-40B4-BE49-F238E27FC236}">
                <a16:creationId xmlns:a16="http://schemas.microsoft.com/office/drawing/2014/main" id="{F21A6FFE-BADF-4FC5-AAAC-79AFAEF9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0052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主辦單位洽詢後未取得贊助，最後改用 Lovable</a:t>
            </a:r>
          </a:p>
        </p:txBody>
      </p:sp>
      <p:sp>
        <p:nvSpPr>
          <p:cNvPr id="10" name="v9-9">
            <a:extLst xmlns:a="http://schemas.openxmlformats.org/drawingml/2006/main">
              <a:ext uri="{FF2B5EF4-FFF2-40B4-BE49-F238E27FC236}">
                <a16:creationId xmlns:a16="http://schemas.microsoft.com/office/drawing/2014/main" id="{8EA7B70A-F068-49B3-B0C7-21D18CBF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可測任務：Luau 腳本、場景與資產操作、Playtest</a:t>
            </a:r>
          </a:p>
        </p:txBody>
      </p:sp>
      <p:sp>
        <p:nvSpPr>
          <p:cNvPr id="11" name="v9-10">
            <a:extLst xmlns:a="http://schemas.openxmlformats.org/drawingml/2006/main">
              <a:ext uri="{FF2B5EF4-FFF2-40B4-BE49-F238E27FC236}">
                <a16:creationId xmlns:a16="http://schemas.microsoft.com/office/drawing/2014/main" id="{B5E13779-EBFB-4AF2-A255-EC2973BB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講師投稿經驗；本堂未測 Roblox。沿用相同需求、驗收與費用紀錄。</a:t>
            </a:r>
          </a:p>
        </p:txBody>
      </p:sp>
    </p:spTree>
    <p:extLst>
      <p:ext uri="{BB962C8B-B14F-4D97-AF65-F5344CB8AC3E}">
        <p14:creationId xmlns:p14="http://schemas.microsoft.com/office/powerpoint/2010/main" val="20927184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9-0">
            <a:extLst xmlns:a="http://schemas.openxmlformats.org/drawingml/2006/main">
              <a:ext uri="{FF2B5EF4-FFF2-40B4-BE49-F238E27FC236}">
                <a16:creationId xmlns:a16="http://schemas.microsoft.com/office/drawing/2014/main" id="{8ADD2218-479F-47F0-BFE3-BD65E44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的發布與網域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2A3D4158-C57F-48BF-BF2F-30B07D9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平台提供網站託管，可以直接把作品分享出去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1C502C62-C6AF-4EB9-B27E-8A761757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41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41464CF8-6E37-459B-93BD-A18C6E8C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3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43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project-name.lovable.app</a:t>
            </a:r>
          </a:p>
        </p:txBody>
      </p:sp>
      <p:sp>
        <p:nvSpPr>
          <p:cNvPr id="5" name="v9-4">
            <a:extLst xmlns:a="http://schemas.openxmlformats.org/drawingml/2006/main">
              <a:ext uri="{FF2B5EF4-FFF2-40B4-BE49-F238E27FC236}">
                <a16:creationId xmlns:a16="http://schemas.microsoft.com/office/drawing/2014/main" id="{B0279EB6-DA4D-4619-870F-7497E3B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預設網址格式示意</a:t>
            </a:r>
          </a:p>
        </p:txBody>
      </p:sp>
      <p:sp>
        <p:nvSpPr>
          <p:cNvPr id="6" name="v9-5">
            <a:extLst xmlns:a="http://schemas.openxmlformats.org/drawingml/2006/main">
              <a:ext uri="{FF2B5EF4-FFF2-40B4-BE49-F238E27FC236}">
                <a16:creationId xmlns:a16="http://schemas.microsoft.com/office/drawing/2014/main" id="{E249833A-A28B-4220-8D1C-F606AE12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Publish 對外發布</a:t>
            </a:r>
          </a:p>
        </p:txBody>
      </p:sp>
      <p:sp>
        <p:nvSpPr>
          <p:cNvPr id="7" name="v9-6">
            <a:extLst xmlns:a="http://schemas.openxmlformats.org/drawingml/2006/main">
              <a:ext uri="{FF2B5EF4-FFF2-40B4-BE49-F238E27FC236}">
                <a16:creationId xmlns:a16="http://schemas.microsoft.com/office/drawing/2014/main" id="{56A59749-3620-4E80-A4A6-277224D8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取得可分享的 lovable.app 網址</a:t>
            </a:r>
          </a:p>
        </p:txBody>
      </p:sp>
      <p:sp>
        <p:nvSpPr>
          <p:cNvPr id="8" name="v9-7">
            <a:extLst xmlns:a="http://schemas.openxmlformats.org/drawingml/2006/main">
              <a:ext uri="{FF2B5EF4-FFF2-40B4-BE49-F238E27FC236}">
                <a16:creationId xmlns:a16="http://schemas.microsoft.com/office/drawing/2014/main" id="{69F97ADC-CAB0-457E-A676-81789C0D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修改後再次發布</a:t>
            </a:r>
          </a:p>
        </p:txBody>
      </p:sp>
      <p:sp>
        <p:nvSpPr>
          <p:cNvPr id="9" name="v9-8">
            <a:extLst xmlns:a="http://schemas.openxmlformats.org/drawingml/2006/main">
              <a:ext uri="{FF2B5EF4-FFF2-40B4-BE49-F238E27FC236}">
                <a16:creationId xmlns:a16="http://schemas.microsoft.com/office/drawing/2014/main" id="{1C293384-4FF3-4B49-8552-90BAC21E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38625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點 Publish changes，讓正式站更新</a:t>
            </a:r>
          </a:p>
        </p:txBody>
      </p:sp>
      <p:sp>
        <p:nvSpPr>
          <p:cNvPr id="10" name="v9-9">
            <a:extLst xmlns:a="http://schemas.openxmlformats.org/drawingml/2006/main">
              <a:ext uri="{FF2B5EF4-FFF2-40B4-BE49-F238E27FC236}">
                <a16:creationId xmlns:a16="http://schemas.microsoft.com/office/drawing/2014/main" id="{A514DADE-7F44-4AFF-881C-047E9E57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自有網域</a:t>
            </a:r>
          </a:p>
        </p:txBody>
      </p:sp>
      <p:sp>
        <p:nvSpPr>
          <p:cNvPr id="11" name="v9-10">
            <a:extLst xmlns:a="http://schemas.openxmlformats.org/drawingml/2006/main">
              <a:ext uri="{FF2B5EF4-FFF2-40B4-BE49-F238E27FC236}">
                <a16:creationId xmlns:a16="http://schemas.microsoft.com/office/drawing/2014/main" id="{1E27EAF8-3218-4A29-B20B-10E7F85C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6730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付費方案可連接自己購買的網域</a:t>
            </a:r>
          </a:p>
        </p:txBody>
      </p:sp>
      <p:sp>
        <p:nvSpPr>
          <p:cNvPr id="12" name="v9-11">
            <a:extLst xmlns:a="http://schemas.openxmlformats.org/drawingml/2006/main">
              <a:ext uri="{FF2B5EF4-FFF2-40B4-BE49-F238E27FC236}">
                <a16:creationId xmlns:a16="http://schemas.microsoft.com/office/drawing/2014/main" id="{7EC1524E-3D56-4CF4-B5A4-6107885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b105775f16a4f5d"/>
              </a:rPr>
              <a:t>系列第 17 篇：ithelp.ithome.com.tw/articles/10406635</a:t>
            </a:r>
          </a:p>
        </p:txBody>
      </p:sp>
    </p:spTree>
    <p:extLst>
      <p:ext uri="{BB962C8B-B14F-4D97-AF65-F5344CB8AC3E}">
        <p14:creationId xmlns:p14="http://schemas.microsoft.com/office/powerpoint/2010/main" val="212687027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9-0">
            <a:extLst xmlns:a="http://schemas.openxmlformats.org/drawingml/2006/main">
              <a:ext uri="{FF2B5EF4-FFF2-40B4-BE49-F238E27FC236}">
                <a16:creationId xmlns:a16="http://schemas.microsoft.com/office/drawing/2014/main" id="{DEF18B4A-C198-4879-A65B-73216E1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整合好的開發工具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D363F48E-0277-456D-A377-26B4F6FF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比較平台價值時，也記錄省下多少設定與整合工時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F92E2FE2-0AFE-4A17-9828-803A01FB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B76D2-E0C9-48BC-9D40-E06AA5080E57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工具／階段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在同一套流程裡完成的工作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Plan／Build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先討論規劃，再讓 Agent 實作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Cloud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資料庫、登入、檔案儲存與後端函式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測試與安全檢查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工具協助檢查，發布前仍需親自驗收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GitHub 與發布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同步程式碼、查看預覽與發布正式站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5C14108C-7A73-4F5C-A514-7390CF8E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平台的整合工作，也會影響落地時間與總成本。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EFEBDC96-7032-44EF-98AD-6EAAB77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481b91b72ef74e5d"/>
              </a:rPr>
              <a:t>系列第 1 篇：ithelp.ithome.com.tw/articles/10406618</a:t>
            </a:r>
          </a:p>
        </p:txBody>
      </p:sp>
    </p:spTree>
    <p:extLst>
      <p:ext uri="{BB962C8B-B14F-4D97-AF65-F5344CB8AC3E}">
        <p14:creationId xmlns:p14="http://schemas.microsoft.com/office/powerpoint/2010/main" val="35887697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9-0">
            <a:extLst xmlns:a="http://schemas.openxmlformats.org/drawingml/2006/main">
              <a:ext uri="{FF2B5EF4-FFF2-40B4-BE49-F238E27FC236}">
                <a16:creationId xmlns:a16="http://schemas.microsoft.com/office/drawing/2014/main" id="{7F97BCBC-8242-45B0-A81B-58CACD2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第三方服務與 connectors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BD865A6F-9616-463E-B031-4E0B3A58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Notion、Google Workspace、Slack、Resend 等服務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B837A787-B78F-4308-ADAF-DD34ECC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78F6A-5368-4BCC-AF2A-823F41FEE709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類型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帳號與使用時機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App + chat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共用連線，供成品 App 與建置對話使用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Chat（MCP）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個人建置上下文，不隨成品部署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App user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每位 App 使用者登入自己的帳號並授權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5FC223A3-C399-48C2-BB37-DCAD345F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仍需授權帳號、設定權限，並核對第三方費用。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FDD5A8D3-683B-45F2-B51C-B9DE912A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d95aa8e585e245ef"/>
              </a:rPr>
              <a:t>各服務支援類型不同。系列第 11 篇：ithelp.ithome.com.tw/articles/10406629</a:t>
            </a:r>
          </a:p>
        </p:txBody>
      </p:sp>
    </p:spTree>
    <p:extLst>
      <p:ext uri="{BB962C8B-B14F-4D97-AF65-F5344CB8AC3E}">
        <p14:creationId xmlns:p14="http://schemas.microsoft.com/office/powerpoint/2010/main" val="11134818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9-0">
            <a:extLst xmlns:a="http://schemas.openxmlformats.org/drawingml/2006/main">
              <a:ext uri="{FF2B5EF4-FFF2-40B4-BE49-F238E27FC236}">
                <a16:creationId xmlns:a16="http://schemas.microsoft.com/office/drawing/2014/main" id="{2A910A03-3EF7-4396-A101-A573DC4B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課後延伸：兩個實作系列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CB575432-BA2D-4977-9CE4-82C969F7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掃碼開啟系列，登入 iT 邦幫忙後點「訂閱系列文」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8D37694C-81BB-4456-B84E-93220221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44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DF585983-609A-4E27-B913-39381ABA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99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Roblox Studio AI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協作開發大全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3D743-9300-4F7C-A92E-976638D09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057432a8f41ea"/>
          <a:stretch xmlns:a="http://schemas.openxmlformats.org/drawingml/2006/main"/>
        </p:blipFill>
        <p:spPr>
          <a:xfrm xmlns:a="http://schemas.openxmlformats.org/drawingml/2006/main">
            <a:off x="1581150" y="2714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10C4AD6D-8D87-406F-8CE7-4A50BCAA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031add92db94f69"/>
              </a:rPr>
              <a:t>https://ithelp.ithome.com.tw/users/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9d49d801b611479d"/>
              </a:rPr>
              <a:t>20046160/ironman/9450</a:t>
            </a:r>
          </a:p>
        </p:txBody>
      </p:sp>
      <p:sp>
        <p:nvSpPr>
          <p:cNvPr id="7" name="v9-5">
            <a:extLst xmlns:a="http://schemas.openxmlformats.org/drawingml/2006/main">
              <a:ext uri="{FF2B5EF4-FFF2-40B4-BE49-F238E27FC236}">
                <a16:creationId xmlns:a16="http://schemas.microsoft.com/office/drawing/2014/main" id="{D060D7FF-8E50-48C7-85AC-153F35B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499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 全端網站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Agentic 開發實戰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CFE1D-1FCD-4D4A-9630-76CDF1D6B7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59ba157ac4fe8"/>
          <a:stretch xmlns:a="http://schemas.openxmlformats.org/drawingml/2006/main"/>
        </p:blipFill>
        <p:spPr>
          <a:xfrm xmlns:a="http://schemas.openxmlformats.org/drawingml/2006/main">
            <a:off x="7562850" y="2714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v9-6">
            <a:extLst xmlns:a="http://schemas.openxmlformats.org/drawingml/2006/main">
              <a:ext uri="{FF2B5EF4-FFF2-40B4-BE49-F238E27FC236}">
                <a16:creationId xmlns:a16="http://schemas.microsoft.com/office/drawing/2014/main" id="{B4815C72-E593-4C3C-89CC-8D2632E0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53125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323a66da0295418c"/>
              </a:rPr>
              <a:t>https://ithelp.ithome.com.tw/users/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5109b69ebb84fa5"/>
              </a:rPr>
              <a:t>20046160/ironman/9449</a:t>
            </a:r>
          </a:p>
        </p:txBody>
      </p:sp>
    </p:spTree>
    <p:extLst>
      <p:ext uri="{BB962C8B-B14F-4D97-AF65-F5344CB8AC3E}">
        <p14:creationId xmlns:p14="http://schemas.microsoft.com/office/powerpoint/2010/main" val="1965797699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2026-10-14T01:28:20.6280000Z</dcterms:created>
  <dcterms:modified xsi:type="dcterms:W3CDTF">2026-10-14T01:28:20.6280000Z</dcterms:modified>
</coreProperties>
</file>