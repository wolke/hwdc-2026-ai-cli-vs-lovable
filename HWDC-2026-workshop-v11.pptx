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37cb1db7a742b2" /><Relationship Type="http://schemas.openxmlformats.org/officeDocument/2006/relationships/extended-properties" Target="/docProps/app.xml" Id="R2e965b58ed4a4732" /><Relationship Type="http://schemas.openxmlformats.org/officeDocument/2006/relationships/officeDocument" Target="/ppt/presentation.xml" Id="Rc324ee037a7e4d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5fb1b578784766"/>
  </p:sldMasterIdLst>
  <p:notesMasterIdLst>
    <p:notesMasterId xmlns:r="http://schemas.openxmlformats.org/officeDocument/2006/relationships" r:id="R9f54c46bdbc04fdc"/>
  </p:notesMasterIdLst>
  <p:sldIdLst>
    <p:sldId xmlns:r="http://schemas.openxmlformats.org/officeDocument/2006/relationships" id="256" r:id="R7344ca344eed4141"/>
    <p:sldId xmlns:r="http://schemas.openxmlformats.org/officeDocument/2006/relationships" id="257" r:id="Rcc6dcb79a1504e6d"/>
    <p:sldId xmlns:r="http://schemas.openxmlformats.org/officeDocument/2006/relationships" id="258" r:id="Rd9a39b1873b14265"/>
    <p:sldId xmlns:r="http://schemas.openxmlformats.org/officeDocument/2006/relationships" id="259" r:id="R6d8b059e1302442f"/>
    <p:sldId xmlns:r="http://schemas.openxmlformats.org/officeDocument/2006/relationships" id="260" r:id="Rdfabf7b3f0db4247"/>
    <p:sldId xmlns:r="http://schemas.openxmlformats.org/officeDocument/2006/relationships" id="261" r:id="R08a66fce9c5843b7"/>
    <p:sldId xmlns:r="http://schemas.openxmlformats.org/officeDocument/2006/relationships" id="262" r:id="R13c940c0119449c6"/>
    <p:sldId xmlns:r="http://schemas.openxmlformats.org/officeDocument/2006/relationships" id="263" r:id="R921db9cfd4d644bb"/>
    <p:sldId xmlns:r="http://schemas.openxmlformats.org/officeDocument/2006/relationships" id="264" r:id="Rb97410e9df0a4939"/>
    <p:sldId xmlns:r="http://schemas.openxmlformats.org/officeDocument/2006/relationships" id="265" r:id="R9a76784b369045ed"/>
    <p:sldId xmlns:r="http://schemas.openxmlformats.org/officeDocument/2006/relationships" id="266" r:id="R9244a81a636c4422"/>
    <p:sldId xmlns:r="http://schemas.openxmlformats.org/officeDocument/2006/relationships" id="267" r:id="Rd475b39c56124ed0"/>
    <p:sldId xmlns:r="http://schemas.openxmlformats.org/officeDocument/2006/relationships" id="268" r:id="R4dd35208b657415b"/>
    <p:sldId xmlns:r="http://schemas.openxmlformats.org/officeDocument/2006/relationships" id="269" r:id="R12abf0c03c324fb5"/>
    <p:sldId xmlns:r="http://schemas.openxmlformats.org/officeDocument/2006/relationships" id="270" r:id="R634c72d0be43430d"/>
    <p:sldId xmlns:r="http://schemas.openxmlformats.org/officeDocument/2006/relationships" id="271" r:id="R36469fcdf71548a5"/>
    <p:sldId xmlns:r="http://schemas.openxmlformats.org/officeDocument/2006/relationships" id="272" r:id="R637ec58cc7af4b1e"/>
    <p:sldId xmlns:r="http://schemas.openxmlformats.org/officeDocument/2006/relationships" id="273" r:id="R5714cb60600541a2"/>
    <p:sldId xmlns:r="http://schemas.openxmlformats.org/officeDocument/2006/relationships" id="274" r:id="R80e4c14386294c36"/>
    <p:sldId xmlns:r="http://schemas.openxmlformats.org/officeDocument/2006/relationships" id="275" r:id="Rac2cbaad25204f6a"/>
    <p:sldId xmlns:r="http://schemas.openxmlformats.org/officeDocument/2006/relationships" id="276" r:id="R570bf1a7f5f44bfd"/>
    <p:sldId xmlns:r="http://schemas.openxmlformats.org/officeDocument/2006/relationships" id="277" r:id="R0fe951febde94353"/>
    <p:sldId xmlns:r="http://schemas.openxmlformats.org/officeDocument/2006/relationships" id="278" r:id="R6db74dd939b449cc"/>
    <p:sldId xmlns:r="http://schemas.openxmlformats.org/officeDocument/2006/relationships" id="279" r:id="R193d8b332b11436a"/>
    <p:sldId xmlns:r="http://schemas.openxmlformats.org/officeDocument/2006/relationships" id="280" r:id="R40292ea779e647c3"/>
    <p:sldId xmlns:r="http://schemas.openxmlformats.org/officeDocument/2006/relationships" id="281" r:id="R8b91415a7ad544eb"/>
    <p:sldId xmlns:r="http://schemas.openxmlformats.org/officeDocument/2006/relationships" id="282" r:id="R2cef67fd54014ee3"/>
    <p:sldId xmlns:r="http://schemas.openxmlformats.org/officeDocument/2006/relationships" id="283" r:id="Rae30084813284027"/>
    <p:sldId xmlns:r="http://schemas.openxmlformats.org/officeDocument/2006/relationships" id="284" r:id="R2c9345a93a474573"/>
    <p:sldId xmlns:r="http://schemas.openxmlformats.org/officeDocument/2006/relationships" id="285" r:id="R367b65e662d84aa8"/>
    <p:sldId xmlns:r="http://schemas.openxmlformats.org/officeDocument/2006/relationships" id="286" r:id="R30f07fb98a344436"/>
    <p:sldId xmlns:r="http://schemas.openxmlformats.org/officeDocument/2006/relationships" id="287" r:id="Re9e9c82f441545ec"/>
    <p:sldId xmlns:r="http://schemas.openxmlformats.org/officeDocument/2006/relationships" id="288" r:id="Rf750214b61f841ba"/>
    <p:sldId xmlns:r="http://schemas.openxmlformats.org/officeDocument/2006/relationships" id="289" r:id="R02f1f42f339e4ad9"/>
    <p:sldId xmlns:r="http://schemas.openxmlformats.org/officeDocument/2006/relationships" id="290" r:id="R166f8951e70f4f37"/>
    <p:sldId xmlns:r="http://schemas.openxmlformats.org/officeDocument/2006/relationships" id="291" r:id="Red4f033cb2c54177"/>
    <p:sldId xmlns:r="http://schemas.openxmlformats.org/officeDocument/2006/relationships" id="292" r:id="Ra367680351ed4f77"/>
    <p:sldId xmlns:r="http://schemas.openxmlformats.org/officeDocument/2006/relationships" id="293" r:id="Rf349c503a98547a8"/>
    <p:sldId xmlns:r="http://schemas.openxmlformats.org/officeDocument/2006/relationships" id="294" r:id="Rc65e29af488c46ef"/>
    <p:sldId xmlns:r="http://schemas.openxmlformats.org/officeDocument/2006/relationships" id="295" r:id="R6f61251d40e04c1f"/>
    <p:sldId xmlns:r="http://schemas.openxmlformats.org/officeDocument/2006/relationships" id="296" r:id="R5387fcfc7fed4263"/>
    <p:sldId xmlns:r="http://schemas.openxmlformats.org/officeDocument/2006/relationships" id="297" r:id="Raefb2e2808f84ae7"/>
    <p:sldId xmlns:r="http://schemas.openxmlformats.org/officeDocument/2006/relationships" id="298" r:id="R85d9c26299714071"/>
    <p:sldId xmlns:r="http://schemas.openxmlformats.org/officeDocument/2006/relationships" id="299" r:id="R8c970d3f683743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e7f52966824543" /><Relationship Type="http://schemas.openxmlformats.org/officeDocument/2006/relationships/slideMaster" Target="/ppt/slideMasters/slideMaster1.xml" Id="Rbd5fb1b578784766" /><Relationship Type="http://schemas.openxmlformats.org/officeDocument/2006/relationships/notesMaster" Target="/ppt/notesMasters/notesMaster1.xml" Id="R9f54c46bdbc04fdc" /><Relationship Type="http://schemas.openxmlformats.org/officeDocument/2006/relationships/presProps" Target="/ppt/presProps.xml" Id="Rf0e8084dfc464cc2" /><Relationship Type="http://schemas.openxmlformats.org/officeDocument/2006/relationships/tableStyles" Target="/ppt/tableStyles.xml" Id="Re1905dc45a234782" /><Relationship Type="http://schemas.openxmlformats.org/officeDocument/2006/relationships/slide" Target="/ppt/slides/slide1.xml" Id="R7344ca344eed4141" /><Relationship Type="http://schemas.openxmlformats.org/officeDocument/2006/relationships/slide" Target="/ppt/slides/slide2.xml" Id="Rcc6dcb79a1504e6d" /><Relationship Type="http://schemas.openxmlformats.org/officeDocument/2006/relationships/slide" Target="/ppt/slides/slide3.xml" Id="Rd9a39b1873b14265" /><Relationship Type="http://schemas.openxmlformats.org/officeDocument/2006/relationships/slide" Target="/ppt/slides/slide4.xml" Id="R6d8b059e1302442f" /><Relationship Type="http://schemas.openxmlformats.org/officeDocument/2006/relationships/slide" Target="/ppt/slides/slide5.xml" Id="Rdfabf7b3f0db4247" /><Relationship Type="http://schemas.openxmlformats.org/officeDocument/2006/relationships/slide" Target="/ppt/slides/slide6.xml" Id="R08a66fce9c5843b7" /><Relationship Type="http://schemas.openxmlformats.org/officeDocument/2006/relationships/slide" Target="/ppt/slides/slide7.xml" Id="R13c940c0119449c6" /><Relationship Type="http://schemas.openxmlformats.org/officeDocument/2006/relationships/slide" Target="/ppt/slides/slide8.xml" Id="R921db9cfd4d644bb" /><Relationship Type="http://schemas.openxmlformats.org/officeDocument/2006/relationships/slide" Target="/ppt/slides/slide9.xml" Id="Rb97410e9df0a4939" /><Relationship Type="http://schemas.openxmlformats.org/officeDocument/2006/relationships/slide" Target="/ppt/slides/slide10.xml" Id="R9a76784b369045ed" /><Relationship Type="http://schemas.openxmlformats.org/officeDocument/2006/relationships/slide" Target="/ppt/slides/slide11.xml" Id="R9244a81a636c4422" /><Relationship Type="http://schemas.openxmlformats.org/officeDocument/2006/relationships/slide" Target="/ppt/slides/slide12.xml" Id="Rd475b39c56124ed0" /><Relationship Type="http://schemas.openxmlformats.org/officeDocument/2006/relationships/slide" Target="/ppt/slides/slide13.xml" Id="R4dd35208b657415b" /><Relationship Type="http://schemas.openxmlformats.org/officeDocument/2006/relationships/slide" Target="/ppt/slides/slide14.xml" Id="R12abf0c03c324fb5" /><Relationship Type="http://schemas.openxmlformats.org/officeDocument/2006/relationships/slide" Target="/ppt/slides/slide15.xml" Id="R634c72d0be43430d" /><Relationship Type="http://schemas.openxmlformats.org/officeDocument/2006/relationships/slide" Target="/ppt/slides/slide16.xml" Id="R36469fcdf71548a5" /><Relationship Type="http://schemas.openxmlformats.org/officeDocument/2006/relationships/slide" Target="/ppt/slides/slide17.xml" Id="R637ec58cc7af4b1e" /><Relationship Type="http://schemas.openxmlformats.org/officeDocument/2006/relationships/slide" Target="/ppt/slides/slide18.xml" Id="R5714cb60600541a2" /><Relationship Type="http://schemas.openxmlformats.org/officeDocument/2006/relationships/slide" Target="/ppt/slides/slide19.xml" Id="R80e4c14386294c36" /><Relationship Type="http://schemas.openxmlformats.org/officeDocument/2006/relationships/slide" Target="/ppt/slides/slide20.xml" Id="Rac2cbaad25204f6a" /><Relationship Type="http://schemas.openxmlformats.org/officeDocument/2006/relationships/slide" Target="/ppt/slides/slide21.xml" Id="R570bf1a7f5f44bfd" /><Relationship Type="http://schemas.openxmlformats.org/officeDocument/2006/relationships/slide" Target="/ppt/slides/slide22.xml" Id="R0fe951febde94353" /><Relationship Type="http://schemas.openxmlformats.org/officeDocument/2006/relationships/slide" Target="/ppt/slides/slide23.xml" Id="R6db74dd939b449cc" /><Relationship Type="http://schemas.openxmlformats.org/officeDocument/2006/relationships/slide" Target="/ppt/slides/slide24.xml" Id="R193d8b332b11436a" /><Relationship Type="http://schemas.openxmlformats.org/officeDocument/2006/relationships/slide" Target="/ppt/slides/slide25.xml" Id="R40292ea779e647c3" /><Relationship Type="http://schemas.openxmlformats.org/officeDocument/2006/relationships/slide" Target="/ppt/slides/slide26.xml" Id="R8b91415a7ad544eb" /><Relationship Type="http://schemas.openxmlformats.org/officeDocument/2006/relationships/slide" Target="/ppt/slides/slide27.xml" Id="R2cef67fd54014ee3" /><Relationship Type="http://schemas.openxmlformats.org/officeDocument/2006/relationships/slide" Target="/ppt/slides/slide28.xml" Id="Rae30084813284027" /><Relationship Type="http://schemas.openxmlformats.org/officeDocument/2006/relationships/slide" Target="/ppt/slides/slide29.xml" Id="R2c9345a93a474573" /><Relationship Type="http://schemas.openxmlformats.org/officeDocument/2006/relationships/slide" Target="/ppt/slides/slide30.xml" Id="R367b65e662d84aa8" /><Relationship Type="http://schemas.openxmlformats.org/officeDocument/2006/relationships/slide" Target="/ppt/slides/slide31.xml" Id="R30f07fb98a344436" /><Relationship Type="http://schemas.openxmlformats.org/officeDocument/2006/relationships/slide" Target="/ppt/slides/slide32.xml" Id="Re9e9c82f441545ec" /><Relationship Type="http://schemas.openxmlformats.org/officeDocument/2006/relationships/slide" Target="/ppt/slides/slide33.xml" Id="Rf750214b61f841ba" /><Relationship Type="http://schemas.openxmlformats.org/officeDocument/2006/relationships/slide" Target="/ppt/slides/slide34.xml" Id="R02f1f42f339e4ad9" /><Relationship Type="http://schemas.openxmlformats.org/officeDocument/2006/relationships/slide" Target="/ppt/slides/slide35.xml" Id="R166f8951e70f4f37" /><Relationship Type="http://schemas.openxmlformats.org/officeDocument/2006/relationships/slide" Target="/ppt/slides/slide36.xml" Id="Red4f033cb2c54177" /><Relationship Type="http://schemas.openxmlformats.org/officeDocument/2006/relationships/slide" Target="/ppt/slides/slide37.xml" Id="Ra367680351ed4f77" /><Relationship Type="http://schemas.openxmlformats.org/officeDocument/2006/relationships/slide" Target="/ppt/slides/slide38.xml" Id="Rf349c503a98547a8" /><Relationship Type="http://schemas.openxmlformats.org/officeDocument/2006/relationships/slide" Target="/ppt/slides/slide39.xml" Id="Rc65e29af488c46ef" /><Relationship Type="http://schemas.openxmlformats.org/officeDocument/2006/relationships/slide" Target="/ppt/slides/slide40.xml" Id="R6f61251d40e04c1f" /><Relationship Type="http://schemas.openxmlformats.org/officeDocument/2006/relationships/slide" Target="/ppt/slides/slide41.xml" Id="R5387fcfc7fed4263" /><Relationship Type="http://schemas.openxmlformats.org/officeDocument/2006/relationships/slide" Target="/ppt/slides/slide42.xml" Id="Raefb2e2808f84ae7" /><Relationship Type="http://schemas.openxmlformats.org/officeDocument/2006/relationships/slide" Target="/ppt/slides/slide43.xml" Id="R85d9c26299714071" /><Relationship Type="http://schemas.openxmlformats.org/officeDocument/2006/relationships/slide" Target="/ppt/slides/slide44.xml" Id="R8c970d3f683743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75f7514b5f46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9427d87288412d" /><Relationship Type="http://schemas.openxmlformats.org/officeDocument/2006/relationships/notesMaster" Target="/ppt/notesMasters/notesMaster1.xml" Id="Rce13f5d9221340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4845b3319f44b8" /><Relationship Type="http://schemas.openxmlformats.org/officeDocument/2006/relationships/notesMaster" Target="/ppt/notesMasters/notesMaster1.xml" Id="R3817346cd8fc49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2eed16c6e34b68" /><Relationship Type="http://schemas.openxmlformats.org/officeDocument/2006/relationships/notesMaster" Target="/ppt/notesMasters/notesMaster1.xml" Id="R3e3d471a0caa40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7e37b3dcd148c6" /><Relationship Type="http://schemas.openxmlformats.org/officeDocument/2006/relationships/notesMaster" Target="/ppt/notesMasters/notesMaster1.xml" Id="R08c8c7a6820440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5d9767c9ed43ba" /><Relationship Type="http://schemas.openxmlformats.org/officeDocument/2006/relationships/notesMaster" Target="/ppt/notesMasters/notesMaster1.xml" Id="R30691e78c26f45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608fc13b864b3f" /><Relationship Type="http://schemas.openxmlformats.org/officeDocument/2006/relationships/notesMaster" Target="/ppt/notesMasters/notesMaster1.xml" Id="R2db3cc4afa9c48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f9c8eee6f94eea" /><Relationship Type="http://schemas.openxmlformats.org/officeDocument/2006/relationships/notesMaster" Target="/ppt/notesMasters/notesMaster1.xml" Id="Ra9931160d82c43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e1b57d20cc497b" /><Relationship Type="http://schemas.openxmlformats.org/officeDocument/2006/relationships/notesMaster" Target="/ppt/notesMasters/notesMaster1.xml" Id="Rdb38a0b34c4049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0a6a8821c04ef9" /><Relationship Type="http://schemas.openxmlformats.org/officeDocument/2006/relationships/notesMaster" Target="/ppt/notesMasters/notesMaster1.xml" Id="Rbd7ce9fe63c74e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ff00dc22f04959" /><Relationship Type="http://schemas.openxmlformats.org/officeDocument/2006/relationships/notesMaster" Target="/ppt/notesMasters/notesMaster1.xml" Id="Raced35ef2d264e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1fb2093b8e4e7d" /><Relationship Type="http://schemas.openxmlformats.org/officeDocument/2006/relationships/notesMaster" Target="/ppt/notesMasters/notesMaster1.xml" Id="Rde998609466b49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5de4f3e1434449" /><Relationship Type="http://schemas.openxmlformats.org/officeDocument/2006/relationships/notesMaster" Target="/ppt/notesMasters/notesMaster1.xml" Id="R99e91041f1d24e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22ca1e4136499c" /><Relationship Type="http://schemas.openxmlformats.org/officeDocument/2006/relationships/notesMaster" Target="/ppt/notesMasters/notesMaster1.xml" Id="Rfc950207be1547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f103f3bfce4590" /><Relationship Type="http://schemas.openxmlformats.org/officeDocument/2006/relationships/notesMaster" Target="/ppt/notesMasters/notesMaster1.xml" Id="Rec3f4548ab4f463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1160555ae24b93" /><Relationship Type="http://schemas.openxmlformats.org/officeDocument/2006/relationships/notesMaster" Target="/ppt/notesMasters/notesMaster1.xml" Id="R7462f681199445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4d84c38f744886" /><Relationship Type="http://schemas.openxmlformats.org/officeDocument/2006/relationships/notesMaster" Target="/ppt/notesMasters/notesMaster1.xml" Id="R9c790e1d97a746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2dd731f8fce41a6" /><Relationship Type="http://schemas.openxmlformats.org/officeDocument/2006/relationships/notesMaster" Target="/ppt/notesMasters/notesMaster1.xml" Id="R8523c3c1fdb84f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85f0e00be1c45d3" /><Relationship Type="http://schemas.openxmlformats.org/officeDocument/2006/relationships/notesMaster" Target="/ppt/notesMasters/notesMaster1.xml" Id="Raaa5f6124ca64b4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54a9c9042364eab" /><Relationship Type="http://schemas.openxmlformats.org/officeDocument/2006/relationships/notesMaster" Target="/ppt/notesMasters/notesMaster1.xml" Id="R085d7e8a3d454f7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d7c4835808e4f55" /><Relationship Type="http://schemas.openxmlformats.org/officeDocument/2006/relationships/notesMaster" Target="/ppt/notesMasters/notesMaster1.xml" Id="Rc5023ae1e94d498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a069d7a26ec464d" /><Relationship Type="http://schemas.openxmlformats.org/officeDocument/2006/relationships/notesMaster" Target="/ppt/notesMasters/notesMaster1.xml" Id="R6616777a8f3b45b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bb322af22ce41c0" /><Relationship Type="http://schemas.openxmlformats.org/officeDocument/2006/relationships/notesMaster" Target="/ppt/notesMasters/notesMaster1.xml" Id="Rae4fddb29241413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454ace3a5d44b78" /><Relationship Type="http://schemas.openxmlformats.org/officeDocument/2006/relationships/notesMaster" Target="/ppt/notesMasters/notesMaster1.xml" Id="R4b38f38e321b4d9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e9640b760f04c0d" /><Relationship Type="http://schemas.openxmlformats.org/officeDocument/2006/relationships/notesMaster" Target="/ppt/notesMasters/notesMaster1.xml" Id="R9da55341bf2e462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86eb7781e614131" /><Relationship Type="http://schemas.openxmlformats.org/officeDocument/2006/relationships/notesMaster" Target="/ppt/notesMasters/notesMaster1.xml" Id="R1302c70b1e75420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ef0d99e52b34636" /><Relationship Type="http://schemas.openxmlformats.org/officeDocument/2006/relationships/notesMaster" Target="/ppt/notesMasters/notesMaster1.xml" Id="R4727bf57eb0a4cc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6ce4d40d97140f8" /><Relationship Type="http://schemas.openxmlformats.org/officeDocument/2006/relationships/notesMaster" Target="/ppt/notesMasters/notesMaster1.xml" Id="R3d8a891c1941401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c73a599771f4d4d" /><Relationship Type="http://schemas.openxmlformats.org/officeDocument/2006/relationships/notesMaster" Target="/ppt/notesMasters/notesMaster1.xml" Id="R57824febf97d409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af2bfb251b144fd" /><Relationship Type="http://schemas.openxmlformats.org/officeDocument/2006/relationships/notesMaster" Target="/ppt/notesMasters/notesMaster1.xml" Id="R86e0227a908740b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cb7f2046dfa47bd" /><Relationship Type="http://schemas.openxmlformats.org/officeDocument/2006/relationships/notesMaster" Target="/ppt/notesMasters/notesMaster1.xml" Id="R0d9aa9853a1149c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4c812ba28f04e64" /><Relationship Type="http://schemas.openxmlformats.org/officeDocument/2006/relationships/notesMaster" Target="/ppt/notesMasters/notesMaster1.xml" Id="R860adeab1c59470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0d1f41f59824fe3" /><Relationship Type="http://schemas.openxmlformats.org/officeDocument/2006/relationships/notesMaster" Target="/ppt/notesMasters/notesMaster1.xml" Id="R90b3edfb5aa146d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debbe6746894602" /><Relationship Type="http://schemas.openxmlformats.org/officeDocument/2006/relationships/notesMaster" Target="/ppt/notesMasters/notesMaster1.xml" Id="Re1584e41fc12422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55fae18ce3a47f5" /><Relationship Type="http://schemas.openxmlformats.org/officeDocument/2006/relationships/notesMaster" Target="/ppt/notesMasters/notesMaster1.xml" Id="R447eca0a344643c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afc28b1b26c4c97" /><Relationship Type="http://schemas.openxmlformats.org/officeDocument/2006/relationships/notesMaster" Target="/ppt/notesMasters/notesMaster1.xml" Id="Rc50f7c42ac874e8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d2c3ea0014347b9" /><Relationship Type="http://schemas.openxmlformats.org/officeDocument/2006/relationships/notesMaster" Target="/ppt/notesMasters/notesMaster1.xml" Id="R014c6c79e4864b0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6293340f8a848ed" /><Relationship Type="http://schemas.openxmlformats.org/officeDocument/2006/relationships/notesMaster" Target="/ppt/notesMasters/notesMaster1.xml" Id="Re16fd23836844bc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2eb7705f43a440a" /><Relationship Type="http://schemas.openxmlformats.org/officeDocument/2006/relationships/notesMaster" Target="/ppt/notesMasters/notesMaster1.xml" Id="R4d3a5f34178f48b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268335e7001455a" /><Relationship Type="http://schemas.openxmlformats.org/officeDocument/2006/relationships/notesMaster" Target="/ppt/notesMasters/notesMaster1.xml" Id="R90efeab665bb42e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5dd52a7100040dd" /><Relationship Type="http://schemas.openxmlformats.org/officeDocument/2006/relationships/notesMaster" Target="/ppt/notesMasters/notesMaster1.xml" Id="Rb5337af36fa5495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55ed79348da451c" /><Relationship Type="http://schemas.openxmlformats.org/officeDocument/2006/relationships/notesMaster" Target="/ppt/notesMasters/notesMaster1.xml" Id="R3ffe69e0b329479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b4351b38d484605" /><Relationship Type="http://schemas.openxmlformats.org/officeDocument/2006/relationships/notesMaster" Target="/ppt/notesMasters/notesMaster1.xml" Id="R9f6c1fa43faf4ae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519362f56a14941" /><Relationship Type="http://schemas.openxmlformats.org/officeDocument/2006/relationships/notesMaster" Target="/ppt/notesMasters/notesMaster1.xml" Id="R80b41cd14dcd431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24eb1b1791e4f77" /><Relationship Type="http://schemas.openxmlformats.org/officeDocument/2006/relationships/notesMaster" Target="/ppt/notesMasters/notesMaster1.xml" Id="R3491d440024443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分鐘循環顯示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講述：歡迎各位。請先確認帳號可以使用，不要急著送出建置需求。今天會比較兩條路徑，請先保留 Lovable 的可用額度。 如果今天的 5 點已經用完，請掃第 3 頁的 QR Code 填群組申請，留下 Lovable 登入 email，再向我示意。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操作：打開學員講義的環境準備。請已完成的人協助鄰座。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檢核：學員能指出自己的工具、帳號與教材所在位置。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轉場：接著確認本機起始專案。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講述：起始專案尚未實作搜尋、收藏或衝堂提示。請先不要打開參考解答。設定及安裝時間會另外記錄，正式建置才開始 15 分鐘計時。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 starter 終端機示範兩個指令，指出需要停留在有 package.json 的資料夾。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檢核：學員能看到空白頁，知道本機網址。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轉場：最後確認額度與卡關時的接續方法。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講述：免費建置額度不是固定五次提示。今天的 5 點已用完或額度不足時，請掃右側 QR Code，只需填登入 Lovable 的 email。表單開放持連結者填寫，不要求登入 Google，也不公開其他人的回覆。送出後向講師示意。講師查看 Google 表單回覆，再安排 Lovable 群組邀請；申請送出不會自動加入。收到信後完成加入，確認可以繼續實作。仍無法建置時，保留狀態並以離線版做驗收。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操作：投影 QR Code 與可點選短網址。講師於自己的表單「回覆」分頁查看 email，再安排群組邀請；請學員確認信箱。需要在正式流程中再次顯示 QR 時，也可開第 35 頁附錄。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檢核：申請者填的是 Lovable 登入 email，知道需完成邀請流程。所有人記錄額度來源與切換時間，卡關者知道離線備援位置。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轉場：13:30 開始正式課程。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群組加入申請表</a:t>
            </a:r>
          </a:p>
          <a:p xmlns:a="http://schemas.openxmlformats.org/drawingml/2006/main">
            <a:r>
              <a:t>https://forms.gle/pt3nLWy622sYTfsG6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時間：13:30–13:30:30，30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講述：歡迎來到 HWDC 2026。今天用同一份 Web 需求，親自觀察 Lovable 與通用 AI 工具的建置、修改與驗收。我會以 Codex 桌面 App 示範，CLI 操作放在附錄。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操作：確認投影與音量，說明今天的工具與共同任務，接著切到講師介紹。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檢核：確認全場能看清投影字體。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轉場：先用一分鐘介紹我自己，以及我平常在做的事。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時間：13:30:30–13:32，1 分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講述：我是林建宏，大家也可以叫我 Wolke。我把自己定位成一名啟發者，希望把開發過程中的經驗與問題分享出來，幫助更多人理解並開始行動。我曾任 Google Developer Expert（2019–2023）與 LINE API Expert，也是技術書作者，曾在大學、社群與論壇講授。我的著作涵蓋 Gemini API、ChatGPT 協作程式開發和 LINE 聊天機器人。近期的書是《實用的 Gemini API 開發點子書》。我在 Medium 持續分享 AI 人機協作與提示工程。今天想和大家一起做的，是把需求說清楚，再親手檢查 AI 做出的成果。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操作：介紹照片、專業資格與著作。用約一分鐘講背景，最後 30 秒連到今天的 AI 協作與驗收主題。Medium 網址可點選，完整書名與來源在本頁備註及教材。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檢核：聽眾理解講師的實作與教學背景，以及本堂課為何重視需求、操作和驗收。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轉場：我們先看看今天會做出的議程收藏器，以及你會帶走什麼。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  <a:p xmlns:a="http://schemas.openxmlformats.org/drawingml/2006/main">
            <a:r>
              <a:t>Wolke：Lovable 到底強在哪裡</a:t>
            </a:r>
          </a:p>
          <a:p xmlns:a="http://schemas.openxmlformats.org/drawingml/2006/main">
            <a:r>
              <a:t>https://ithelp.ithome.com.tw/articles/10406618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自我介紹頁右側 QR Code 連到 https://medium.com/@wolkesau，介紹時可停留讓學員掃描。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時間：13:32–13:35，3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講述：今天要完成的是找議程、收藏、重新整理後保留，再加上衝堂提示。這張畫面是使用真實議程附件的參考版，UI 只是其中一種可能。學員可自行決定 UI 設計，但 Lovable 與通用 AI 的兩個版本要保持一致。兩套工具各做一個初版，各接受一次相同的需求變更，再以完成度、時間與用量寫下自己的選型理由。你可以沿用熟悉的通用 AI 工具，只要需求與資料相同，並記錄條件。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操作：先用 90 秒操作離線參考版：搜尋林建宏，收藏 4996、5030，重新整理確認保留，再切第二版加入 5018 看衝堂。接著 60 秒說明兩段 15 分鐘初版與各 5 分鐘修改。最後 30 秒舉手詢問工具分布，提醒同學可使用自己的通用工具。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檢核：請學員說出畫面尚未證明的功能，例如重新整理保存。確認知道 UI 由學員自訂，但自己的兩個工具版本須一致、通用工具可以自選，而且要留下作品與觀察紀錄。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轉場：先看兩類工具在工作流程中的差別。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時間：13:35–13:37，2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講述：通用工具可以在多種專案中工作，場景工具把特定開發流程整合在一起。兩者能力有重疊，不能只憑介面分類就推斷誰一定比較好。今天選 Web 開發作為共同任務。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操作：指出本機預覽與平台預覽的差異。本次 Lovable 新專案使用平台原生技術堆疊，本機為 React、TypeScript 與 Vite。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檢核：學員理解比較的是整個工作流程，無法單獨歸因於模型。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轉場：接著看兩套 AI 工具如何完成相同任務。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時間：13:37–13:39，2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講述：本課只比較 Lovable 與通用 AI 工具，講師以 Codex 桌面 App 示範。兩套各自從新專案開始，使用相同資料與短提示，先完成初版，再加入衝堂提示。90 分鐘內以實作、試用及驗收觀察差異；UI 由學員自由設計，但兩套工具要採相同設計。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操作：對照兩條流程，指出平台預覽與本機預覽。提醒學員：初版各 15 分鐘、修改各 5 分鐘，驗收也包含在內。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檢核：確認學員知道今天只有兩套 AI 工具需要操作，兩個版本的 UI 保持一致，並依相同 UX 條件驗收。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轉場：現在把完成標準寫清楚。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時間：13:39–13:41，2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講述：我們固定資料與 UX 邏輯。UI 由各學員自行決定，同一位學員的兩個工具版本要採相同設計。所有議程兩天各 35 筆、共 70 筆；使用者能搜尋、用日期和主題一起篩選、收藏並保留即可。資料可能有多位講者與多個標籤，不能漏掉。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操作：快速指向 A1–A6 文件，確認學員找到表格。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檢核：請一位學員說出 A3 的預期，例如 AI 搜尋加 Web 主題應為零筆。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轉場：接著定義如何計時。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時間：13:41–13:43，2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講述：設定與套件安裝另計。每輪從開始補充或送出該輪提示時起算，生成等待、除錯與驗收都算進去。到截止時沒通過就保留未完成狀態。不要把截止的十五分鐘寫成十五分鐘完成。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操作：展示紀錄表的狀態與通過 ID 欄位。說明除錯時間包含在經過時間內，不能再加總一次。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檢核：確認學員能區分未取得、未測及零。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轉場：最後把規格整理成可貼給工具的提示。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時間：13:43–13:45，2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講述：人不需要先寫成工程規格才開始。上傳資料，講清楚想做什麼、用起來要怎樣，再讓 Agent 做出可試用的第一版。色彩、版型與字型由學員自訂，但 Lovable 與通用 AI 的兩個版本要保持一致。先用一句話描述自己的 UI 設計，再把相同設計要求交給兩套工具。驗收表拿在自己手上，發現缺漏再描述操作與預期。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操作：複製本頁提示，補上自己選定的 UI 設計要求，兩套工具使用相同描述。下一頁提供 JSON 附件位置與完整網址，先上傳再送出。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JSON 是附件，不需複製 70 筆資料；也知道自己可以選擇 UI，但兩個工具版本須一致。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轉場：先確認這份資料從哪裡來，以及要上傳哪個檔案。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時間：13:45–13:47，2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講述：官網議程是公開來源；我們把兩天 70 筆場次整理成固定 JSON 快照。投影片寫出來源及附件完整網址。目前 GitHub repo 為私人，學員可使用教材包 materials 裡的 JSON；沒有 repo 權限時不要卡在 GitHub 登入。提示與資料分開，上傳完再送出第 11 頁提示。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操作：示範從教材包選取 hwdc-agenda-2026.json 上傳，確認附件後貼第 11 頁提示。指出預覽入口並開始驗收。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檢核：學員準備好送出提示及計時。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轉場：下一頁會固定顯示任務。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時間：13:47–14:03，1 分鐘說明加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講述：計時從 13:48 開始。大家要在這十五分鐘裡建置並操作六個驗收項目。畫面出現後就開始檢查，不要把最後一分鐘全部留給驗收。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操作：第 5 分鐘提醒查看預覽。第 10 分鐘提醒轉入驗收。最後 2 分鐘提醒保存紀錄。依現場狀況走動但不逐台長時間排障。 額度用完者先由講師私下提供群組加入方式；仍無法接續時依 2 分鐘規則切離線版。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檢核：完成條件是可操作初版及 A1–A6 紀錄。截止未完成同樣保留觀察。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轉場：時間到後一起回報完成狀態。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時間：14:03–14:05，2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講述：搜尋林建宏，日期選 10/14，主題選 AI 開發工具實戰和流程改造，應只剩 4996。改成 SDLC 相關議題為零，改 10/15 也為零。另以陳宜昌的三個主題標籤檢查多標籤是否遺漏。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操作：依 A3 實際切換條件，不要求特定按鈕位置。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檢核：條件是 AND；同一場的多個 tags 都能被找出。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轉場：接下來從空白起點使用通用工具。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時間：14:05–14:06，1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講述：今天以 Codex 桌面 App 示範通用開發代理。開啟正確資料夾很重要，工具需要看到這次實驗的檔案。其他工具沿用相同需求與資料即可。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操作：桌面選 Codex，開啟獨立 starter 副本。指出專案路徑與檔案清單。官方介面更新時，以軟體開發及本機資料夾功能辨認。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檢核：確認沒有學員直接把第一條路徑的程式交給第二條路徑。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轉場：下一頁直接列出可貼上的完整提示。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時間：14:06–14:06:40，40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講述：這次直接貼本頁提示，資料位置寫在第一行。本機檔案與上傳 Lovable 的附件內容一致，UI 也採用自己在 Lovable 選定的相同設計。驗收表由人操作，發現問題再補充。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操作：複製本頁完整內容至 Codex，確認專案是獨立 starter。 加入與 Lovable 相同的 UI 設計描述。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檢核：學員知道資料的位置及共同規格。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轉場：接著確認結果如何執行。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時間：14:06:40–14:07:20，40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講述：代理回覆已完成之後，仍需確認預覽真的可用。請看它改了哪些檔案，並保留錯誤原文。只有本機頁面開啟且驗收成立，才算對應功能完成。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操作：展示終端機及檔案差異入口。若預覽無法啟動，依兩分鐘備援規則繼續。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檢核：學員知道如何找到錯誤資訊。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轉場：現在開始第二條路徑的計時。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時間：14:07:20–14:23，40 秒說明加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講述：13:48 那一輪已經結束，請不要把未完成的工作混到這一輪。這次從 14:08 計時，依相同規格做一份新作品。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操作：14:08 開始，14:13 提醒看預覽，14:18 提醒驗收，14:21 提醒留紀錄，14:23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檢核：完成條件是第二份可操作版本及六項紀錄。若使用備援，明示來源。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轉場：時間到，一起確認最容易漏掉的保存。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時間：14:23–14:25，2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講述：請確認我的議程只顯示收藏，排序正確，重新整理後仍在。保存是在同一瀏覽器與同一網址下比較。若埠號改變，瀏覽器會視為另一個來源。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操作：請學員記下本輪通過項目、時間及主要卡關原因，保留目前的收藏供下一輪檢查。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檢核：兩條路徑都有可辨識的結果狀態。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轉場：現在需求要改變了。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時間：14:25–14:25:20，20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講述：現在增加一個需求：讓使用者知道哪些收藏時間衝突。提醒要列出相關議程，但不自動取消任何收藏。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操作：展示第二版的衝堂區域，快速指出有兩場名稱與時段。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檢核：學員理解修改的範圍。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轉場：先把邊界說清楚。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時間：14:25:20–14:25:40，20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講述：用真實場次練習邊界：5030 和 5009 部分重疊；4996 包含 5018；4996 和 4993 同時段；4957 結束 10:10 正好接 4958，因此不衝堂。再比 4996 和 4992，鐘點相同但日期不同，不能誤報。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操作：每次只收藏兩場，檢查完整日期時間。數學判斷式可放講義，不必要求大家把它寫進首輪提示。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檢核：區分部分重疊、包含、相同、首尾相接與跨日。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轉場：最後補上修改時必須保留的行為。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時間：14:25:40–14:26，20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講述：這個提醒要看全部收藏，不受目前搜尋與篩選影響。請維持原來的儲存鍵與格式，避免改完功能卻清掉收藏。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操作：直接複製本頁三句提示，在兩套工具各自的初版接續修改。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檢核：學員準備好在各自的第一版繼續修改。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轉場：開始各五分鐘。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時間：14:26–14:36，共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講述：先用五分鐘修改 Lovable，14:31 切換通用工具。兩條路徑各保留自己的提示與結果，不互相複製程式。若額度不足，先保留狀態並向講師取得群組加入方式。若改變實作環境，記錄切換前後的條件，確認仍是自己的初版專案及收藏；無法接續時使用備援版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操作：14:26 開始第一段，14:29 提醒驗收，14:31 切換，14:34 提醒驗收，14:36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 B1–B6 的結果紀錄。沒有測到的項目填未測。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轉場：一起檢查修改有沒有影響原功能。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時間：14:36–14:40，4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講述：加入新功能後重做 A1–A6。特別確認第一版原有收藏沒有遺失，日期與多標籤篩選仍正確。此圖展示 4957 與 4958 相接沒有提示。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操作：保留約兩分鐘操作，再邀請兩位學員各用一句話分享：一個成功案例或一個預期與實際不符的地方。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檢核：學生知道 AI 修改也可能破壞舊功能，紀錄可重現。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轉場：接著用紀錄討論效率。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時間：14:40–14:43，3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講述：這是上次長提示與 12 筆合成資料的操作彩排。兩套最後都完成。Codex 初版約 1 分 55 秒、修改約 1 分 3 秒；Lovable 初版約 4 分 22 秒、修改核心約 3 分 33 秒，精確手機尺寸在截止後補測。代理已看過解答，且第二輪交錯操作，不能據此排名。新版改用真實附件、短提示和自由 UI，必須另測。 詳細紀錄見 evidence/rehearsal-observations.md。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操作：先比較通過項目，再看時間與限制。補充 Lovable 衝堂區可直接取消，Codex 由卡片取消，示範 UX 路徑的差異。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檢核：觀察時間不被解讀成普遍速度；沒有把舊成績當作新條件成績。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轉場：我們用一個可重現錯誤來看除錯工作。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時間：14:43–14:45，2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講述：若沒有適合教學的實測錯誤，就用明確標示的刻意植入案例。把小於寫成小於等於會使 4957 與 4958 首尾相接被誤判。修正後，真正重疊仍應提醒，跨日不能混在一起。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操作：把範本中的操作填成收藏 4957、4958，實際填看到衝堂提示，預期填 10:10 首尾相接應不衝堂。送出後重做邊界驗收。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檢核：學員能說出修正後要測的兩種結果。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轉場：接著把時間與費用放在一起看。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時間：14:45–14:48，3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講述：本頁屬舊版 12 筆資料、長提示的彩排。Lovable 逐訊息實耗為初版 2 credits、修改 3.10，共 5.10。使用 Business 每月 1,200 credits 正常月費 US$588 全數分攤，單位 US$0.49，合計 US$2.499，約 US$2.50。此分攤未把每日附送點數或訂閱功能另外估值。工作區目前有全額訂閱優惠，當期訂閱帳單為 US$0，因此表中的金額不是專案實扣。若以 Business 加購 US$30／50 credits 換算，則為 US$3.06，兩個口徑不相加。Codex 在兩段實作時間窗共 743,895 輸入 tokens（其中 730,150 快取、13,745 未快取）及 10,380 輸出。依 GPT-6 Astra Standard 每百萬 tokens 的 250／25／1250 credits，換算 34.665 Codex credits。另採官方 2,500 credits 等值 US$100 的面額假設，得到約 US$1.39。這不是已核實的額度扣除或帳單。速度模式未記錄，若依加購額度的 Fast 2 倍／Ultrafast 6 倍試算，約 US$2.77／US$8.32。Codex 長對話及交錯操作使時間窗歸屬只能近似，和 Lovable 平台內訊息耗點的邊界不完全一致。這些結果不足以判定誰較便宜。人的主動工時與等待另外記錄，缺值不補零。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操作：先指認直接取得的用量，再指認換算假設。需要細節時，開啟教材 evidence/cost-check-20261013.html，展示兩張 Lovable 訊息耗點截圖、Codex token 明細與公式。提醒新條件的 70 筆議程比較仍待測。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檢核：學員能區分實耗、正常訂閱分攤、Standard 情境估算與帳單實扣，不把不同平台 credits 當成相同單位，也不重複加總快取輸入或推理輸出。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轉場：除了這次用量，接著看修改範圍與後續接手會帶來什麼工作。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本地舊條件彩排紀錄</a:t>
            </a:r>
          </a:p>
          <a:p xmlns:a="http://schemas.openxmlformats.org/drawingml/2006/main">
            <a:r>
              <a:t>rehearsal-observations.md</a:t>
            </a:r>
          </a:p>
          <a:p xmlns:a="http://schemas.openxmlformats.org/drawingml/2006/main">
            <a:r>
              <a:t>OpenAI Codex for students</a:t>
            </a:r>
          </a:p>
          <a:p xmlns:a="http://schemas.openxmlformats.org/drawingml/2006/main">
            <a:r>
              <a:t>https://developers.openai.com/community/students</a:t>
            </a:r>
          </a:p>
          <a:p xmlns:a="http://schemas.openxmlformats.org/drawingml/2006/main">
            <a:r>
              <a:t>舊彩排用量與費用補充</a:t>
            </a:r>
          </a:p>
          <a:p xmlns:a="http://schemas.openxmlformats.org/drawingml/2006/main">
            <a:r>
              <a:t>cost-check-20261013.md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時間：14:48–14:50，2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講述：讓學員並排檢查自己的 Lovable 與通用 AI 作品，確認配色、版型與導覽採用同一份設計，再展示找到議程、收藏、看衝堂、決定取消或保留的流程。各學員可選不同風格，同一位學員的兩個工具版本要保持一致。若有差異，記錄工具是否遵循設計要求，以及修正所需的提示與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操作：邀請鄰座互相試用 60 秒，再用 60 秒分享兩個版本的完成度與 UI 一致性；不投票選工具冠軍。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檢核：兩套工具使用相同的 UI 設計要求，且使用者找得到完成任務的下一步。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轉場：把這些觀察帶回自己的工作情境。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時間：14:50–14:52，2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講述：選型從工作條件開始。要快速驗證新 Web 想法時，看看場景整合能節省哪些步驟。既有專案則先確認工具能否處理現有檔案與測試。持續維護需要累積更多紀錄，再調整組合。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操作：請學員寫下下一個真實專案及最重要的驗收條件。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檢核：學員給的理由能連結到本次觀察，不只說偏好某個品牌。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轉場：用 PDCA 把這種選擇變成可以重複的流程。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時間：14:52–14:54，2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講述：把今天做過的事情連回 PDCA。Plan 是我們固定的需求與資料，Do 是建置，Check 是驗收，Act 是修改方式與下一輪的選擇。模型能力的調整也應根據任務難度與驗收結果，不能只看單次價格。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操作：指出專案中需求、紀錄及錯誤重現三類文件。請學員保留一個下一輪要改善的點。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檢核：學員知道如何把一次體驗變成可重複流程。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轉場：最後看教材裡能接著練什麼。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時間：14:54–14:55，1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講述：講義整理了今天的步驟與提示，兩版解答供課後比對。完成者可練習行事曆匯出，注意時區及中文文字。先保留自己的紀錄，才能看出自己在哪一步需要改善。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操作：展示教材資料夾及 extension-ics.md 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檢核：學員知道離線版本、講義和參考答案的位置。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轉場：最後五分鐘開放問題。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時間：14:55–15:00，5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講述：歡迎分享今天遇到的需求理解、修改或驗收問題。也可以把下一個專案的條件說出來，我們一起檢查選型理由。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操作：優先回覆能讓全場受益的問題。個別安裝問題留待課後。時間充裕時可選第 39–43 頁，否則直接跳第 44 頁讓學員訂閱系列；瀏覽器版可點「訂閱 QR」。15:00 準時結束。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檢核：學員至少能說出一個條件與相對應的觀察。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轉場：謝謝大家，最後附上兩個系列的訂閱 QR Code，歡迎課後繼續練習。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時間：附錄，視問題使用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講述：桌面 App 與 CLI 都可在專案上下文中工作。這裡示範最少的對應操作，不要求全場臨時換介面。CLI 需要先完成安裝和登入，設定與可用功能仍應記錄。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操作：在準備好的專案資料夾啟動 codex，引用相同檔案。需要查看額度時用 /status。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CLI 是另一個操作入口，並非本課額外必裝工具。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轉場：回到實作或 Q&amp;A。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時間：附錄，準備時段使用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講述：第一次 npm ci 需要網路。請讀取錯誤原文，不要盲目重試。版本不符先完成環境或改用備援，本課不安排逐台重裝。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操作：指向套件安裝及本機網址，說明埠號已使用時工具可能改用其他埠。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檢核：學員能分辨資料夾錯誤、版本錯誤與套件下載失敗。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轉場：兩分鐘無法接續時切備援。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時間：附錄，現場排錯使用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額度已用完時，直接掃本頁右側 QR Code，填登入 Lovable 的 email，再向講師示意。講師查看表單回覆後另行安排群組邀請，學員完成信件中的邀請步驟。表單不會自動加入。仍無法建置或遇服務中斷時，改用離線參考版並保留切換原因。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操作：本頁即可展示 QR，不必離開排錯附錄。需要較大的 QR Code 時切到第 3 頁。邀請或排錯無法立即完成者，先做 offline/reference-v1.html 的驗收。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檢核：學員知道如何維持進度與紀錄來源。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轉場：回到下一個教學步驟。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群組加入申請表</a:t>
            </a:r>
          </a:p>
          <a:p xmlns:a="http://schemas.openxmlformats.org/drawingml/2006/main">
            <a:r>
              <a:t>https://forms.gle/pt3nLWy622sYTfsG6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時間：附錄，課後延伸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講述：先用這兩句人話描述想要的結果。實際 .ics 格式的欄位、跳脫、換行與時區，放在講義驗收及參考實作。匯入自己的行事曆軟體確認，不只相信文字回覆。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操作：複製本頁提示進行課後練習。檢查 4996 台北 13:00 對應 05:00 UTC，5030 台北 15:30 對應 07:30 UTC。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檢核：學員能說出至少一個畫面以外的驗收問題，例如 UTC 換算。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轉場：回到教材導覽。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時間：附錄，填表時使用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講述：有用的紀錄要能追溯條件。請寫驗收 ID，而不是只有感想。未取得、未測與零有不同意義：沒有查到用量不能填零，没有測功能不能填通過。 使用講師提供群組時，記下額度來源與切換時間。看不到個人用量時標示未取得。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操作：開啟完整範本，示範如何記下截止未完成及用量未知。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檢核：學員能依自己的資料填表，不虛構缺值。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轉場：需要更新簡報時，從這份紀錄取數。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時間：附錄，供查閱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講述：議程附件是官網公開快照，70 筆場次與 12 筆休息原始資料分開保存。來源、擷取日期、台北時區正規化有紀錄，開課兩套工具使用同一份。主辦資訊以官網為準。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操作：直接點選本頁官方網址，附件則看第 12 頁；完整來源記錄仍保留於 sources.md。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檢核：來源與限制可辨識。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講述：這組換算假設下，看起來 Codex 的美元估值較低。Lovable 是實際消耗 5.10 credits，再用正常訂閱月費分攤成約 2.50 美元。Codex 的 754,275 tokens 採 Astra Standard 額度率與每 credit 0.04 美元的面額假設，得到約 1.39 美元。兩邊都不是已核實的專案扣款。尤其 Codex 實際速度模式未取得，以加購額度 Fast／Ultrafast 試算會變成約 2.77／8.32 美元，因此不能說所有情況 Codex 都比較便宜。這是舊版 12 筆資料、長提示彩排，完成度及返工觀察一起看。今天落地的場景是網站開發，這也是通用 coding agent 的常見任務，換場景仍需實測。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操作：先比較表中兩種美元口徑，再指明速度模式缺值。若學員想看計算，回到第 27 頁或開啟費用證據。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檢核：學員知道估值大小取決於換算假設，也能區分實際用量、估算與帳單。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轉場：這也是我原本想用 Roblox Studio AI 作比較的原因。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本地舊條件彩排紀錄</a:t>
            </a:r>
          </a:p>
          <a:p xmlns:a="http://schemas.openxmlformats.org/drawingml/2006/main">
            <a:r>
              <a:t>rehearsal-observations.md</a:t>
            </a:r>
          </a:p>
          <a:p xmlns:a="http://schemas.openxmlformats.org/drawingml/2006/main">
            <a:r>
              <a:t>OpenAI Codex for students</a:t>
            </a:r>
          </a:p>
          <a:p xmlns:a="http://schemas.openxmlformats.org/drawingml/2006/main">
            <a:r>
              <a:t>https://developers.openai.com/community/students</a:t>
            </a:r>
          </a:p>
          <a:p xmlns:a="http://schemas.openxmlformats.org/drawingml/2006/main">
            <a:r>
              <a:t>舊彩排用量與費用補充</a:t>
            </a:r>
          </a:p>
          <a:p xmlns:a="http://schemas.openxmlformats.org/drawingml/2006/main">
            <a:r>
              <a:t>cost-check-20261013.md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2–3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講述：這段是我的投稿經驗。原本想比較 Roblox Studio AI，因為寫 Luau 程式以外，還有場景物件、資產及編輯器狀態，工具整合可能造成很不一樣的效果與費用。但當時預計採用的流程需要參與者提供自己的 API key 與用量預算，主辦單位去問過贊助，最後沒有取得，才改成 Lovable。這只是在說當時規劃的操作方式，不是所有 Roblox AI 功能的通則。我們今天沒有 Roblox 實測數字，因此把它當成下一個比較課題。各位可以沿用相同需求、相同驗收、限時建置、一次修改與回歸檢查的框架，再記下完成度、時間、用量和人的投入。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操作：用自身經驗說明選題與課堂成本的限制。提出 Roblox 的 Luau、場景／資產及 Playtest 為可測任務，邀請學員課後選一個專用工具重測。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檢核：學員理解本堂 Web 結果的適用邊界，不把尚未測量的 Roblox 案例當成排名或數據。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 Lovable，它的價值還包含網站完成後的發布與整合。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Wolke：Roblox Studio AI 協作開發大全</a:t>
            </a:r>
          </a:p>
          <a:p xmlns:a="http://schemas.openxmlformats.org/drawingml/2006/main">
            <a:r>
              <a:t>https://ithelp.ithome.com.tw/users/20046160/ironman/9450</a:t>
            </a:r>
          </a:p>
          <a:p xmlns:a="http://schemas.openxmlformats.org/drawingml/2006/main">
            <a:r>
              <a:t>講師提供：原投稿題目與改題經過</a:t>
            </a:r>
          </a:p>
          <a:p xmlns:a="http://schemas.openxmlformats.org/drawingml/2006/main">
            <a:r>
              <a:t>../materials/bonus-content.md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做好作品後，可以直接發布到平台提供的 lovable.app 網址。畫面上的 project-name 只是格式示意，沒有替大家建立新網站。平台提供託管，因此課堂原型可以很快分享。要分清楚編輯中的預覽和正式站，後來改完程式碼還要再次發布，正式站才會更新。付費方案可以連接自己購買的網域。發布後仍要開正式網址，測一次登入、資料與核心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操作：指認範例網域、發布及再次發布。時間充裕可開系列第 17 篇看發布流程；示範僅查看設定，依講師既有專案狀態決定是否發布。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檢核：學員能說出預覽、發布與再次更新的差別，知道自有網域是選項。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轉場：能快速發布，是因為平台已整合許多原本需要自己接起來的工具。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Wolke：發布、網域與正式上線</a:t>
            </a:r>
          </a:p>
          <a:p xmlns:a="http://schemas.openxmlformats.org/drawingml/2006/main">
            <a:r>
              <a:t>https://ithelp.ithome.com.tw/articles/10406635</a:t>
            </a:r>
          </a:p>
          <a:p xmlns:a="http://schemas.openxmlformats.org/drawingml/2006/main">
            <a:r>
              <a:t>Lovable Publishing</a:t>
            </a:r>
          </a:p>
          <a:p xmlns:a="http://schemas.openxmlformats.org/drawingml/2006/main">
            <a:r>
              <a:t>https://docs.lovable.dev/features/publish</a:t>
            </a:r>
          </a:p>
          <a:p xmlns:a="http://schemas.openxmlformats.org/drawingml/2006/main">
            <a:r>
              <a:t>Lovable Cloud</a:t>
            </a:r>
          </a:p>
          <a:p xmlns:a="http://schemas.openxmlformats.org/drawingml/2006/main">
            <a:r>
              <a:t>https://docs.lovable.dev/features/cloud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講述：依我的系列第一篇，Lovable 的重點是把需求討論、開發、後端資源、檢查與發布串成完整流程。Plan 用來先討論需求與安排工作，Build 再讓 Agent 修改專案。Cloud 提供資料庫、登入、儲存和後端函式。測試與安全工具幫忙檢查，但使用者仍要驗收核心流程。GitHub 同步程式碼，可以接續版本管理。因此平台費用不能只看每次生成用了多少 token，也要觀察自己省下多少設定與整合工時。Cloud、AI 及第三方服務的用量依方案分開核對，不假設都包含或無上限。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操作：用收藏器延伸「加會員登入、上傳檔案、保存雲端資料」的例子，讓學員說明哪部分可能省去整合工作。這些不加入今天的必做需求。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檢核：學員知道生成程式碼以外的平台工作，也理解發布前驗收仍由自己負責。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轉場：需要其他公司的資料與功能時，就會用到 connectors。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Wolke：Lovable 到底強在哪裡</a:t>
            </a:r>
          </a:p>
          <a:p xmlns:a="http://schemas.openxmlformats.org/drawingml/2006/main">
            <a:r>
              <a:t>https://ithelp.ithome.com.tw/articles/10406618</a:t>
            </a:r>
          </a:p>
          <a:p xmlns:a="http://schemas.openxmlformats.org/drawingml/2006/main">
            <a:r>
              <a:t>Lovable Cloud</a:t>
            </a:r>
          </a:p>
          <a:p xmlns:a="http://schemas.openxmlformats.org/drawingml/2006/main">
            <a:r>
              <a:t>https://docs.lovable.dev/features/cloud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已整合許多其他公司的服務，例如 Notion、Google Workspace、Slack 和 Resend。依現在的官方文件，連線有不同用途。App + chat 是共用連線，能供成品執行時或建置對話使用。Chat connector，也就是 MCP，是個人在建置時參考的上下文，不會隨成品部署。App user 則是每位使用者登入自己的第三方帳號授權。不是每個服務都支援全部類型。Connector 降低整合工作，但仍然需要帳號授權、正確權限及費用確認。像 Resend 的郵件寄送，就要連接自己的服務帳號，使用量依第三方方案核對。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操作：以「建置時讀 Notion 需求文件」與「成品 App 寫入 Notion」兩個例子對照。邀請學員判斷需要的連線類型，不在現場授權真實帳號或寄送訊息。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檢核：學員能區分建置上下文與成品功能，並知道共用帳號和每位使用者授權不同。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轉場：這些操作在系列裡都有延伸說明，最後歡迎掃碼訂閱。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Wolke：Paddle 金流、Email、AI 與第三方整合</a:t>
            </a:r>
          </a:p>
          <a:p xmlns:a="http://schemas.openxmlformats.org/drawingml/2006/main">
            <a:r>
              <a:t>https://ithelp.ithome.com.tw/articles/10406629</a:t>
            </a:r>
          </a:p>
          <a:p xmlns:a="http://schemas.openxmlformats.org/drawingml/2006/main">
            <a:r>
              <a:t>Lovable Integrations</a:t>
            </a:r>
          </a:p>
          <a:p xmlns:a="http://schemas.openxmlformats.org/drawingml/2006/main">
            <a:r>
              <a:t>https://docs.lovable.dev/integrations/introduction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時間：結尾，約 1 分鐘；可從第 32 頁直接跳入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講述：左邊是 Roblox Studio AI 協作開發大全，右邊是 Lovable：地球上最強的 AI 生成全端網站 Agentic 開發實戰。掃碼後會開啟各系列頁，登入 iT 邦幫忙後可以點訂閱系列文。歡迎沿用今天的框架，拿你在意的任務去試其他工具，留下自己的觀察。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操作：停留約 45–60 秒讓學員掃碼。若沒有選講時間，Q&amp;A 結束後直接跳這頁。網址亦可點選，另有教材中的 QR 展示頁與 PNG／SVG。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檢核：後排能掃描；學員知道掃碼開啟系列頁後，仍需自行點選訂閱。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轉場：謝謝大家，歡迎課後交流實作心得。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Wolke：Roblox Studio AI 協作開發大全</a:t>
            </a:r>
          </a:p>
          <a:p xmlns:a="http://schemas.openxmlformats.org/drawingml/2006/main">
            <a:r>
              <a:t>https://ithelp.ithome.com.tw/users/20046160/ironman/9450</a:t>
            </a:r>
          </a:p>
          <a:p xmlns:a="http://schemas.openxmlformats.org/drawingml/2006/main">
            <a:r>
              <a:t>Wolke：Lovable 全端網站 Agentic 開發實戰</a:t>
            </a:r>
          </a:p>
          <a:p xmlns:a="http://schemas.openxmlformats.org/drawingml/2006/main">
            <a:r>
              <a:t>https://ithelp.ithome.com.tw/users/20046160/ironman/9449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854a6f8e6a45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9ea3c0e2a945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176e68468e44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e564daf864d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f8b4e3a21d42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f374343574f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F1C6E9-4CB3-4A75-BC3F-6935EB45B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E2E2A9-2E9B-4F03-998A-278DC7B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1902D0-541C-4BD6-8DA2-06CF6DBFF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6A4F12-8166-43D3-A467-8421C9365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F9F0D5-867A-4D95-9ED7-47B831E51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FF615C-E31E-43E8-AD6A-F2714513D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320EC9-EF31-475B-8259-639F62BABE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5D494F-AA88-4704-926E-9F2F987119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901014-A8C4-46E2-9A31-842DFAB5C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CF4C6C-B686-4422-9F4D-B4E1AC46B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edb5d1d0f0469c" /><Relationship Type="http://schemas.openxmlformats.org/officeDocument/2006/relationships/slideLayout" Target="/ppt/slideLayouts/slideLayout1.xml" Id="Rf0bcfee9a0944529" /><Relationship Type="http://schemas.openxmlformats.org/officeDocument/2006/relationships/slideLayout" Target="/ppt/slideLayouts/slideLayout2.xml" Id="Rbcb3658c77084192" /><Relationship Type="http://schemas.openxmlformats.org/officeDocument/2006/relationships/slideLayout" Target="/ppt/slideLayouts/slideLayout3.xml" Id="R02a8a421cbe84fa1" /><Relationship Type="http://schemas.openxmlformats.org/officeDocument/2006/relationships/slideLayout" Target="/ppt/slideLayouts/slideLayout4.xml" Id="R8dc03b810d5d41c3" /><Relationship Type="http://schemas.openxmlformats.org/officeDocument/2006/relationships/slideLayout" Target="/ppt/slideLayouts/slideLayout5.xml" Id="Ra9f5a23076ac4fa4" /><Relationship Type="http://schemas.openxmlformats.org/officeDocument/2006/relationships/slideLayout" Target="/ppt/slideLayouts/slideLayout6.xml" Id="Rfe72d6c282ee4a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bcfee9a0944529"/>
    <p:sldLayoutId xmlns:r="http://schemas.openxmlformats.org/officeDocument/2006/relationships" id="2147483650" r:id="Rbcb3658c77084192"/>
    <p:sldLayoutId xmlns:r="http://schemas.openxmlformats.org/officeDocument/2006/relationships" id="2147483651" r:id="R02a8a421cbe84fa1"/>
    <p:sldLayoutId xmlns:r="http://schemas.openxmlformats.org/officeDocument/2006/relationships" id="2147483652" r:id="R8dc03b810d5d41c3"/>
    <p:sldLayoutId xmlns:r="http://schemas.openxmlformats.org/officeDocument/2006/relationships" id="2147483653" r:id="Ra9f5a23076ac4fa4"/>
    <p:sldLayoutId xmlns:r="http://schemas.openxmlformats.org/officeDocument/2006/relationships" id="2147483654" r:id="Rfe72d6c282ee4a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aca4b7548849b6" /><Relationship Type="http://schemas.openxmlformats.org/officeDocument/2006/relationships/notesSlide" Target="/ppt/notesSlides/notesSlide1.xml" Id="Rba045e22287e42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8cff7fc80b454c" /><Relationship Type="http://schemas.openxmlformats.org/officeDocument/2006/relationships/notesSlide" Target="/ppt/notesSlides/notesSlide2.xml" Id="Rf2df444c9f6a4c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0aa588224442bb" /><Relationship Type="http://schemas.openxmlformats.org/officeDocument/2006/relationships/image" Target="/ppt/media/image.png" Id="R66738c390b6d4bc3" /><Relationship Type="http://schemas.openxmlformats.org/officeDocument/2006/relationships/hyperlink" Target="https://forms.gle/pt3nLWy622sYTfsG6" TargetMode="External" Id="R95b6cdcab6064d15" /><Relationship Type="http://schemas.openxmlformats.org/officeDocument/2006/relationships/notesSlide" Target="/ppt/notesSlides/notesSlide3.xml" Id="R02db5508662a42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26a00478684b1c" /><Relationship Type="http://schemas.openxmlformats.org/officeDocument/2006/relationships/notesSlide" Target="/ppt/notesSlides/notesSlide4.xml" Id="R9e7dd3e51a1441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8de67b83f9445e" /><Relationship Type="http://schemas.openxmlformats.org/officeDocument/2006/relationships/image" Target="/ppt/media/image2.png" Id="R98b0ba382ecb4af6" /><Relationship Type="http://schemas.openxmlformats.org/officeDocument/2006/relationships/hyperlink" Target="https://medium.com/@wolkesau" TargetMode="External" Id="Rcbccbef9b6a84b53" /><Relationship Type="http://schemas.openxmlformats.org/officeDocument/2006/relationships/image" Target="/ppt/media/image3.png" Id="Re53dea453e924b0c" /><Relationship Type="http://schemas.openxmlformats.org/officeDocument/2006/relationships/hyperlink" Target="https://medium.com/@wolkesau" TargetMode="External" Id="R2cf330efe1154fe7" /><Relationship Type="http://schemas.openxmlformats.org/officeDocument/2006/relationships/notesSlide" Target="/ppt/notesSlides/notesSlide5.xml" Id="R10ca6c087a5d48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2695dc4ca047b8" /><Relationship Type="http://schemas.openxmlformats.org/officeDocument/2006/relationships/image" Target="/ppt/media/image4.png" Id="Rc38135c07b4c4c19" /><Relationship Type="http://schemas.openxmlformats.org/officeDocument/2006/relationships/notesSlide" Target="/ppt/notesSlides/notesSlide6.xml" Id="Rd0ec757366ec40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6044d7d55479e" /><Relationship Type="http://schemas.openxmlformats.org/officeDocument/2006/relationships/notesSlide" Target="/ppt/notesSlides/notesSlide7.xml" Id="Ree232e5707f143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1abad4ac074369" /><Relationship Type="http://schemas.openxmlformats.org/officeDocument/2006/relationships/notesSlide" Target="/ppt/notesSlides/notesSlide8.xml" Id="R60bd3a20b3ee4d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936b2f176a4246" /><Relationship Type="http://schemas.openxmlformats.org/officeDocument/2006/relationships/notesSlide" Target="/ppt/notesSlides/notesSlide9.xml" Id="R9d3e56f807814e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aa49507eb44e1f" /><Relationship Type="http://schemas.openxmlformats.org/officeDocument/2006/relationships/notesSlide" Target="/ppt/notesSlides/notesSlide10.xml" Id="R3b07918e98af4c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3a8c955684322" /><Relationship Type="http://schemas.openxmlformats.org/officeDocument/2006/relationships/notesSlide" Target="/ppt/notesSlides/notesSlide11.xml" Id="Rf500643f4f9248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f20585faa4060" /><Relationship Type="http://schemas.openxmlformats.org/officeDocument/2006/relationships/hyperlink" Target="https://hwdc.ithome.com.tw/2026/agenda" TargetMode="External" Id="Rc857d26b5a414f37" /><Relationship Type="http://schemas.openxmlformats.org/officeDocument/2006/relationships/hyperlink" Target="https://github.com/Wolke/hwdc-2026-ai-cli-vs-lovable/blob/main/HWDC-workshop/materials/hwdc-agenda-2026.json" TargetMode="External" Id="R94151d59b97244e5" /><Relationship Type="http://schemas.openxmlformats.org/officeDocument/2006/relationships/hyperlink" Target="https://github.com/Wolke/hwdc-2026-ai-cli-vs-lovable/blob/main/HWDC-workshop/materials/hwdc-agenda-2026.json" TargetMode="External" Id="R012de996f54a4189" /><Relationship Type="http://schemas.openxmlformats.org/officeDocument/2006/relationships/notesSlide" Target="/ppt/notesSlides/notesSlide12.xml" Id="R59c9b8db31db4e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de4e7dd9774b27" /><Relationship Type="http://schemas.openxmlformats.org/officeDocument/2006/relationships/notesSlide" Target="/ppt/notesSlides/notesSlide13.xml" Id="R91bbe0bd8c6f4e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aec5305da243cd" /><Relationship Type="http://schemas.openxmlformats.org/officeDocument/2006/relationships/image" Target="/ppt/media/image5.png" Id="R0e679feb70ab4051" /><Relationship Type="http://schemas.openxmlformats.org/officeDocument/2006/relationships/notesSlide" Target="/ppt/notesSlides/notesSlide14.xml" Id="R64addfcb658d42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b6ca9d6ab4deb" /><Relationship Type="http://schemas.openxmlformats.org/officeDocument/2006/relationships/notesSlide" Target="/ppt/notesSlides/notesSlide15.xml" Id="Rab60f5f53bd048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d880d154ca4d57" /><Relationship Type="http://schemas.openxmlformats.org/officeDocument/2006/relationships/notesSlide" Target="/ppt/notesSlides/notesSlide16.xml" Id="R4fec30d125204f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3d3741ac8145bd" /><Relationship Type="http://schemas.openxmlformats.org/officeDocument/2006/relationships/notesSlide" Target="/ppt/notesSlides/notesSlide17.xml" Id="R078991d234064f0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9bbc6df7d942b2" /><Relationship Type="http://schemas.openxmlformats.org/officeDocument/2006/relationships/notesSlide" Target="/ppt/notesSlides/notesSlide18.xml" Id="R8871c6c2407743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70651d9dd44239" /><Relationship Type="http://schemas.openxmlformats.org/officeDocument/2006/relationships/image" Target="/ppt/media/image6.png" Id="R912c56930b9445c6" /><Relationship Type="http://schemas.openxmlformats.org/officeDocument/2006/relationships/notesSlide" Target="/ppt/notesSlides/notesSlide19.xml" Id="Rb0c341cf331741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49e20400f14147" /><Relationship Type="http://schemas.openxmlformats.org/officeDocument/2006/relationships/image" Target="/ppt/media/image7.png" Id="R11a5de3d80f04f60" /><Relationship Type="http://schemas.openxmlformats.org/officeDocument/2006/relationships/notesSlide" Target="/ppt/notesSlides/notesSlide20.xml" Id="R6a694345b0b34d3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02fe42956b4b65" /><Relationship Type="http://schemas.openxmlformats.org/officeDocument/2006/relationships/notesSlide" Target="/ppt/notesSlides/notesSlide21.xml" Id="Rf34a58f835ac4d2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73be1cb30a4ba9" /><Relationship Type="http://schemas.openxmlformats.org/officeDocument/2006/relationships/notesSlide" Target="/ppt/notesSlides/notesSlide22.xml" Id="R9d00c88073a9414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49c501045341f1" /><Relationship Type="http://schemas.openxmlformats.org/officeDocument/2006/relationships/notesSlide" Target="/ppt/notesSlides/notesSlide23.xml" Id="R1ebd80b49c31457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8eb195411b49e7" /><Relationship Type="http://schemas.openxmlformats.org/officeDocument/2006/relationships/image" Target="/ppt/media/image8.png" Id="R726bb7b788f4440a" /><Relationship Type="http://schemas.openxmlformats.org/officeDocument/2006/relationships/notesSlide" Target="/ppt/notesSlides/notesSlide24.xml" Id="R4e82bab260a84c6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6564bb21ea41c1" /><Relationship Type="http://schemas.openxmlformats.org/officeDocument/2006/relationships/notesSlide" Target="/ppt/notesSlides/notesSlide25.xml" Id="R30acc9d0c93c456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fa28de64374701" /><Relationship Type="http://schemas.openxmlformats.org/officeDocument/2006/relationships/notesSlide" Target="/ppt/notesSlides/notesSlide26.xml" Id="Rbf14eb794ca4469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63dc6f1b574f6c" /><Relationship Type="http://schemas.openxmlformats.org/officeDocument/2006/relationships/hyperlink" Target="https://docs.lovable.dev/introduction/subscription-plans" TargetMode="External" Id="R57db428371d64f0e" /><Relationship Type="http://schemas.openxmlformats.org/officeDocument/2006/relationships/hyperlink" Target="https://learn.chatgpt.com/docs/pricing" TargetMode="External" Id="Rae7dd4245bc74c67" /><Relationship Type="http://schemas.openxmlformats.org/officeDocument/2006/relationships/notesSlide" Target="/ppt/notesSlides/notesSlide27.xml" Id="Ra04dada8a4984ea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4d8c95e056470f" /><Relationship Type="http://schemas.openxmlformats.org/officeDocument/2006/relationships/image" Target="/ppt/media/image9.png" Id="R9d3621c85060493e" /><Relationship Type="http://schemas.openxmlformats.org/officeDocument/2006/relationships/notesSlide" Target="/ppt/notesSlides/notesSlide28.xml" Id="Rc48690988fe84e9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640746a894bc5" /><Relationship Type="http://schemas.openxmlformats.org/officeDocument/2006/relationships/notesSlide" Target="/ppt/notesSlides/notesSlide29.xml" Id="R5644b4c043e64ff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3f6628b35442a3" /><Relationship Type="http://schemas.openxmlformats.org/officeDocument/2006/relationships/notesSlide" Target="/ppt/notesSlides/notesSlide30.xml" Id="R930c17c1328441f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ae371bd0184461" /><Relationship Type="http://schemas.openxmlformats.org/officeDocument/2006/relationships/notesSlide" Target="/ppt/notesSlides/notesSlide31.xml" Id="Rc2a2b8f903774b6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93b629f2394c9a" /><Relationship Type="http://schemas.openxmlformats.org/officeDocument/2006/relationships/notesSlide" Target="/ppt/notesSlides/notesSlide32.xml" Id="Rd6475e054b954a8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fa4e707014abd" /><Relationship Type="http://schemas.openxmlformats.org/officeDocument/2006/relationships/notesSlide" Target="/ppt/notesSlides/notesSlide33.xml" Id="Rd923dfb3e03443d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57a3fa30eb4284" /><Relationship Type="http://schemas.openxmlformats.org/officeDocument/2006/relationships/notesSlide" Target="/ppt/notesSlides/notesSlide34.xml" Id="R3320dfc2774d407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8a8220b61d45c0" /><Relationship Type="http://schemas.openxmlformats.org/officeDocument/2006/relationships/image" Target="/ppt/media/image10.png" Id="Raa6b212fe41d4b1d" /><Relationship Type="http://schemas.openxmlformats.org/officeDocument/2006/relationships/hyperlink" Target="https://forms.gle/pt3nLWy622sYTfsG6" TargetMode="External" Id="R3485dd60f42045b9" /><Relationship Type="http://schemas.openxmlformats.org/officeDocument/2006/relationships/hyperlink" Target="https://forms.gle/pt3nLWy622sYTfsG6" TargetMode="External" Id="Rc411d2b5cc0642ed" /><Relationship Type="http://schemas.openxmlformats.org/officeDocument/2006/relationships/notesSlide" Target="/ppt/notesSlides/notesSlide35.xml" Id="Ra3ecf99d297f4b9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b768a08d7e41b2" /><Relationship Type="http://schemas.openxmlformats.org/officeDocument/2006/relationships/hyperlink" Target="https://www.rfc-editor.org/rfc/rfc5545" TargetMode="External" Id="R8b971f81138a47af" /><Relationship Type="http://schemas.openxmlformats.org/officeDocument/2006/relationships/notesSlide" Target="/ppt/notesSlides/notesSlide36.xml" Id="R36c214e2de6b470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719a2acc944d8b" /><Relationship Type="http://schemas.openxmlformats.org/officeDocument/2006/relationships/notesSlide" Target="/ppt/notesSlides/notesSlide37.xml" Id="R81e7021a80754aa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01c095206040bd" /><Relationship Type="http://schemas.openxmlformats.org/officeDocument/2006/relationships/hyperlink" Target="https://hwdc.ithome.com.tw/2026/agenda" TargetMode="External" Id="R9571bbcf42434b1a" /><Relationship Type="http://schemas.openxmlformats.org/officeDocument/2006/relationships/hyperlink" Target="https://docs.lovable.dev/introduction/faq" TargetMode="External" Id="R8b37463385464133" /><Relationship Type="http://schemas.openxmlformats.org/officeDocument/2006/relationships/hyperlink" Target="https://docs.lovable.dev/introduction/credits-and-usage" TargetMode="External" Id="R02ae8b1377984b55" /><Relationship Type="http://schemas.openxmlformats.org/officeDocument/2006/relationships/hyperlink" Target="https://learn.chatgpt.com/docs/quickstart" TargetMode="External" Id="Rf0c47a98b482432c" /><Relationship Type="http://schemas.openxmlformats.org/officeDocument/2006/relationships/hyperlink" Target="https://learn.chatgpt.com/docs/auth" TargetMode="External" Id="Rf18b91e345e54d9c" /><Relationship Type="http://schemas.openxmlformats.org/officeDocument/2006/relationships/hyperlink" Target="https://www.rfc-editor.org/rfc/rfc5545" TargetMode="External" Id="Rf80fedabe9214c98" /><Relationship Type="http://schemas.openxmlformats.org/officeDocument/2006/relationships/notesSlide" Target="/ppt/notesSlides/notesSlide38.xml" Id="R46229d49e85544d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6c660d81724ab6" /><Relationship Type="http://schemas.openxmlformats.org/officeDocument/2006/relationships/notesSlide" Target="/ppt/notesSlides/notesSlide39.xml" Id="Rd2bc0c5642384d5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d76e068ab4740" /><Relationship Type="http://schemas.openxmlformats.org/officeDocument/2006/relationships/notesSlide" Target="/ppt/notesSlides/notesSlide40.xml" Id="Rf71d1e26d3cd4e8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019c41b2a4613" /><Relationship Type="http://schemas.openxmlformats.org/officeDocument/2006/relationships/hyperlink" Target="https://ithelp.ithome.com.tw/articles/10406635" TargetMode="External" Id="R65d5d1cb52fe4d11" /><Relationship Type="http://schemas.openxmlformats.org/officeDocument/2006/relationships/notesSlide" Target="/ppt/notesSlides/notesSlide41.xml" Id="R8d766fc993d049e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ec76d0d7574edf" /><Relationship Type="http://schemas.openxmlformats.org/officeDocument/2006/relationships/hyperlink" Target="https://ithelp.ithome.com.tw/articles/10406618" TargetMode="External" Id="R072662dec48b4c4f" /><Relationship Type="http://schemas.openxmlformats.org/officeDocument/2006/relationships/notesSlide" Target="/ppt/notesSlides/notesSlide42.xml" Id="R937a0c63c47d435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1b6b7156f42dc" /><Relationship Type="http://schemas.openxmlformats.org/officeDocument/2006/relationships/hyperlink" Target="https://ithelp.ithome.com.tw/articles/10406629" TargetMode="External" Id="Rcfadb265a89642ea" /><Relationship Type="http://schemas.openxmlformats.org/officeDocument/2006/relationships/notesSlide" Target="/ppt/notesSlides/notesSlide43.xml" Id="Re30b4ae7b32a47c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6c5f51c814dac" /><Relationship Type="http://schemas.openxmlformats.org/officeDocument/2006/relationships/image" Target="/ppt/media/image11.png" Id="R489a9bd62b1544db" /><Relationship Type="http://schemas.openxmlformats.org/officeDocument/2006/relationships/hyperlink" Target="https://ithelp.ithome.com.tw/users/20046160/ironman/9450" TargetMode="External" Id="Rf760c6778f9b4cca" /><Relationship Type="http://schemas.openxmlformats.org/officeDocument/2006/relationships/hyperlink" Target="https://ithelp.ithome.com.tw/users/20046160/ironman/9450" TargetMode="External" Id="Rf84f379854de43a6" /><Relationship Type="http://schemas.openxmlformats.org/officeDocument/2006/relationships/image" Target="/ppt/media/image12.png" Id="R0ad139c8d0ac4264" /><Relationship Type="http://schemas.openxmlformats.org/officeDocument/2006/relationships/hyperlink" Target="https://ithelp.ithome.com.tw/users/20046160/ironman/9449" TargetMode="External" Id="Rb71c7f1db1914eee" /><Relationship Type="http://schemas.openxmlformats.org/officeDocument/2006/relationships/hyperlink" Target="https://ithelp.ithome.com.tw/users/20046160/ironman/9449" TargetMode="External" Id="Rce26a7be685f46c7" /><Relationship Type="http://schemas.openxmlformats.org/officeDocument/2006/relationships/notesSlide" Target="/ppt/notesSlides/notesSlide44.xml" Id="Rba3f65b688294b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F79B50-03C2-4D6C-9BFD-7B4AC476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入場準備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8FE1B2F-E6E1-4DD2-A5B3-4F20A4FF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13:00–13:30　環境準備時間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1250D3-256E-4539-ADA4-9F8D9F19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22CECE-E8D0-46AD-ACE8-E841A5A2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帳號已登入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0772FC-A9F7-4E87-B95D-88812E5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Lovable，以及你慣用的通用 AI 工具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53A93E5-DF24-4DC3-8EA4-BBC3FE8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電腦能執行專案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6A4933-D286-4BDD-A30E-2EA49EF9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Node.js、npm、瀏覽器與穩定網路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F616B2B-F0D2-4325-AC5A-6A549AF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教材已解壓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9E2EA5A-B265-42E4-900D-E17C679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先開啟學員講義，再準備空白專案</a:t>
            </a:r>
          </a:p>
        </p:txBody>
      </p:sp>
    </p:spTree>
    <p:extLst>
      <p:ext uri="{BB962C8B-B14F-4D97-AF65-F5344CB8AC3E}">
        <p14:creationId xmlns:p14="http://schemas.microsoft.com/office/powerpoint/2010/main" val="523765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A6D09E17-FB4C-4A9C-96C9-E2798BB4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教材與起始專案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82C77A-7505-4BC6-B5B1-2DFA100E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先把空白頁跑起來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F3E6B9-0889-48FE-8971-099F041C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47A879-821D-4549-859F-0DD1E0D8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1DDB5E5-9C05-491A-815E-8F27622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解壓 starter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B39F20-EAD5-4EF9-8487-EB27F3CA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空白工具鏈與 70 筆 HWDC 公開議程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E063854-86DA-419B-B337-DA9A16E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20D467E-47DD-48E4-847F-3F0E3CD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ci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577ADD8-E736-4D68-B60C-D1EDDFFD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第一次安裝需要網路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975ACB-78C5-4713-ADEC-69A714F6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AFE9DD2-A16C-4D56-B2E1-73BD6E4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run dev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1155778-6C21-4F58-8869-E6BD046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開啟終端機顯示的本機網址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87E8A3D-D7BE-4A79-93DC-1CD7C9F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看到「環境已就緒」後，保留這份空白起點</a:t>
            </a:r>
          </a:p>
        </p:txBody>
      </p:sp>
    </p:spTree>
    <p:extLst>
      <p:ext uri="{BB962C8B-B14F-4D97-AF65-F5344CB8AC3E}">
        <p14:creationId xmlns:p14="http://schemas.microsoft.com/office/powerpoint/2010/main" val="1752955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3D76228-EBEE-4549-9390-18041C2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額度不足？申請加入群組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5E80DA-8A40-42FD-999F-8454E0D8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2" name="v7-2">
            <a:extLst xmlns:a="http://schemas.openxmlformats.org/drawingml/2006/main">
              <a:ext uri="{FF2B5EF4-FFF2-40B4-BE49-F238E27FC236}">
                <a16:creationId xmlns:a16="http://schemas.microsoft.com/office/drawing/2014/main" id="{8E075EC0-CA89-4F2A-8494-8B3A2AE1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今天的 5 點已用完，或可用額度不足時再填寫</a:t>
            </a:r>
          </a:p>
        </p:txBody>
      </p:sp>
      <p:sp>
        <p:nvSpPr>
          <p:cNvPr id="13" name="v7-3">
            <a:extLst xmlns:a="http://schemas.openxmlformats.org/drawingml/2006/main">
              <a:ext uri="{FF2B5EF4-FFF2-40B4-BE49-F238E27FC236}">
                <a16:creationId xmlns:a16="http://schemas.microsoft.com/office/drawing/2014/main" id="{7BD89B64-476D-4931-83E5-86DD1027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　掃右側 QR Code</a:t>
            </a:r>
          </a:p>
        </p:txBody>
      </p:sp>
      <p:sp>
        <p:nvSpPr>
          <p:cNvPr id="14" name="v7-4">
            <a:extLst xmlns:a="http://schemas.openxmlformats.org/drawingml/2006/main">
              <a:ext uri="{FF2B5EF4-FFF2-40B4-BE49-F238E27FC236}">
                <a16:creationId xmlns:a16="http://schemas.microsoft.com/office/drawing/2014/main" id="{FC36FA73-68C9-46B4-ADE5-C588CBB0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2　填入 Lovable 登入 email</a:t>
            </a:r>
          </a:p>
        </p:txBody>
      </p:sp>
      <p:sp>
        <p:nvSpPr>
          <p:cNvPr id="15" name="v7-5">
            <a:extLst xmlns:a="http://schemas.openxmlformats.org/drawingml/2006/main">
              <a:ext uri="{FF2B5EF4-FFF2-40B4-BE49-F238E27FC236}">
                <a16:creationId xmlns:a16="http://schemas.microsoft.com/office/drawing/2014/main" id="{9FEDF7DA-786D-4A9F-8AC6-497DF86F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3　向講師示意，留意邀請信</a:t>
            </a:r>
          </a:p>
        </p:txBody>
      </p:sp>
      <p:sp>
        <p:nvSpPr>
          <p:cNvPr id="16" name="v7-6">
            <a:extLst xmlns:a="http://schemas.openxmlformats.org/drawingml/2006/main">
              <a:ext uri="{FF2B5EF4-FFF2-40B4-BE49-F238E27FC236}">
                <a16:creationId xmlns:a16="http://schemas.microsoft.com/office/drawing/2014/main" id="{03424CBD-6964-4AEA-9643-3490FCFB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0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0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依邀請信完成加入後，再確認可繼續實作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5BC12-BCB7-4044-80EE-621083ADA3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38c390b6d4bc3"/>
          <a:stretch xmlns:a="http://schemas.openxmlformats.org/drawingml/2006/main"/>
        </p:blipFill>
        <p:spPr>
          <a:xfrm xmlns:a="http://schemas.openxmlformats.org/drawingml/2006/main">
            <a:off x="7620000" y="1924050"/>
            <a:ext cx="3619500" cy="3619500"/>
          </a:xfrm>
          <a:prstGeom xmlns:a="http://schemas.openxmlformats.org/drawingml/2006/main" prst="rect">
            <a:avLst/>
          </a:prstGeom>
        </p:spPr>
      </p:pic>
      <p:sp>
        <p:nvSpPr>
          <p:cNvPr id="18" name="v7-7">
            <a:extLst xmlns:a="http://schemas.openxmlformats.org/drawingml/2006/main">
              <a:ext uri="{FF2B5EF4-FFF2-40B4-BE49-F238E27FC236}">
                <a16:creationId xmlns:a16="http://schemas.microsoft.com/office/drawing/2014/main" id="{8821008C-C29F-4CA1-B7D1-F2CD6500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6959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95b6cdcab6064d15"/>
              </a:rPr>
              <a:t>https://forms.gle/pt3nLWy622sYTfsG6</a:t>
            </a:r>
          </a:p>
        </p:txBody>
      </p:sp>
      <p:sp>
        <p:nvSpPr>
          <p:cNvPr id="19" name="v7-8">
            <a:extLst xmlns:a="http://schemas.openxmlformats.org/drawingml/2006/main">
              <a:ext uri="{FF2B5EF4-FFF2-40B4-BE49-F238E27FC236}">
                <a16:creationId xmlns:a16="http://schemas.microsoft.com/office/drawing/2014/main" id="{ABD8129B-5393-49A1-BAB7-8599DFE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仍卡關超過 2 分鐘，保留紀錄並改用離線參考版</a:t>
            </a:r>
          </a:p>
        </p:txBody>
      </p:sp>
    </p:spTree>
    <p:extLst>
      <p:ext uri="{BB962C8B-B14F-4D97-AF65-F5344CB8AC3E}">
        <p14:creationId xmlns:p14="http://schemas.microsoft.com/office/powerpoint/2010/main" val="2107412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544249C-15E6-429E-A759-7E8FE0AD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HWDC 2026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1B6FC9-A900-4A67-B5DE-BCC7508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 AI CLI vs.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場景專用 AI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3E68E5-6303-4E6B-B2D1-561791BA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以 Lovable Web 開發為例的效能實測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C4860C-9370-407E-861C-F083D190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林建宏 Wolke Lin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C8D719-1D9B-4439-BE4E-DD9676E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HWDC 2026　10/14　13:30–15:00</a:t>
            </a:r>
          </a:p>
        </p:txBody>
      </p:sp>
      <p:sp>
        <p:nvSpPr>
          <p:cNvPr id="9" name="speaker-medium">
            <a:extLst xmlns:a="http://schemas.openxmlformats.org/drawingml/2006/main">
              <a:ext uri="{FF2B5EF4-FFF2-40B4-BE49-F238E27FC236}">
                <a16:creationId xmlns:a16="http://schemas.microsoft.com/office/drawing/2014/main" id="{AA9927DC-7BDF-4DC1-AE89-0911063E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medium.com/@wolkesau</a:t>
            </a:r>
          </a:p>
        </p:txBody>
      </p:sp>
    </p:spTree>
    <p:extLst>
      <p:ext uri="{BB962C8B-B14F-4D97-AF65-F5344CB8AC3E}">
        <p14:creationId xmlns:p14="http://schemas.microsoft.com/office/powerpoint/2010/main" val="581598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F5A15BB-0FF2-416B-9FEA-8BC598FA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關於我：林建宏 Wolke Lin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AEDAC5-4B7B-452B-B395-1CE53784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10" name="v8-2">
            <a:extLst xmlns:a="http://schemas.openxmlformats.org/drawingml/2006/main">
              <a:ext uri="{FF2B5EF4-FFF2-40B4-BE49-F238E27FC236}">
                <a16:creationId xmlns:a16="http://schemas.microsoft.com/office/drawing/2014/main" id="{1D850AAF-7079-400E-BE56-9C5F24A5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分享 AI 協作與程式開發經驗，讓更多人動手做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900EE-A378-4419-A107-F34B910712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0ba382ecb4af6"/>
          <a:stretch xmlns:a="http://schemas.openxmlformats.org/drawingml/2006/main"/>
        </p:blipFill>
        <p:spPr>
          <a:xfrm xmlns:a="http://schemas.openxmlformats.org/drawingml/2006/main">
            <a:off x="685800" y="192405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12" name="v8-3">
            <a:extLst xmlns:a="http://schemas.openxmlformats.org/drawingml/2006/main">
              <a:ext uri="{FF2B5EF4-FFF2-40B4-BE49-F238E27FC236}">
                <a16:creationId xmlns:a16="http://schemas.microsoft.com/office/drawing/2014/main" id="{235B836A-608E-4FE8-BEE0-04E40926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啟發者</a:t>
            </a:r>
          </a:p>
        </p:txBody>
      </p:sp>
      <p:sp>
        <p:nvSpPr>
          <p:cNvPr id="15" name="v8-6">
            <a:extLst xmlns:a="http://schemas.openxmlformats.org/drawingml/2006/main">
              <a:ext uri="{FF2B5EF4-FFF2-40B4-BE49-F238E27FC236}">
                <a16:creationId xmlns:a16="http://schemas.microsoft.com/office/drawing/2014/main" id="{553B63C0-FD50-4004-950E-FB66A66D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62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技術書作者</a:t>
            </a:r>
          </a:p>
        </p:txBody>
      </p:sp>
      <p:sp>
        <p:nvSpPr>
          <p:cNvPr id="16" name="v8-7">
            <a:extLst xmlns:a="http://schemas.openxmlformats.org/drawingml/2006/main">
              <a:ext uri="{FF2B5EF4-FFF2-40B4-BE49-F238E27FC236}">
                <a16:creationId xmlns:a16="http://schemas.microsoft.com/office/drawing/2014/main" id="{BFC8F4A5-3952-407E-A449-CD7326F7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00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大學講師、社群與論壇講者</a:t>
            </a:r>
          </a:p>
        </p:txBody>
      </p:sp>
      <p:sp>
        <p:nvSpPr>
          <p:cNvPr id="17" name="v8-8">
            <a:extLst xmlns:a="http://schemas.openxmlformats.org/drawingml/2006/main">
              <a:ext uri="{FF2B5EF4-FFF2-40B4-BE49-F238E27FC236}">
                <a16:creationId xmlns:a16="http://schemas.microsoft.com/office/drawing/2014/main" id="{90B44808-D22D-4F59-B45F-806347E7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81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代表著作</a:t>
            </a:r>
          </a:p>
        </p:txBody>
      </p:sp>
      <p:sp>
        <p:nvSpPr>
          <p:cNvPr id="18" name="v8-9">
            <a:extLst xmlns:a="http://schemas.openxmlformats.org/drawingml/2006/main">
              <a:ext uri="{FF2B5EF4-FFF2-40B4-BE49-F238E27FC236}">
                <a16:creationId xmlns:a16="http://schemas.microsoft.com/office/drawing/2014/main" id="{995CDD64-02C8-4AA2-82B9-B4078842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101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《實用的 Gemini API 開發點子書》</a:t>
            </a:r>
          </a:p>
        </p:txBody>
      </p:sp>
      <p:sp>
        <p:nvSpPr>
          <p:cNvPr id="19" name="v8-10">
            <a:extLst xmlns:a="http://schemas.openxmlformats.org/drawingml/2006/main">
              <a:ext uri="{FF2B5EF4-FFF2-40B4-BE49-F238E27FC236}">
                <a16:creationId xmlns:a16="http://schemas.microsoft.com/office/drawing/2014/main" id="{B5B77907-C562-4E9B-98EC-C0FE8551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48275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另著 ChatGPT 程式開發、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LINE 聊天機器人書籍</a:t>
            </a:r>
          </a:p>
        </p:txBody>
      </p:sp>
      <p:sp>
        <p:nvSpPr>
          <p:cNvPr id="20" name="v8-11">
            <a:extLst xmlns:a="http://schemas.openxmlformats.org/drawingml/2006/main">
              <a:ext uri="{FF2B5EF4-FFF2-40B4-BE49-F238E27FC236}">
                <a16:creationId xmlns:a16="http://schemas.microsoft.com/office/drawing/2014/main" id="{EA1A48C2-6C8C-4208-BAFD-294FFED3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cbccbef9b6a84b53"/>
              </a:rPr>
              <a:t>medium.com/@wolkesau</a:t>
            </a:r>
          </a:p>
        </p:txBody>
      </p:sp>
      <p:sp>
        <p:nvSpPr>
          <p:cNvPr id="21" name="v9-11">
            <a:extLst xmlns:a="http://schemas.openxmlformats.org/drawingml/2006/main">
              <a:ext uri="{FF2B5EF4-FFF2-40B4-BE49-F238E27FC236}">
                <a16:creationId xmlns:a16="http://schemas.microsoft.com/office/drawing/2014/main" id="{D5737FD3-8E12-4B22-AA81-8A92CCC8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曾任 Google Developer Expert（2019–2023）</a:t>
            </a:r>
          </a:p>
        </p:txBody>
      </p:sp>
      <p:sp>
        <p:nvSpPr>
          <p:cNvPr id="22" name="v9-11">
            <a:extLst xmlns:a="http://schemas.openxmlformats.org/drawingml/2006/main">
              <a:ext uri="{FF2B5EF4-FFF2-40B4-BE49-F238E27FC236}">
                <a16:creationId xmlns:a16="http://schemas.microsoft.com/office/drawing/2014/main" id="{729AD472-B98D-4538-9929-5F0789FF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曾任 LINE API Expert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5673BE-4A39-47EA-B5AB-8BAD079038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dea453e924b0c"/>
          <a:stretch xmlns:a="http://schemas.openxmlformats.org/drawingml/2006/main"/>
        </p:blipFill>
        <p:spPr>
          <a:xfrm xmlns:a="http://schemas.openxmlformats.org/drawingml/2006/main">
            <a:off x="9372600" y="3829050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24" name="medium-qr-label">
            <a:extLst xmlns:a="http://schemas.openxmlformats.org/drawingml/2006/main">
              <a:ext uri="{FF2B5EF4-FFF2-40B4-BE49-F238E27FC236}">
                <a16:creationId xmlns:a16="http://schemas.microsoft.com/office/drawing/2014/main" id="{92F87D41-B3B1-4F6D-A0C0-B57D04E6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0579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172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2cf330efe1154fe7"/>
              </a:rPr>
              <a:t>掃碼看 Medium</a:t>
            </a:r>
          </a:p>
        </p:txBody>
      </p:sp>
    </p:spTree>
    <p:extLst>
      <p:ext uri="{BB962C8B-B14F-4D97-AF65-F5344CB8AC3E}">
        <p14:creationId xmlns:p14="http://schemas.microsoft.com/office/powerpoint/2010/main" val="1946475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CA123E8-F1C6-46BB-B240-575E283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今天的成品與學習目標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6DBD2D-3B87-431A-9F30-2E30E260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12" name="v8-2">
            <a:extLst xmlns:a="http://schemas.openxmlformats.org/drawingml/2006/main">
              <a:ext uri="{FF2B5EF4-FFF2-40B4-BE49-F238E27FC236}">
                <a16:creationId xmlns:a16="http://schemas.microsoft.com/office/drawing/2014/main" id="{CB695D70-CCDB-457F-B951-730F0C75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研討會議程收藏器：UI 自訂，兩個版本保持一致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EB6C8-8D3B-4D5D-A7EF-BB8A108F28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135c07b4c4c19"/>
          <a:stretch xmlns:a="http://schemas.openxmlformats.org/drawingml/2006/main"/>
        </p:blipFill>
        <p:spPr>
          <a:xfrm xmlns:a="http://schemas.openxmlformats.org/drawingml/2006/main">
            <a:off x="798724" y="1962150"/>
            <a:ext cx="5927302" cy="3905250"/>
          </a:xfrm>
          <a:prstGeom xmlns:a="http://schemas.openxmlformats.org/drawingml/2006/main" prst="rect">
            <a:avLst/>
          </a:prstGeom>
        </p:spPr>
      </p:pic>
      <p:sp>
        <p:nvSpPr>
          <p:cNvPr id="14" name="v8-3">
            <a:extLst xmlns:a="http://schemas.openxmlformats.org/drawingml/2006/main">
              <a:ext uri="{FF2B5EF4-FFF2-40B4-BE49-F238E27FC236}">
                <a16:creationId xmlns:a16="http://schemas.microsoft.com/office/drawing/2014/main" id="{0138A72F-470A-42CD-BDFC-7B2B73D8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716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兩個初版</a:t>
            </a:r>
          </a:p>
        </p:txBody>
      </p:sp>
      <p:sp>
        <p:nvSpPr>
          <p:cNvPr id="15" name="v8-4">
            <a:extLst xmlns:a="http://schemas.openxmlformats.org/drawingml/2006/main">
              <a:ext uri="{FF2B5EF4-FFF2-40B4-BE49-F238E27FC236}">
                <a16:creationId xmlns:a16="http://schemas.microsoft.com/office/drawing/2014/main" id="{B92EF46E-8EE7-410A-A4F8-BF8ECE3E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各用一套工具完成搜尋與收藏</a:t>
            </a:r>
          </a:p>
        </p:txBody>
      </p:sp>
      <p:sp>
        <p:nvSpPr>
          <p:cNvPr id="16" name="v8-5">
            <a:extLst xmlns:a="http://schemas.openxmlformats.org/drawingml/2006/main">
              <a:ext uri="{FF2B5EF4-FFF2-40B4-BE49-F238E27FC236}">
                <a16:creationId xmlns:a16="http://schemas.microsoft.com/office/drawing/2014/main" id="{561A15E0-CEF0-4DFC-A5D4-C65BC548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一次需求變更</a:t>
            </a:r>
          </a:p>
        </p:txBody>
      </p:sp>
      <p:sp>
        <p:nvSpPr>
          <p:cNvPr id="17" name="v8-6">
            <a:extLst xmlns:a="http://schemas.openxmlformats.org/drawingml/2006/main">
              <a:ext uri="{FF2B5EF4-FFF2-40B4-BE49-F238E27FC236}">
                <a16:creationId xmlns:a16="http://schemas.microsoft.com/office/drawing/2014/main" id="{9D20DCDE-67F4-4105-B97C-88AA20E3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0047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加入衝堂提示，再做回歸檢查</a:t>
            </a:r>
          </a:p>
        </p:txBody>
      </p:sp>
      <p:sp>
        <p:nvSpPr>
          <p:cNvPr id="18" name="v8-7">
            <a:extLst xmlns:a="http://schemas.openxmlformats.org/drawingml/2006/main">
              <a:ext uri="{FF2B5EF4-FFF2-40B4-BE49-F238E27FC236}">
                <a16:creationId xmlns:a16="http://schemas.microsoft.com/office/drawing/2014/main" id="{F2B7392F-A0CB-4829-A2C3-5D64719C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196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一份選型理由</a:t>
            </a:r>
          </a:p>
        </p:txBody>
      </p:sp>
      <p:sp>
        <p:nvSpPr>
          <p:cNvPr id="19" name="v8-8">
            <a:extLst xmlns:a="http://schemas.openxmlformats.org/drawingml/2006/main">
              <a:ext uri="{FF2B5EF4-FFF2-40B4-BE49-F238E27FC236}">
                <a16:creationId xmlns:a16="http://schemas.microsoft.com/office/drawing/2014/main" id="{9F86297C-57A1-4A0E-BCCC-1EE8CADD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依完成度、時間與用量比較</a:t>
            </a:r>
          </a:p>
        </p:txBody>
      </p:sp>
      <p:sp>
        <p:nvSpPr>
          <p:cNvPr id="20" name="v8-9">
            <a:extLst xmlns:a="http://schemas.openxmlformats.org/drawingml/2006/main">
              <a:ext uri="{FF2B5EF4-FFF2-40B4-BE49-F238E27FC236}">
                <a16:creationId xmlns:a16="http://schemas.microsoft.com/office/drawing/2014/main" id="{92133129-4A5F-4F04-91E0-FBBF574F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 UI；收藏需在重新整理後保留</a:t>
            </a:r>
          </a:p>
        </p:txBody>
      </p:sp>
    </p:spTree>
    <p:extLst>
      <p:ext uri="{BB962C8B-B14F-4D97-AF65-F5344CB8AC3E}">
        <p14:creationId xmlns:p14="http://schemas.microsoft.com/office/powerpoint/2010/main" val="337735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B7479BF-F720-4A0C-9588-EB6D42B8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通用與場景專用工具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DF29EF-45D3-4E1C-8842-74BDB2B3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以工作範圍與整合方式理解差異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D0BF7F-1CE5-4D52-8DC7-799D4B19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C24A8-F5A4-48EF-BBEC-0D6285B32DFB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095750"/>
                <a:gridCol w="4533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面向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通用開發工具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本次路徑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工作起點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既有目錄與檔案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平台新專案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執行環境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本機工具鏈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平台整合預覽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修改方式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提示、檔案與終端機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提示與平台流程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比較重點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需求、驗收與紀錄相同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技術環境差異另列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668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B42FDB1E-25CA-494F-B1D1-BEB11058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 AI 工具的開發流程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B42234-C273-41D5-99D8-5C35E2CA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788669F-38B1-4925-8771-A8F57586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1142F27-9641-4F4E-8398-10A83782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上傳議程附件、貼短提示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B58D699-DEB8-4CB9-91AF-CF4B726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平台生成、開啟預覽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36A2992-6FAD-4110-9E6F-5B68EC7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56441F3-059E-4309-B26E-BE5FA9E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通用 AI（Codex App）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E5D9AE6-C87C-470A-B5C9-D5D8270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開啟 starter、貼相同提示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6122330-25E9-40DD-BD40-5918D342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Agent 建置、開啟本機預覽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661D19D-D484-477B-BD86-8703837B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047578F-2479-4975-8445-8E37A16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同一份資料與 UX 驗收標準，兩個版本的 UI 保持一致</a:t>
            </a:r>
          </a:p>
        </p:txBody>
      </p:sp>
    </p:spTree>
    <p:extLst>
      <p:ext uri="{BB962C8B-B14F-4D97-AF65-F5344CB8AC3E}">
        <p14:creationId xmlns:p14="http://schemas.microsoft.com/office/powerpoint/2010/main" val="878647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4754084-6F83-4273-8EF0-C9A29695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共同需求與完成標準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788A799-21C7-4C9E-8BD7-F7C54B54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1A3FF-B8B4-4B42-942B-EB55212A5363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762250"/>
                <a:gridCol w="6438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驗收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功能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要看到的結果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A1–A2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清單與搜尋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兩天 70 筆、日期清楚、可搜尋講者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日期與主題篩選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條件同時生效，多標籤皆可查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A4–A5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收藏與我的議程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無重複、可取消、依時間排序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A6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儲存與手機版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重新整理保留、390px 可操作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1F267C6-68FB-4864-88BC-ED9593B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UI 由學員自訂，同一位學員的兩個版本保持一致</a:t>
            </a:r>
          </a:p>
        </p:txBody>
      </p:sp>
    </p:spTree>
    <p:extLst>
      <p:ext uri="{BB962C8B-B14F-4D97-AF65-F5344CB8AC3E}">
        <p14:creationId xmlns:p14="http://schemas.microsoft.com/office/powerpoint/2010/main" val="1618455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77F5A3-730D-457A-88C7-54D9685A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實測規則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0FAC9BC-D55E-4B6A-8350-F217D55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B5D51-2C8B-4D52-A4C3-91D6BA9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4214E8-B70E-44F6-B746-B7CD593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 分鐘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8D69F4-A583-464A-B0E3-96E08827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建置、等待、除錯、驗收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全部計入本輪時間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6103B5A-3E4D-4CA6-AD59-3E1F64D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7964F49-FF1B-491E-88AD-B4103B9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分鐘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8B86E6F-6204-4071-B490-E79D8A3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481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修改與回歸檢查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未完成就記錄截止狀態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669C54A-8019-46FC-B712-2E888E0C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設定時間另計。沒有用量資料時填「未取得」</a:t>
            </a:r>
          </a:p>
        </p:txBody>
      </p:sp>
    </p:spTree>
    <p:extLst>
      <p:ext uri="{BB962C8B-B14F-4D97-AF65-F5344CB8AC3E}">
        <p14:creationId xmlns:p14="http://schemas.microsoft.com/office/powerpoint/2010/main" val="19600046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989A51A-D6E2-4EAA-BFC6-A8A3150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1D2B079-AC25-4BFE-87D4-593D43D9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先上傳 hwdc-agenda-2026.json；附件位置與網址見下一頁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3AA776-0E48-444D-86DD-3E8F052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20A9BBA-C3DF-44E2-8DFD-8D723CA3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不用登入。做好後請開啟預覽，讓我試用。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（UI 由學員自由發揮，但請讓兩個版本保持一致。）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5087F3A-42E0-4341-A126-4DD72219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先自訂 UI，再給兩套工具相同的設計要求</a:t>
            </a:r>
          </a:p>
        </p:txBody>
      </p:sp>
    </p:spTree>
    <p:extLst>
      <p:ext uri="{BB962C8B-B14F-4D97-AF65-F5344CB8AC3E}">
        <p14:creationId xmlns:p14="http://schemas.microsoft.com/office/powerpoint/2010/main" val="150369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660424DD-81E8-4F55-9909-FA480B3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資料附件與來源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428C39-04AE-4063-B5D4-EC2D7A60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AEBFEE-E351-4965-B6DF-001A17EF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下載同一份 JSON，再上傳至 Lovable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D0C38E-F90D-4E92-B829-3698D2C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官方議程（公開來源）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992CD32-7E9F-4AEE-AA21-AAB1144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c857d26b5a414f37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A4BCDB1-DAF4-427F-AFF5-7CE9290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上傳附件：hwdc-agenda-2026.json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49DC622-09AA-48DA-B8F9-1460EDB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教材包位置：HWDC-workshop/materials/hwdc-agenda-2026.json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944C65D-5967-4FC9-9518-493AB870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GitHub 附件（私人 repo，需存取權）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D2BD64-0A0A-45C9-A350-E6DDE369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94151d59b97244e5"/>
              </a:rPr>
              <a:t>https://github.com/Wolke/hwdc-2026-ai-cli-vs-lovable/blob/main/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012de996f54a4189"/>
              </a:rPr>
              <a:t>HWDC-workshop/materials/hwdc-agenda-2026.json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7C3DF7E-876D-4F94-B307-BBD7C27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兩天共 70 筆｜2026-10-13 快照｜兩套工具使用同一份</a:t>
            </a:r>
          </a:p>
        </p:txBody>
      </p:sp>
    </p:spTree>
    <p:extLst>
      <p:ext uri="{BB962C8B-B14F-4D97-AF65-F5344CB8AC3E}">
        <p14:creationId xmlns:p14="http://schemas.microsoft.com/office/powerpoint/2010/main" val="1403638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EF9FD0A-DC75-4CF1-847F-E93204EE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A：Lovable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FDAD60-2A98-4CC3-9F74-AE838B2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初版建置與驗收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F3FE7C-3E69-4392-B7D0-CAA22515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3853A5-EF90-4122-95A8-33E9BB1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AA287C8-A4A1-4D6F-AA5E-F25AE9A6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F571FED-D447-4D7A-B625-330598EB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送出短提示與 HWDC 議程附件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E0B59F-4201-4420-B98C-B59AB384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A1–A6，記下失敗項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FFD8B94-5BB9-4DE0-9EDF-AE2D4E9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保存耗時、追加提示及用量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D611A6-B623-4B09-86AA-D7C4AE6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額度用完：向講師取得群組加入方式；仍卡關時使用離線版</a:t>
            </a:r>
          </a:p>
        </p:txBody>
      </p:sp>
    </p:spTree>
    <p:extLst>
      <p:ext uri="{BB962C8B-B14F-4D97-AF65-F5344CB8AC3E}">
        <p14:creationId xmlns:p14="http://schemas.microsoft.com/office/powerpoint/2010/main" val="238963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A9CFBD3-8EDB-43E1-9FA2-0945138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DFEB14-1555-4FFD-8106-0877621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搜尋、日期與主題條件要一起成立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ED42E19-4891-4BBE-A7FC-6CD21D4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A464D-B70A-44F7-A1F7-B7CEB8F5BD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79feb70ab40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F372EE7-3461-49EE-8199-DB6FA8A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搜尋林建宏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06E2CED-4E0E-4D48-BCF0-6BD9512F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日期選 10/14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ACB6491-2D0E-4260-8137-A5339E56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選相符主題：1 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C83A5AD-455D-4A9F-976C-02820A77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A3：改成 10/15 或不相符主題時，應為 0 筆</a:t>
            </a:r>
          </a:p>
        </p:txBody>
      </p:sp>
    </p:spTree>
    <p:extLst>
      <p:ext uri="{BB962C8B-B14F-4D97-AF65-F5344CB8AC3E}">
        <p14:creationId xmlns:p14="http://schemas.microsoft.com/office/powerpoint/2010/main" val="17507631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5F1F8358-C076-4A41-AAB4-C529D64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 App 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E33344-9707-4B42-A3C7-2B343F77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B86E424-5C6B-41E9-A806-1BFCC27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1CA4B6-FD2B-49C5-91AF-95B7E96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選擇 Codex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EAC72AA-AE2F-4F69-BBFB-50BC4DF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開啟本次 starter 的獨立副本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84C76FC-C977-4B2D-A62E-68E995A3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55DDC2-4DDB-47FB-AC5F-B92D93A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指定資料檔，貼短提示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CA7E6B1-AF30-4D09-BB22-DC12D6E4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 UX 任務，讓 Agent 決定畫面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02C8DB4-D2F1-4C41-A5D2-9C7517E5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38BE7EB-5E80-4DDF-96AC-3CC1167D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查看修改與預覽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047B103-5769-4BEC-B1A2-F1EC3065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確認啟動方式、檔案差異及錯誤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0976A37-0AF5-4CFE-9186-C969C3E5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本輪使用全新起點，不帶入 Lovable 產生的程式</a:t>
            </a:r>
          </a:p>
        </p:txBody>
      </p:sp>
    </p:spTree>
    <p:extLst>
      <p:ext uri="{BB962C8B-B14F-4D97-AF65-F5344CB8AC3E}">
        <p14:creationId xmlns:p14="http://schemas.microsoft.com/office/powerpoint/2010/main" val="11137034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E68090E5-D57D-432C-B63F-3EE1EB1A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0122D6A-29C2-4815-99D4-8AB3D371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79B299-FF55-49CD-99BB-E4B975CF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開啟獨立 starter，直接貼上以下內容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365B46F-4A11-4E1F-9BF6-BE1A861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資料檔：src/sessions.json（與 HWDC 議程附件相同）。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AA1729-BA35-4C5E-A65C-3CCECAEA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不用登入。做好後請開啟預覽，讓我試用。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（UI 由學員自由發揮，但請讓兩個版本保持一致。）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2720D5A-DA5E-4E41-AA7E-7E29C4D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資料與 UI 設計要求相同；完成後依 A1–A6 驗收</a:t>
            </a:r>
          </a:p>
        </p:txBody>
      </p:sp>
    </p:spTree>
    <p:extLst>
      <p:ext uri="{BB962C8B-B14F-4D97-AF65-F5344CB8AC3E}">
        <p14:creationId xmlns:p14="http://schemas.microsoft.com/office/powerpoint/2010/main" val="2874762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0A9DF51-07B8-48C5-B395-A5DB43B6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執行與檢查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1DAB6B-ED7C-4F86-AD50-2F7EBA71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DA4B83-239C-4209-A264-1335F1BE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預覽有啟動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FE0D69-A99D-4A69-9820-BC8883DD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確認網址與終端機狀態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2C7D4E-1912-4558-BB0B-560FE856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修改看得懂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8470181-A0E8-429F-8927-4EFBF541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知道改動哪些檔案及功能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B506502-4A42-4961-AEA3-02F2AE4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結果有驗證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899D762-E37F-4A57-BC8B-58E186D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 A1–A6 操作，記下仍有問題的項目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512298-8EF6-4493-9E95-6AA1C93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啟動失敗時，先保留原始錯誤訊息</a:t>
            </a:r>
          </a:p>
        </p:txBody>
      </p:sp>
    </p:spTree>
    <p:extLst>
      <p:ext uri="{BB962C8B-B14F-4D97-AF65-F5344CB8AC3E}">
        <p14:creationId xmlns:p14="http://schemas.microsoft.com/office/powerpoint/2010/main" val="12825785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02E2D21-8265-4304-8B33-CC01EDCE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B：通用 AI 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02BEFE-4A84-4769-93D5-2ABF9E97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從空白專案完成相同需求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CD4668-B705-4817-8455-5AAE54B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1FAE04-2496-4BC9-B2E6-BF18D0A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B2752F-05A9-490F-8035-C87D400F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D8FAA00-B0F9-41FC-A924-037DF177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短提示＋相同 HWDC 議程資料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03AAA9F-40FC-44F6-8E8D-EDADBEA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讓工具實作並啟動預覽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A1DF9A7-48F7-4B28-B216-BD329DE9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A1–A6，記錄結果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A8A882-02E6-446A-B70B-656E44FB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講師用 Codex App，你可以沿用已準備好的工具</a:t>
            </a:r>
          </a:p>
        </p:txBody>
      </p:sp>
    </p:spTree>
    <p:extLst>
      <p:ext uri="{BB962C8B-B14F-4D97-AF65-F5344CB8AC3E}">
        <p14:creationId xmlns:p14="http://schemas.microsoft.com/office/powerpoint/2010/main" val="12108974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CBE2849-FE87-47D1-8699-375B07F2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同標準驗收與紀錄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68F6AD-C5E0-4610-B144-7985A77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重新整理後，收藏仍要保留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A3F00F-1684-4774-BC62-21A28A04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0128C-4E58-42F3-B91A-AD85D7543B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c56930b9445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1B17D1A-87DA-447E-85F5-AC3A10F5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 4996、5030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AEDDE77-22F0-4436-AF9E-3EFA713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切到我的議程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69427AE-36AF-4681-95D3-5BCC5A67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重新整理再確認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F24D1F9-D1D1-4EA4-B670-CA9EDAB4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參考解答示範 A4–A6。兩套工具使用同一張驗收表</a:t>
            </a:r>
          </a:p>
        </p:txBody>
      </p:sp>
    </p:spTree>
    <p:extLst>
      <p:ext uri="{BB962C8B-B14F-4D97-AF65-F5344CB8AC3E}">
        <p14:creationId xmlns:p14="http://schemas.microsoft.com/office/powerpoint/2010/main" val="14472403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B26C35C-0B71-4FB1-8BCA-CC0DB76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新需求：收藏衝堂提示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1414242-86ED-47F4-BFE7-955AB8A4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使用者需要知道哪些收藏無法同時參加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01DB11-3E76-4C7D-8F18-5FBBC5C2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F84B4-2E8D-4424-A3C2-55B0644FB1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5de3d80f04f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6166E8E-36C7-453A-887A-36FB4FA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比較全部收藏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8E5686D-E1EB-49BF-B1EB-A49F988E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指出兩場與時段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B186AB7-812F-4F07-9897-F5FEAFAB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由使用者自行決定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AC6034D-3373-4232-8D77-E68A5C3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第二版參考解答。提示不會自動移除收藏</a:t>
            </a:r>
          </a:p>
        </p:txBody>
      </p:sp>
    </p:spTree>
    <p:extLst>
      <p:ext uri="{BB962C8B-B14F-4D97-AF65-F5344CB8AC3E}">
        <p14:creationId xmlns:p14="http://schemas.microsoft.com/office/powerpoint/2010/main" val="20199226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0F05471-F0C3-4CA1-9CA2-17000C3F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時間重疊案例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996EFA-B5C3-4712-AEEF-0A66E4F4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8BDDA-29E7-43DB-B7D3-B00E4F3BFBAF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6572250"/>
                <a:gridCol w="20574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組合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時間關係（10/14）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預期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5030 + 5009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15:30–17:30／15:15–15:45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+ 5018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13:00–15:00／13:30–14:00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+ 4993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13:00–15:00／13:00–15:00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4957 + 4958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10:00–10:10／10:10–10:55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不衝堂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F658ABC-4F81-4C08-8806-18424DF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日期也要一起比較：4996（10/14）與 4992（10/15）不衝堂</a:t>
            </a:r>
          </a:p>
        </p:txBody>
      </p:sp>
    </p:spTree>
    <p:extLst>
      <p:ext uri="{BB962C8B-B14F-4D97-AF65-F5344CB8AC3E}">
        <p14:creationId xmlns:p14="http://schemas.microsoft.com/office/powerpoint/2010/main" val="11748341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7949654-C8BD-461D-8771-C627CA8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 prompt：衝堂提醒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63EBDD-7774-4264-A125-9FB85D7B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在自己的初版專案繼續，兩套工具使用相同提示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F22C90-A57D-4B17-BC1F-84B8B8A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F0E5398-D50A-426E-AFE9-C189A186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請在「我的議程」加上衝堂提醒，指出時間重疊的收藏，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讓我自己決定要不要取消。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要看全部收藏，不受搜尋或篩選影響；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一場結束剛好接下一場不算衝堂，不同日期也不要混在一起。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請保留原本的收藏和功能，取消收藏後立即更新提醒。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完成後讓我試用。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F4E37F1-B941-4255-A5CE-41125266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送出前保留收藏；修改後檢查 B1–B6 與原有功能</a:t>
            </a:r>
          </a:p>
        </p:txBody>
      </p:sp>
    </p:spTree>
    <p:extLst>
      <p:ext uri="{BB962C8B-B14F-4D97-AF65-F5344CB8AC3E}">
        <p14:creationId xmlns:p14="http://schemas.microsoft.com/office/powerpoint/2010/main" val="21017312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2F1F8CB-3EB8-4B7E-ADE9-E124B545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兩套工具各修改一次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282F023-14D0-412C-8ADA-7ACE4D63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每套工具 5 分鐘，包含修改與驗收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85E8AB5-9CE3-4C78-8477-B1C932F5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EBC5D9-3EAC-49AF-AB97-21A628F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+ 5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93BCBED-AF62-423E-B97E-E7FD4EE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72AB610-EDC4-4160-9B27-78AE5E47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先在 Lovable 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252C813-089B-4DAC-B67D-647BCC40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再在通用工具修改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3E0B681-BD4D-4448-8B78-1484F80D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兩份結果分別記錄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8C466CB-545F-4EBB-B9D3-2356A118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到時保存狀態，14:36 開始共同回歸檢查</a:t>
            </a:r>
          </a:p>
        </p:txBody>
      </p:sp>
    </p:spTree>
    <p:extLst>
      <p:ext uri="{BB962C8B-B14F-4D97-AF65-F5344CB8AC3E}">
        <p14:creationId xmlns:p14="http://schemas.microsoft.com/office/powerpoint/2010/main" val="8017093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3CF8F81-B6A9-49D0-B833-B30C9FA4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回歸檢查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A43134A-A17A-4023-985A-E24A021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新功能與原有功能都要成立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0966A5-24E1-4387-907A-4F76E47B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BAE4E-6E05-402E-98CE-164E1D776D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bb7b788f444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098ADFD-B600-44F8-9426-DADB9D75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首尾相接不提醒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C72289B-08FC-4630-A860-3A384F0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取消收藏即時更新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C35BF59-7001-4C7F-9F9B-C7C92587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A1–A6 仍通過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CF73393-3FCA-406B-9F30-135180C6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4957 與 4958 於 10:10 相接，不誤報衝堂</a:t>
            </a:r>
          </a:p>
        </p:txBody>
      </p:sp>
    </p:spTree>
    <p:extLst>
      <p:ext uri="{BB962C8B-B14F-4D97-AF65-F5344CB8AC3E}">
        <p14:creationId xmlns:p14="http://schemas.microsoft.com/office/powerpoint/2010/main" val="3919619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C841637-42B5-4548-A5B0-01B11F5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上一輪彩排觀察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00C1C9C-7C43-4B4A-9FAC-934F611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舊條件：長提示、12 筆合成資料、指定配色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5FC938-4BBB-4B73-BD9F-4D32FB4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3B2CB-BE3F-4F10-8D85-068F6C38D830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29075"/>
                <a:gridCol w="4029075"/>
              </a:tblGrid>
              <a:tr h="7620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AI 工具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初版含驗收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修改含回歸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 分 22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核心 3 分 33 秒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手機於截止後補測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Codex App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55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3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EEB6F40-D9A7-4756-9824-74EC30DF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看過解答且交錯操作，非工具排名；新版短提示尚未重測</a:t>
            </a:r>
          </a:p>
        </p:txBody>
      </p:sp>
    </p:spTree>
    <p:extLst>
      <p:ext uri="{BB962C8B-B14F-4D97-AF65-F5344CB8AC3E}">
        <p14:creationId xmlns:p14="http://schemas.microsoft.com/office/powerpoint/2010/main" val="19304690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07300E7-6D6C-48AE-8299-60B250DE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除錯 prompt：首尾相接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C0612C-3977-4432-8410-E67FB1C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以下是刻意植入錯誤的教學案例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9A565-B32A-4D43-A099-496B6080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DAFDF3-5BC1-4493-A132-8C118B15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B23429"/>
                </a:solidFill>
                <a:latin typeface="Heiti TC"/>
                <a:ea typeface="Heiti TC"/>
                <a:cs typeface="Heiti TC"/>
              </a:rPr>
              <a:t>錯誤：a.start &lt;= b.end &amp;&amp; b.start &lt;= a.end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5BFC32D-71B5-4999-842A-8CACC870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修正：a.start &lt; b.end &amp;&amp; b.start &lt; a.end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7A59BE-F7A5-4B30-850A-472E51A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可直接貼上的除錯提示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BB7FB33-4183-47F4-A956-26A80B1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我操作「＿＿」時，出現「＿＿」，但我預期是「＿＿」。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請重現並修好，保留現有收藏與其他功能。修好後告訴我怎麼確認。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（有錯誤訊息或畫面時，再附上。）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11778DE-4219-46E4-B2DC-3F1AA2CF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本例：收藏 4957、4958 卻提醒衝堂；預期首尾相接不提醒</a:t>
            </a:r>
          </a:p>
        </p:txBody>
      </p:sp>
    </p:spTree>
    <p:extLst>
      <p:ext uri="{BB962C8B-B14F-4D97-AF65-F5344CB8AC3E}">
        <p14:creationId xmlns:p14="http://schemas.microsoft.com/office/powerpoint/2010/main" val="15624190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94D432-F5A8-477B-99B1-19493EA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彩排用量與費用換算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79FB219-2491-4096-82E0-4F34F25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27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1B4A5-C9AE-45DF-8960-F4CB5DAD225C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4343400"/>
                <a:gridCol w="4857750"/>
              </a:tblGrid>
              <a:tr h="838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階段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實耗／月費分攤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Codex</a:t>
                      </a:r>
                    </a:p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總 tokens／Standard 估算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初版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credits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US$0.98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343,319 tokens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US$0.78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3.10 credits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US$1.52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410,956 tokens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US$0.61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合計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5.10 credits</a:t>
                      </a:r>
                    </a:p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約 US$2.50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754,275 tokens</a:t>
                      </a:r>
                    </a:p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US$1.39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cost-scope">
            <a:extLst xmlns:a="http://schemas.openxmlformats.org/drawingml/2006/main">
              <a:ext uri="{FF2B5EF4-FFF2-40B4-BE49-F238E27FC236}">
                <a16:creationId xmlns:a16="http://schemas.microsoft.com/office/drawing/2014/main" id="{E58ADBC1-13E8-4DBA-AEC0-BE84E553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607185"/>
                </a:solidFill>
                <a:latin typeface="Heiti TC"/>
                <a:ea typeface="Heiti TC"/>
                <a:cs typeface="Heiti TC"/>
              </a:rPr>
              <a:t>2026/10/13 舊條件彩排，12 筆資料、長提示</a:t>
            </a:r>
          </a:p>
        </p:txBody>
      </p:sp>
      <p:sp>
        <p:nvSpPr>
          <p:cNvPr id="13" name="cost-limitations">
            <a:extLst xmlns:a="http://schemas.openxmlformats.org/drawingml/2006/main">
              <a:ext uri="{FF2B5EF4-FFF2-40B4-BE49-F238E27FC236}">
                <a16:creationId xmlns:a16="http://schemas.microsoft.com/office/drawing/2014/main" id="{7650DD54-1F58-41A8-AE66-AA482504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美元為牌價換算，實際專案扣款未取得。</a:t>
            </a:r>
          </a:p>
          <a:p xmlns:a="http://schemas.openxmlformats.org/drawingml/2006/main">
            <a:pPr algn="l">
              <a:buNone/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速度模式未取得，無法據此判定誰較便宜。</a:t>
            </a:r>
          </a:p>
        </p:txBody>
      </p:sp>
      <p:sp>
        <p:nvSpPr>
          <p:cNvPr id="14" name="cost-source-0">
            <a:extLst xmlns:a="http://schemas.openxmlformats.org/drawingml/2006/main">
              <a:ext uri="{FF2B5EF4-FFF2-40B4-BE49-F238E27FC236}">
                <a16:creationId xmlns:a16="http://schemas.microsoft.com/office/drawing/2014/main" id="{17676577-FD83-4F54-8CDC-9A271DDA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350">
                <a:solidFill>
                  <a:srgbClr val="607185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7db428371d64f0e"/>
              </a:rPr>
              <a:t>Lovable 訂閱牌價：https://docs.lovable.dev/introduction/subscription-plans</a:t>
            </a:r>
          </a:p>
        </p:txBody>
      </p:sp>
      <p:sp>
        <p:nvSpPr>
          <p:cNvPr id="15" name="cost-source-1">
            <a:extLst xmlns:a="http://schemas.openxmlformats.org/drawingml/2006/main">
              <a:ext uri="{FF2B5EF4-FFF2-40B4-BE49-F238E27FC236}">
                <a16:creationId xmlns:a16="http://schemas.microsoft.com/office/drawing/2014/main" id="{A54B9222-DB82-4BCF-B990-E9B0A705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350">
                <a:solidFill>
                  <a:srgbClr val="607185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ae7dd4245bc74c67"/>
              </a:rPr>
              <a:t>Codex 額度牌價：https://learn.chatgpt.com/docs/pricing</a:t>
            </a:r>
          </a:p>
        </p:txBody>
      </p:sp>
    </p:spTree>
    <p:extLst>
      <p:ext uri="{BB962C8B-B14F-4D97-AF65-F5344CB8AC3E}">
        <p14:creationId xmlns:p14="http://schemas.microsoft.com/office/powerpoint/2010/main" val="17668883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F90A4341-CE97-4CD0-BCE1-7C7E569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同一個 UX，一致的 UI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A311BB-68BD-4B41-895F-62BD498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檢查兩個工具版本的設計一致，再試用核心任務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3861FF-2AB4-4EAF-9379-9004909E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5746E-B0EF-4BE8-9036-B3DC65FF38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621c8506049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726" y="1724025"/>
            <a:ext cx="2095049" cy="45339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C80A925-5FB0-42B0-A737-CA5DF30F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找到想聽的議程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196DD99-085E-4BEF-A741-C7EBD61C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收藏後能找回來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0678D47-A395-4522-B870-1552FC0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衝堂看得懂、能處理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623B412-5CAE-4F34-8FA0-87887FF5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自訂 UI，兩個版本一致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A95CF66-46D6-43B3-BC18-7C54C7C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參考畫面非標準答案；390px 仍須可操作</a:t>
            </a:r>
          </a:p>
        </p:txBody>
      </p:sp>
    </p:spTree>
    <p:extLst>
      <p:ext uri="{BB962C8B-B14F-4D97-AF65-F5344CB8AC3E}">
        <p14:creationId xmlns:p14="http://schemas.microsoft.com/office/powerpoint/2010/main" val="8579461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6272520-14FD-4073-98A1-E95110B0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情境選型表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DFF813-945B-44BC-B19D-3D580FF9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先確定工作條件，再選擇起手方式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DDF7AC-9341-4E07-B736-980981B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C41E2-0AE7-4902-9984-5B7633A8ECC1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4667250"/>
                <a:gridCol w="3200400"/>
              </a:tblGrid>
              <a:tr h="857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情境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先檢查的條件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選型方向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快速驗證新想法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預覽速度、流程契合、額度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評估場景工具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修改既有專案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檔案、工具鏈、測試與權限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評估通用工具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持續迭代與交接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回歸、程式碼、知識與成本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依紀錄調整組合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D7F25A7-5A0D-496B-9F17-7F77C0DF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此表是決策框架，個別專案仍需驗證</a:t>
            </a:r>
          </a:p>
        </p:txBody>
      </p:sp>
    </p:spTree>
    <p:extLst>
      <p:ext uri="{BB962C8B-B14F-4D97-AF65-F5344CB8AC3E}">
        <p14:creationId xmlns:p14="http://schemas.microsoft.com/office/powerpoint/2010/main" val="20121864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0B195C1-56C3-4009-82D5-845E9A41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PDCA 與專案知識管理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395CF1-9A93-415F-8014-2D087E40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864BA5-2666-4294-B994-19A4D16B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Plan　留下規格與完成標準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46A4B8-A170-450B-9B0D-DF891603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需求、資料、限制與驗收案例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8B6D361-4A22-4242-AB52-C4711810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Do／Check　保留程式與驗證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E9E46C4-EA1F-4963-B4F1-8C41C4A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實際執行、紀錄錯誤、檢查回歸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9F7743-397A-4D4D-8416-32E51450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Act　依結果調整下一輪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B66FE3C-DA99-4E38-9251-CE151EB2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修改範圍、提示、工具與模型投入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93914D-59B6-4C9F-BC5A-C11613A2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工具換了，需求與驗收紀錄仍能沿用</a:t>
            </a:r>
          </a:p>
        </p:txBody>
      </p:sp>
    </p:spTree>
    <p:extLst>
      <p:ext uri="{BB962C8B-B14F-4D97-AF65-F5344CB8AC3E}">
        <p14:creationId xmlns:p14="http://schemas.microsoft.com/office/powerpoint/2010/main" val="20859477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39A25B1-6325-45C2-83D0-2F40205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課後延伸與教材導覽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2CE6DC-4AEB-436A-8658-35C7786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FD8DF2-ED2D-444C-9B56-CCF199AB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學員講義與提示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AA8E51E-64D6-4FF8-9F40-219F9F7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可直接沿用到下一個專案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91A6D5-1D4D-4819-9CE5-0D6B4312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兩版參考解答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5240931-7D36-4472-8802-88C7BD1B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比對 UX 邏輯，不要求畫面長一樣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E8E7C20-1967-428F-86C6-3DA26F03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行事曆匯出練習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B01A49E-23A1-4F54-9ABE-6E58B09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將收藏輸出為 .ics 並驗證時間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941C85D-8DA3-418C-B278-0F9A2CF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保留自己的實驗紀錄，再打開參考答案</a:t>
            </a:r>
          </a:p>
        </p:txBody>
      </p:sp>
    </p:spTree>
    <p:extLst>
      <p:ext uri="{BB962C8B-B14F-4D97-AF65-F5344CB8AC3E}">
        <p14:creationId xmlns:p14="http://schemas.microsoft.com/office/powerpoint/2010/main" val="995206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4BBC1E1-DB36-4108-ADBE-EBF53DBC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Q&amp;A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C0C1C2-07D5-4D32-9813-D769D8EE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請用一個驗收條件，說明你的選擇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654008-231B-4100-92DF-309E715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E60CF8-6CBC-451A-8F33-9BB4638A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85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你的下一個專案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會先用哪套工具？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3D5E6986-7EE9-4552-9D4D-CA0C1553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有時間可選講：39–43 頁　／　系列訂閱 QR Code：44 頁</a:t>
            </a:r>
          </a:p>
        </p:txBody>
      </p:sp>
    </p:spTree>
    <p:extLst>
      <p:ext uri="{BB962C8B-B14F-4D97-AF65-F5344CB8AC3E}">
        <p14:creationId xmlns:p14="http://schemas.microsoft.com/office/powerpoint/2010/main" val="9847539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DF54339-6B6B-4C95-A6EC-33CAF5F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CLI 對應操作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2752EF9-06D4-4307-95AC-E52C0A6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附錄：已完成安裝與登入時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E78CFE-32ED-4E17-AB8E-D4C32BB6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99306A-6F13-4F30-B718-00F6E73D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cd 你的專案資料夾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codex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/status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A7DFCCD-0177-433B-AE4C-FF7908CC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同樣引用需求、資料與驗收文件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18AA4F7-1069-40A4-B71D-4533F42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/status 查看可取得的用量狀態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5109B02-31A2-4057-80DB-7866AAE6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詳細安裝方式依官方文件</a:t>
            </a:r>
          </a:p>
        </p:txBody>
      </p:sp>
    </p:spTree>
    <p:extLst>
      <p:ext uri="{BB962C8B-B14F-4D97-AF65-F5344CB8AC3E}">
        <p14:creationId xmlns:p14="http://schemas.microsoft.com/office/powerpoint/2010/main" val="2886187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875B6AE-256F-4463-AA2B-59521FDF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macOS／Windows 環境檢查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CDDD76-1753-4537-9F41-4C1C0B33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附錄：在含 package.json 的資料夾執行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3842134-661D-48FF-B763-10DDEB2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8A4A8B-7FD2-4E3E-898F-0DA8F981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node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ci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run dev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601FA7-D1C3-4132-90E8-78DE7244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macOS：終端機進入專案目錄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2951B7B-DF9A-4229-9221-B7499837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Windows：在資料夾開啟終端機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95519B3-B0C0-4730-9C30-92029A0E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採 Node.js 24，預先安裝套件</a:t>
            </a:r>
          </a:p>
        </p:txBody>
      </p:sp>
    </p:spTree>
    <p:extLst>
      <p:ext uri="{BB962C8B-B14F-4D97-AF65-F5344CB8AC3E}">
        <p14:creationId xmlns:p14="http://schemas.microsoft.com/office/powerpoint/2010/main" val="180496831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54D1C329-D056-49C7-9E4A-4C9F0D6C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額度、網路與啟動問題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D5294B-571E-4A8C-B611-A2CD381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AA94F-BD9E-45ED-B71D-579445602C51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7143750" cy="3943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2381250"/>
                <a:gridCol w="2762250"/>
              </a:tblGrid>
              <a:tr h="5905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狀況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先留下的紀錄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接續方式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額度用完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餘額、未完成項目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掃右側 QR 申請</a:t>
                      </a:r>
                    </a:p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填完向講師示意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服務無回應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當下畫面、時間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換本機參考版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本機啟動失敗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指令、錯誤原文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分鐘後切備援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收藏沒有保留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網址、埠號、儲存警告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確認同一來源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v7-2">
            <a:extLst xmlns:a="http://schemas.openxmlformats.org/drawingml/2006/main">
              <a:ext uri="{FF2B5EF4-FFF2-40B4-BE49-F238E27FC236}">
                <a16:creationId xmlns:a16="http://schemas.microsoft.com/office/drawing/2014/main" id="{5997124A-58AB-464E-8A41-432FF434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331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群組加入申請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67F41-D5CE-4282-BF64-7A5AA8FD8D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b212fe41d4b1d"/>
          <a:stretch xmlns:a="http://schemas.openxmlformats.org/drawingml/2006/main"/>
        </p:blipFill>
        <p:spPr>
          <a:xfrm xmlns:a="http://schemas.openxmlformats.org/drawingml/2006/main">
            <a:off x="8229600" y="2209800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8" name="v7-3">
            <a:extLst xmlns:a="http://schemas.openxmlformats.org/drawingml/2006/main">
              <a:ext uri="{FF2B5EF4-FFF2-40B4-BE49-F238E27FC236}">
                <a16:creationId xmlns:a16="http://schemas.microsoft.com/office/drawing/2014/main" id="{4AF03EFB-1226-45E8-926A-BF8D04FD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05450"/>
            <a:ext cx="325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3485dd60f42045b9"/>
              </a:rPr>
              <a:t>https://forms.gle/</a:t>
            </a:r>
          </a:p>
          <a:p xmlns:a="http://schemas.openxmlformats.org/drawingml/2006/main">
            <a:pPr algn="l">
              <a:buNone/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c411d2b5cc0642ed"/>
              </a:rPr>
              <a:t>pt3nLWy622sYTfsG6</a:t>
            </a:r>
          </a:p>
        </p:txBody>
      </p:sp>
      <p:sp>
        <p:nvSpPr>
          <p:cNvPr id="9" name="v7-4">
            <a:extLst xmlns:a="http://schemas.openxmlformats.org/drawingml/2006/main">
              <a:ext uri="{FF2B5EF4-FFF2-40B4-BE49-F238E27FC236}">
                <a16:creationId xmlns:a16="http://schemas.microsoft.com/office/drawing/2014/main" id="{C2D4C248-08C3-4103-933C-79900F04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群組加入後仍無法建置時，使用離線參考版驗收</a:t>
            </a:r>
          </a:p>
        </p:txBody>
      </p:sp>
    </p:spTree>
    <p:extLst>
      <p:ext uri="{BB962C8B-B14F-4D97-AF65-F5344CB8AC3E}">
        <p14:creationId xmlns:p14="http://schemas.microsoft.com/office/powerpoint/2010/main" val="18854692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32C822-7135-465D-99EB-0A556697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延伸 prompt：匯出行事曆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A0FA820-CB2C-4EA0-9F8D-C71194E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71F0B3B-823A-4A43-AA79-DDAD4C9A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選做練習，不占正式課程的 15／5 分鐘比較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DE6D43-88DE-4801-8323-FA06B2F8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請讓我把全部收藏下載成 .ics 行事曆檔，不受搜尋或篩選影響，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匯入後要有正確的議程名稱、日期時間與會議室。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請保留原有收藏與功能，沒有收藏時提示我先收藏。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完成後給我檔案，並說明怎麼驗證匯入結果。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2D93460-090C-4E1C-BBAE-399584D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檢查：兩場都匯入、日期時間與中文正確、原功能仍可用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0C50C34-22EC-4FB2-96A9-D4BAD83F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b971f81138a47af"/>
              </a:rPr>
              <a:t>格式參考：https://www.rfc-editor.org/rfc/rfc5545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0777399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B10E3FC-81CC-4654-A614-CEFED6DA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完整實測紀錄表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168A339-AC7D-4E99-BEF7-7DC67ADC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附錄：可直接複製 measurement-template.md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EB7AD0-D4F8-4CC4-8785-C346AE2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3AA8F-9EF7-44F8-A544-F57B64F6CF42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6953250"/>
                <a:gridCol w="215265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分類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必填內容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缺資料時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工具、模型、方案、版本、起始狀態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未取得／未揭露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結果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時間、通過 ID、完成或截止狀態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投入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追加提示、主動工時、等待、用量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證據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提示、截圖、程式、錯誤與修正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明確記錄原因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2102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B994DA1-F84A-4E11-8D10-B4937FC8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資料與官方參考網址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BFA961-FB1E-475B-BE1D-79A9D736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查核日期：2026-10-13；JSON 附件完整網址見第 12 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FAB65C-4353-4F93-9436-4786348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C549FD-124D-41AE-86C5-63980313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議程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66799B7-6799-4866-9637-747B206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240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9571bbcf42434b1a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A39DC5D-AB7E-4811-AE00-2DF4226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技術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547C206-3E72-40D4-A4A7-4700B669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b37463385464133"/>
              </a:rPr>
              <a:t>https://docs.lovable.dev/introduction/faq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A24E9F4-6D59-4039-BD67-1E5CC02F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額度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11B5D85-1C05-4EA2-BAE1-2B8B913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02ae8b1377984b55"/>
              </a:rPr>
              <a:t>https://docs.lovable.dev/introduction/credits-and-usage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C3C4018-BF68-49C7-886B-2CEB96DF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</a:t>
            </a:r>
          </a:p>
        </p:txBody>
      </p:sp>
      <p:sp>
        <p:nvSpPr>
          <p:cNvPr id="12" name="v4-38-8">
            <a:extLst xmlns:a="http://schemas.openxmlformats.org/drawingml/2006/main">
              <a:ext uri="{FF2B5EF4-FFF2-40B4-BE49-F238E27FC236}">
                <a16:creationId xmlns:a16="http://schemas.microsoft.com/office/drawing/2014/main" id="{EC86F266-742B-4101-B852-7FEC9F54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671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f0c47a98b482432c"/>
              </a:rPr>
              <a:t>https://learn.chatgpt.com/docs/quickstart</a:t>
            </a:r>
          </a:p>
        </p:txBody>
      </p:sp>
      <p:sp>
        <p:nvSpPr>
          <p:cNvPr id="13" name="v4-38-9">
            <a:extLst xmlns:a="http://schemas.openxmlformats.org/drawingml/2006/main">
              <a:ext uri="{FF2B5EF4-FFF2-40B4-BE49-F238E27FC236}">
                <a16:creationId xmlns:a16="http://schemas.microsoft.com/office/drawing/2014/main" id="{A4F7825E-40B9-479F-8266-C734AB50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登入／計費</a:t>
            </a:r>
          </a:p>
        </p:txBody>
      </p:sp>
      <p:sp>
        <p:nvSpPr>
          <p:cNvPr id="14" name="v4-38-10">
            <a:extLst xmlns:a="http://schemas.openxmlformats.org/drawingml/2006/main">
              <a:ext uri="{FF2B5EF4-FFF2-40B4-BE49-F238E27FC236}">
                <a16:creationId xmlns:a16="http://schemas.microsoft.com/office/drawing/2014/main" id="{7208D0E7-AF9A-4A6F-B490-C00171C7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148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f18b91e345e54d9c"/>
              </a:rPr>
              <a:t>https://learn.chatgpt.com/docs/auth</a:t>
            </a:r>
          </a:p>
        </p:txBody>
      </p:sp>
      <p:sp>
        <p:nvSpPr>
          <p:cNvPr id="15" name="v4-38-11">
            <a:extLst xmlns:a="http://schemas.openxmlformats.org/drawingml/2006/main">
              <a:ext uri="{FF2B5EF4-FFF2-40B4-BE49-F238E27FC236}">
                <a16:creationId xmlns:a16="http://schemas.microsoft.com/office/drawing/2014/main" id="{5B76C102-FC49-4639-BF42-A49ED624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行事曆格式</a:t>
            </a:r>
          </a:p>
        </p:txBody>
      </p:sp>
      <p:sp>
        <p:nvSpPr>
          <p:cNvPr id="16" name="v4-38-12">
            <a:extLst xmlns:a="http://schemas.openxmlformats.org/drawingml/2006/main">
              <a:ext uri="{FF2B5EF4-FFF2-40B4-BE49-F238E27FC236}">
                <a16:creationId xmlns:a16="http://schemas.microsoft.com/office/drawing/2014/main" id="{0B9DD709-96CE-45FC-BBF2-ADBDAB39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625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f80fedabe9214c98"/>
              </a:rPr>
              <a:t>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60872315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v9-0">
            <a:extLst xmlns:a="http://schemas.openxmlformats.org/drawingml/2006/main">
              <a:ext uri="{FF2B5EF4-FFF2-40B4-BE49-F238E27FC236}">
                <a16:creationId xmlns:a16="http://schemas.microsoft.com/office/drawing/2014/main" id="{82344A83-8B82-4BBA-A5B5-1B7A3552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費用估算與比較範圍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47D0C444-91E0-47F0-AA33-0F6F26BF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選講補充：這組換算假設下，Codex 的美元估值較低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0E76EFBC-6F47-4997-85F6-233503A7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7498C-FA78-4B40-94F4-5E049B071094}"/>
              </a:ext>
            </a:extLst>
          </p:cNvPr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3943350"/>
                <a:gridCol w="4362450"/>
              </a:tblGrid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工具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記錄到的用量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美元換算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5.10 credits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US$2.50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正常訂閱分攤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Codex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754,275 tokens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US$1.39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Standard 額度面額估算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9-3">
            <a:extLst xmlns:a="http://schemas.openxmlformats.org/drawingml/2006/main">
              <a:ext uri="{FF2B5EF4-FFF2-40B4-BE49-F238E27FC236}">
                <a16:creationId xmlns:a16="http://schemas.microsoft.com/office/drawing/2014/main" id="{3C83CBB3-2B90-4651-BEA0-B90012B2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Codex 速度模式未知，Fast／Ultrafast 試算約 US$2.77／8.32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E367E5EA-088A-4FBB-9168-7B1388FE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同時看完成度、返工與人的投入；換場景後需重新比較。</a:t>
            </a:r>
          </a:p>
        </p:txBody>
      </p:sp>
      <p:sp>
        <p:nvSpPr>
          <p:cNvPr id="7" name="v9-5">
            <a:extLst xmlns:a="http://schemas.openxmlformats.org/drawingml/2006/main">
              <a:ext uri="{FF2B5EF4-FFF2-40B4-BE49-F238E27FC236}">
                <a16:creationId xmlns:a16="http://schemas.microsoft.com/office/drawing/2014/main" id="{0AB39FD7-C5A8-44CB-89A2-C3DA8178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舊版 12 筆資料彩排。美元為換算值，專案實扣未取得；詳見第 27 頁。</a:t>
            </a:r>
          </a:p>
        </p:txBody>
      </p:sp>
    </p:spTree>
    <p:extLst>
      <p:ext uri="{BB962C8B-B14F-4D97-AF65-F5344CB8AC3E}">
        <p14:creationId xmlns:p14="http://schemas.microsoft.com/office/powerpoint/2010/main" val="379783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9-0">
            <a:extLst xmlns:a="http://schemas.openxmlformats.org/drawingml/2006/main">
              <a:ext uri="{FF2B5EF4-FFF2-40B4-BE49-F238E27FC236}">
                <a16:creationId xmlns:a16="http://schemas.microsoft.com/office/drawing/2014/main" id="{CCD598C5-4C39-4E09-A4D3-1E57760E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原投稿題目：Roblox Studio AI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4CB78165-0349-480B-BB0C-7D331F00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網站開發是通用 coding agent 的常見任務，換場景仍要重測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5DA7D94A-55D8-4894-AF10-57E1BE9C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40</a:t>
            </a:r>
          </a:p>
        </p:txBody>
      </p:sp>
      <p:sp>
        <p:nvSpPr>
          <p:cNvPr id="4" name="v9-3">
            <a:extLst xmlns:a="http://schemas.openxmlformats.org/drawingml/2006/main">
              <a:ext uri="{FF2B5EF4-FFF2-40B4-BE49-F238E27FC236}">
                <a16:creationId xmlns:a16="http://schemas.microsoft.com/office/drawing/2014/main" id="{EA56A53C-9D13-4DAA-9ED8-05DCE24E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原先規劃</a:t>
            </a:r>
          </a:p>
        </p:txBody>
      </p:sp>
      <p:sp>
        <p:nvSpPr>
          <p:cNvPr id="5" name="v9-4">
            <a:extLst xmlns:a="http://schemas.openxmlformats.org/drawingml/2006/main">
              <a:ext uri="{FF2B5EF4-FFF2-40B4-BE49-F238E27FC236}">
                <a16:creationId xmlns:a16="http://schemas.microsoft.com/office/drawing/2014/main" id="{573B58D5-5107-4170-B904-1DD91C2F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9775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Roblox Studio AI 與通用 AI 的開發比較</a:t>
            </a:r>
          </a:p>
        </p:txBody>
      </p:sp>
      <p:sp>
        <p:nvSpPr>
          <p:cNvPr id="6" name="v9-5">
            <a:extLst xmlns:a="http://schemas.openxmlformats.org/drawingml/2006/main">
              <a:ext uri="{FF2B5EF4-FFF2-40B4-BE49-F238E27FC236}">
                <a16:creationId xmlns:a16="http://schemas.microsoft.com/office/drawing/2014/main" id="{EB63A9B9-7FC0-4B55-8276-ABAF5D00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當時採用的流程</a:t>
            </a:r>
          </a:p>
        </p:txBody>
      </p:sp>
      <p:sp>
        <p:nvSpPr>
          <p:cNvPr id="7" name="v9-6">
            <a:extLst xmlns:a="http://schemas.openxmlformats.org/drawingml/2006/main">
              <a:ext uri="{FF2B5EF4-FFF2-40B4-BE49-F238E27FC236}">
                <a16:creationId xmlns:a16="http://schemas.microsoft.com/office/drawing/2014/main" id="{0E25901F-5880-4BAD-8440-55C57EB7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需自備 API key 與用量預算</a:t>
            </a:r>
          </a:p>
        </p:txBody>
      </p:sp>
      <p:sp>
        <p:nvSpPr>
          <p:cNvPr id="8" name="v9-7">
            <a:extLst xmlns:a="http://schemas.openxmlformats.org/drawingml/2006/main">
              <a:ext uri="{FF2B5EF4-FFF2-40B4-BE49-F238E27FC236}">
                <a16:creationId xmlns:a16="http://schemas.microsoft.com/office/drawing/2014/main" id="{6C5CBDC7-B6E5-4E5B-AFE9-863EE519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改題的經過</a:t>
            </a:r>
          </a:p>
        </p:txBody>
      </p:sp>
      <p:sp>
        <p:nvSpPr>
          <p:cNvPr id="9" name="v9-8">
            <a:extLst xmlns:a="http://schemas.openxmlformats.org/drawingml/2006/main">
              <a:ext uri="{FF2B5EF4-FFF2-40B4-BE49-F238E27FC236}">
                <a16:creationId xmlns:a16="http://schemas.microsoft.com/office/drawing/2014/main" id="{F21A6FFE-BADF-4FC5-AAAC-79AFAEF9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00525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主辦單位洽詢後未取得贊助，最後改用 Lovable</a:t>
            </a:r>
          </a:p>
        </p:txBody>
      </p:sp>
      <p:sp>
        <p:nvSpPr>
          <p:cNvPr id="10" name="v9-9">
            <a:extLst xmlns:a="http://schemas.openxmlformats.org/drawingml/2006/main">
              <a:ext uri="{FF2B5EF4-FFF2-40B4-BE49-F238E27FC236}">
                <a16:creationId xmlns:a16="http://schemas.microsoft.com/office/drawing/2014/main" id="{8EA7B70A-F068-49B3-B0C7-21D18CBF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可測任務：Luau 腳本、場景與資產操作、Playtest</a:t>
            </a:r>
          </a:p>
        </p:txBody>
      </p:sp>
      <p:sp>
        <p:nvSpPr>
          <p:cNvPr id="11" name="v9-10">
            <a:extLst xmlns:a="http://schemas.openxmlformats.org/drawingml/2006/main">
              <a:ext uri="{FF2B5EF4-FFF2-40B4-BE49-F238E27FC236}">
                <a16:creationId xmlns:a16="http://schemas.microsoft.com/office/drawing/2014/main" id="{B5E13779-EBFB-4AF2-A255-EC2973BB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講師投稿經驗；本堂未測 Roblox。沿用相同需求、驗收與費用紀錄。</a:t>
            </a:r>
          </a:p>
        </p:txBody>
      </p:sp>
    </p:spTree>
    <p:extLst>
      <p:ext uri="{BB962C8B-B14F-4D97-AF65-F5344CB8AC3E}">
        <p14:creationId xmlns:p14="http://schemas.microsoft.com/office/powerpoint/2010/main" val="209271840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v9-0">
            <a:extLst xmlns:a="http://schemas.openxmlformats.org/drawingml/2006/main">
              <a:ext uri="{FF2B5EF4-FFF2-40B4-BE49-F238E27FC236}">
                <a16:creationId xmlns:a16="http://schemas.microsoft.com/office/drawing/2014/main" id="{8ADD2218-479F-47F0-BFE3-BD65E44B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的發布與網域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2A3D4158-C57F-48BF-BF2F-30B07D92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平台提供網站託管，可以直接把作品分享出去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1C502C62-C6AF-4EB9-B27E-8A761757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41</a:t>
            </a:r>
          </a:p>
        </p:txBody>
      </p:sp>
      <p:sp>
        <p:nvSpPr>
          <p:cNvPr id="4" name="v9-3">
            <a:extLst xmlns:a="http://schemas.openxmlformats.org/drawingml/2006/main">
              <a:ext uri="{FF2B5EF4-FFF2-40B4-BE49-F238E27FC236}">
                <a16:creationId xmlns:a16="http://schemas.microsoft.com/office/drawing/2014/main" id="{41464CF8-6E37-459B-93BD-A18C6E8C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3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43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3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project-name.lovable.app</a:t>
            </a:r>
          </a:p>
        </p:txBody>
      </p:sp>
      <p:sp>
        <p:nvSpPr>
          <p:cNvPr id="5" name="v9-4">
            <a:extLst xmlns:a="http://schemas.openxmlformats.org/drawingml/2006/main">
              <a:ext uri="{FF2B5EF4-FFF2-40B4-BE49-F238E27FC236}">
                <a16:creationId xmlns:a16="http://schemas.microsoft.com/office/drawing/2014/main" id="{B0279EB6-DA4D-4619-870F-7497E3B7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預設網址格式示意</a:t>
            </a:r>
          </a:p>
        </p:txBody>
      </p:sp>
      <p:sp>
        <p:nvSpPr>
          <p:cNvPr id="6" name="v9-5">
            <a:extLst xmlns:a="http://schemas.openxmlformats.org/drawingml/2006/main">
              <a:ext uri="{FF2B5EF4-FFF2-40B4-BE49-F238E27FC236}">
                <a16:creationId xmlns:a16="http://schemas.microsoft.com/office/drawing/2014/main" id="{E249833A-A28B-4220-8D1C-F606AE12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Publish 對外發布</a:t>
            </a:r>
          </a:p>
        </p:txBody>
      </p:sp>
      <p:sp>
        <p:nvSpPr>
          <p:cNvPr id="7" name="v9-6">
            <a:extLst xmlns:a="http://schemas.openxmlformats.org/drawingml/2006/main">
              <a:ext uri="{FF2B5EF4-FFF2-40B4-BE49-F238E27FC236}">
                <a16:creationId xmlns:a16="http://schemas.microsoft.com/office/drawing/2014/main" id="{56A59749-3620-4E80-A4A6-277224D8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取得可分享的 lovable.app 網址</a:t>
            </a:r>
          </a:p>
        </p:txBody>
      </p:sp>
      <p:sp>
        <p:nvSpPr>
          <p:cNvPr id="8" name="v9-7">
            <a:extLst xmlns:a="http://schemas.openxmlformats.org/drawingml/2006/main">
              <a:ext uri="{FF2B5EF4-FFF2-40B4-BE49-F238E27FC236}">
                <a16:creationId xmlns:a16="http://schemas.microsoft.com/office/drawing/2014/main" id="{69F97ADC-CAB0-457E-A676-81789C0D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修改後再次發布</a:t>
            </a:r>
          </a:p>
        </p:txBody>
      </p:sp>
      <p:sp>
        <p:nvSpPr>
          <p:cNvPr id="9" name="v9-8">
            <a:extLst xmlns:a="http://schemas.openxmlformats.org/drawingml/2006/main">
              <a:ext uri="{FF2B5EF4-FFF2-40B4-BE49-F238E27FC236}">
                <a16:creationId xmlns:a16="http://schemas.microsoft.com/office/drawing/2014/main" id="{1C293384-4FF3-4B49-8552-90BAC21E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38625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點 Publish changes，讓正式站更新</a:t>
            </a:r>
          </a:p>
        </p:txBody>
      </p:sp>
      <p:sp>
        <p:nvSpPr>
          <p:cNvPr id="10" name="v9-9">
            <a:extLst xmlns:a="http://schemas.openxmlformats.org/drawingml/2006/main">
              <a:ext uri="{FF2B5EF4-FFF2-40B4-BE49-F238E27FC236}">
                <a16:creationId xmlns:a16="http://schemas.microsoft.com/office/drawing/2014/main" id="{A514DADE-7F44-4AFF-881C-047E9E57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自有網域</a:t>
            </a:r>
          </a:p>
        </p:txBody>
      </p:sp>
      <p:sp>
        <p:nvSpPr>
          <p:cNvPr id="11" name="v9-10">
            <a:extLst xmlns:a="http://schemas.openxmlformats.org/drawingml/2006/main">
              <a:ext uri="{FF2B5EF4-FFF2-40B4-BE49-F238E27FC236}">
                <a16:creationId xmlns:a16="http://schemas.microsoft.com/office/drawing/2014/main" id="{1E27EAF8-3218-4A29-B20B-10E7F85C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6730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付費方案可連接自己購買的網域</a:t>
            </a:r>
          </a:p>
        </p:txBody>
      </p:sp>
      <p:sp>
        <p:nvSpPr>
          <p:cNvPr id="12" name="v9-11">
            <a:extLst xmlns:a="http://schemas.openxmlformats.org/drawingml/2006/main">
              <a:ext uri="{FF2B5EF4-FFF2-40B4-BE49-F238E27FC236}">
                <a16:creationId xmlns:a16="http://schemas.microsoft.com/office/drawing/2014/main" id="{7EC1524E-3D56-4CF4-B5A4-6107885C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65d5d1cb52fe4d11"/>
              </a:rPr>
              <a:t>系列第 17 篇：ithelp.ithome.com.tw/articles/10406635</a:t>
            </a:r>
          </a:p>
        </p:txBody>
      </p:sp>
    </p:spTree>
    <p:extLst>
      <p:ext uri="{BB962C8B-B14F-4D97-AF65-F5344CB8AC3E}">
        <p14:creationId xmlns:p14="http://schemas.microsoft.com/office/powerpoint/2010/main" val="212687027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v9-0">
            <a:extLst xmlns:a="http://schemas.openxmlformats.org/drawingml/2006/main">
              <a:ext uri="{FF2B5EF4-FFF2-40B4-BE49-F238E27FC236}">
                <a16:creationId xmlns:a16="http://schemas.microsoft.com/office/drawing/2014/main" id="{DEF18B4A-C198-4879-A65B-73216E1D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整合好的開發工具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D363F48E-0277-456D-A377-26B4F6FF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比較平台價值時，也記錄省下多少設定與整合工時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F92E2FE2-0AFE-4A17-9828-803A01FB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9D8E8-45D3-468E-93C8-01FB237A1E49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7734300"/>
              </a:tblGrid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工具／階段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在同一套流程裡完成的工作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Plan／Build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先討論規劃，再讓 Agent 實作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Cloud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資料庫、登入、檔案儲存與後端函式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測試與安全檢查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工具協助檢查，發布前仍需親自驗收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GitHub 與發布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同步程式碼、查看預覽與發布正式站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9-3">
            <a:extLst xmlns:a="http://schemas.openxmlformats.org/drawingml/2006/main">
              <a:ext uri="{FF2B5EF4-FFF2-40B4-BE49-F238E27FC236}">
                <a16:creationId xmlns:a16="http://schemas.microsoft.com/office/drawing/2014/main" id="{5C14108C-7A73-4F5C-A514-7390CF8E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平台的整合工作，也會影響落地時間與總成本。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EFEBDC96-7032-44EF-98AD-6EAAB770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072662dec48b4c4f"/>
              </a:rPr>
              <a:t>系列第 1 篇：ithelp.ithome.com.tw/articles/10406618</a:t>
            </a:r>
          </a:p>
        </p:txBody>
      </p:sp>
    </p:spTree>
    <p:extLst>
      <p:ext uri="{BB962C8B-B14F-4D97-AF65-F5344CB8AC3E}">
        <p14:creationId xmlns:p14="http://schemas.microsoft.com/office/powerpoint/2010/main" val="35887697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v9-0">
            <a:extLst xmlns:a="http://schemas.openxmlformats.org/drawingml/2006/main">
              <a:ext uri="{FF2B5EF4-FFF2-40B4-BE49-F238E27FC236}">
                <a16:creationId xmlns:a16="http://schemas.microsoft.com/office/drawing/2014/main" id="{7F97BCBC-8242-45B0-A81B-58CACD29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第三方服務與 connectors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BD865A6F-9616-463E-B031-4E0B3A58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Notion、Google Workspace、Slack、Resend 等服務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B837A787-B78F-4308-ADAF-DD34ECC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CD66F-C660-486D-9065-C2BA393A4C48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7734300"/>
              </a:tblGrid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類型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帳號與使用時機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App + chat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共用連線，供成品 App 與建置對話使用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Chat（MCP）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個人建置上下文，不隨成品部署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App user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每位 App 使用者登入自己的帳號並授權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9-3">
            <a:extLst xmlns:a="http://schemas.openxmlformats.org/drawingml/2006/main">
              <a:ext uri="{FF2B5EF4-FFF2-40B4-BE49-F238E27FC236}">
                <a16:creationId xmlns:a16="http://schemas.microsoft.com/office/drawing/2014/main" id="{5FC223A3-C399-48C2-BB37-DCAD345F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仍需授權帳號、設定權限，並核對第三方費用。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FDD5A8D3-683B-45F2-B51C-B9DE912A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cfadb265a89642ea"/>
              </a:rPr>
              <a:t>各服務支援類型不同。系列第 11 篇：ithelp.ithome.com.tw/articles/10406629</a:t>
            </a:r>
          </a:p>
        </p:txBody>
      </p:sp>
    </p:spTree>
    <p:extLst>
      <p:ext uri="{BB962C8B-B14F-4D97-AF65-F5344CB8AC3E}">
        <p14:creationId xmlns:p14="http://schemas.microsoft.com/office/powerpoint/2010/main" val="11134818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9-0">
            <a:extLst xmlns:a="http://schemas.openxmlformats.org/drawingml/2006/main">
              <a:ext uri="{FF2B5EF4-FFF2-40B4-BE49-F238E27FC236}">
                <a16:creationId xmlns:a16="http://schemas.microsoft.com/office/drawing/2014/main" id="{2A910A03-3EF7-4396-A101-A573DC4B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課後延伸：兩個實作系列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CB575432-BA2D-4977-9CE4-82C969F7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掃碼開啟系列，登入 iT 邦幫忙後點「訂閱系列文」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8D37694C-81BB-4456-B84E-93220221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44</a:t>
            </a:r>
          </a:p>
        </p:txBody>
      </p:sp>
      <p:sp>
        <p:nvSpPr>
          <p:cNvPr id="4" name="v9-3">
            <a:extLst xmlns:a="http://schemas.openxmlformats.org/drawingml/2006/main">
              <a:ext uri="{FF2B5EF4-FFF2-40B4-BE49-F238E27FC236}">
                <a16:creationId xmlns:a16="http://schemas.microsoft.com/office/drawing/2014/main" id="{DF585983-609A-4E27-B913-39381ABA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991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Roblox Studio AI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協作開發大全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78475-08B0-4126-9B88-8BC5465B8B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a9bd62b1544db"/>
          <a:stretch xmlns:a="http://schemas.openxmlformats.org/drawingml/2006/main"/>
        </p:blipFill>
        <p:spPr>
          <a:xfrm xmlns:a="http://schemas.openxmlformats.org/drawingml/2006/main">
            <a:off x="1581150" y="2714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10C4AD6D-8D87-406F-8CE7-4A50BCAA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f760c6778f9b4cca"/>
              </a:rPr>
              <a:t>https://ithelp.ithome.com.tw/users/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f84f379854de43a6"/>
              </a:rPr>
              <a:t>20046160/ironman/9450</a:t>
            </a:r>
          </a:p>
        </p:txBody>
      </p:sp>
      <p:sp>
        <p:nvSpPr>
          <p:cNvPr id="7" name="v9-5">
            <a:extLst xmlns:a="http://schemas.openxmlformats.org/drawingml/2006/main">
              <a:ext uri="{FF2B5EF4-FFF2-40B4-BE49-F238E27FC236}">
                <a16:creationId xmlns:a16="http://schemas.microsoft.com/office/drawing/2014/main" id="{D060D7FF-8E50-48C7-85AC-153F35B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28800"/>
            <a:ext cx="4991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 全端網站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Agentic 開發實戰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F139B-749B-46B8-819F-6CA05B1510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139c8d0ac4264"/>
          <a:stretch xmlns:a="http://schemas.openxmlformats.org/drawingml/2006/main"/>
        </p:blipFill>
        <p:spPr>
          <a:xfrm xmlns:a="http://schemas.openxmlformats.org/drawingml/2006/main">
            <a:off x="7562850" y="2714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9" name="v9-6">
            <a:extLst xmlns:a="http://schemas.openxmlformats.org/drawingml/2006/main">
              <a:ext uri="{FF2B5EF4-FFF2-40B4-BE49-F238E27FC236}">
                <a16:creationId xmlns:a16="http://schemas.microsoft.com/office/drawing/2014/main" id="{B4815C72-E593-4C3C-89CC-8D2632E0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953125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b71c7f1db1914eee"/>
              </a:rPr>
              <a:t>https://ithelp.ithome.com.tw/users/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ce26a7be685f46c7"/>
              </a:rPr>
              <a:t>20046160/ironman/9449</a:t>
            </a:r>
          </a:p>
        </p:txBody>
      </p:sp>
    </p:spTree>
    <p:extLst>
      <p:ext uri="{BB962C8B-B14F-4D97-AF65-F5344CB8AC3E}">
        <p14:creationId xmlns:p14="http://schemas.microsoft.com/office/powerpoint/2010/main" val="1965797699"/>
      </p:ext>
    </p:extLst>
  </p:cSld>
</p:sld>
</file>

<file path=ppt/theme/theme1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2026-10-14T01:09:39.6780000Z</dcterms:created>
  <dcterms:modified xsi:type="dcterms:W3CDTF">2026-10-14T01:09:39.6780000Z</dcterms:modified>
</coreProperties>
</file>