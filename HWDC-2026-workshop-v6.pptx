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489a5f5d0b4a83" /><Relationship Type="http://schemas.openxmlformats.org/officeDocument/2006/relationships/extended-properties" Target="/docProps/app.xml" Id="R4c764eddd5e142ae" /><Relationship Type="http://schemas.openxmlformats.org/officeDocument/2006/relationships/officeDocument" Target="/ppt/presentation.xml" Id="R53b7cc79d94448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3308bfb5444220"/>
  </p:sldMasterIdLst>
  <p:notesMasterIdLst>
    <p:notesMasterId xmlns:r="http://schemas.openxmlformats.org/officeDocument/2006/relationships" r:id="R8631834fff72424d"/>
  </p:notesMasterIdLst>
  <p:sldIdLst>
    <p:sldId xmlns:r="http://schemas.openxmlformats.org/officeDocument/2006/relationships" id="256" r:id="R2b2dfa742d6d48bd"/>
    <p:sldId xmlns:r="http://schemas.openxmlformats.org/officeDocument/2006/relationships" id="257" r:id="R392eb356948642f7"/>
    <p:sldId xmlns:r="http://schemas.openxmlformats.org/officeDocument/2006/relationships" id="258" r:id="R5f76dabb1f2c407f"/>
    <p:sldId xmlns:r="http://schemas.openxmlformats.org/officeDocument/2006/relationships" id="259" r:id="R17ec01e3200d42cb"/>
    <p:sldId xmlns:r="http://schemas.openxmlformats.org/officeDocument/2006/relationships" id="260" r:id="Rc8845251963a4b2e"/>
    <p:sldId xmlns:r="http://schemas.openxmlformats.org/officeDocument/2006/relationships" id="261" r:id="R911ae8eb893e4352"/>
    <p:sldId xmlns:r="http://schemas.openxmlformats.org/officeDocument/2006/relationships" id="262" r:id="R8e4ffff5df1f4815"/>
    <p:sldId xmlns:r="http://schemas.openxmlformats.org/officeDocument/2006/relationships" id="263" r:id="Ra0aa6cd7d9ba4162"/>
    <p:sldId xmlns:r="http://schemas.openxmlformats.org/officeDocument/2006/relationships" id="264" r:id="Reb0cf98889b547e1"/>
    <p:sldId xmlns:r="http://schemas.openxmlformats.org/officeDocument/2006/relationships" id="265" r:id="R40d165b2188543cf"/>
    <p:sldId xmlns:r="http://schemas.openxmlformats.org/officeDocument/2006/relationships" id="266" r:id="Rc729bcf7ff03419b"/>
    <p:sldId xmlns:r="http://schemas.openxmlformats.org/officeDocument/2006/relationships" id="267" r:id="R111409556f454cda"/>
    <p:sldId xmlns:r="http://schemas.openxmlformats.org/officeDocument/2006/relationships" id="268" r:id="R8851847b6cf64d11"/>
    <p:sldId xmlns:r="http://schemas.openxmlformats.org/officeDocument/2006/relationships" id="269" r:id="R0efbaaf2acbd43e1"/>
    <p:sldId xmlns:r="http://schemas.openxmlformats.org/officeDocument/2006/relationships" id="270" r:id="R542269d1375b4075"/>
    <p:sldId xmlns:r="http://schemas.openxmlformats.org/officeDocument/2006/relationships" id="271" r:id="R6caeb18ec06141e6"/>
    <p:sldId xmlns:r="http://schemas.openxmlformats.org/officeDocument/2006/relationships" id="272" r:id="Radf7e53fddbc4457"/>
    <p:sldId xmlns:r="http://schemas.openxmlformats.org/officeDocument/2006/relationships" id="273" r:id="R2b18e04cfde04f0e"/>
    <p:sldId xmlns:r="http://schemas.openxmlformats.org/officeDocument/2006/relationships" id="274" r:id="Rb631a814e458415b"/>
    <p:sldId xmlns:r="http://schemas.openxmlformats.org/officeDocument/2006/relationships" id="275" r:id="R56b827a04e6b49b0"/>
    <p:sldId xmlns:r="http://schemas.openxmlformats.org/officeDocument/2006/relationships" id="276" r:id="R897669a23af546c0"/>
    <p:sldId xmlns:r="http://schemas.openxmlformats.org/officeDocument/2006/relationships" id="277" r:id="R663a8a70178d42bd"/>
    <p:sldId xmlns:r="http://schemas.openxmlformats.org/officeDocument/2006/relationships" id="278" r:id="R64dec1143d4b4923"/>
    <p:sldId xmlns:r="http://schemas.openxmlformats.org/officeDocument/2006/relationships" id="279" r:id="R8cd038faba7d414f"/>
    <p:sldId xmlns:r="http://schemas.openxmlformats.org/officeDocument/2006/relationships" id="280" r:id="Re29a7573231846f0"/>
    <p:sldId xmlns:r="http://schemas.openxmlformats.org/officeDocument/2006/relationships" id="281" r:id="R6b7c9dc82843427e"/>
    <p:sldId xmlns:r="http://schemas.openxmlformats.org/officeDocument/2006/relationships" id="282" r:id="Rfc56e131880744ef"/>
    <p:sldId xmlns:r="http://schemas.openxmlformats.org/officeDocument/2006/relationships" id="283" r:id="Rfb6688889c9b48ec"/>
    <p:sldId xmlns:r="http://schemas.openxmlformats.org/officeDocument/2006/relationships" id="284" r:id="Ra5a5d63b64d642be"/>
    <p:sldId xmlns:r="http://schemas.openxmlformats.org/officeDocument/2006/relationships" id="285" r:id="Rd1ff7601ddd54ddd"/>
    <p:sldId xmlns:r="http://schemas.openxmlformats.org/officeDocument/2006/relationships" id="286" r:id="Rf1693c0c0fe842cb"/>
    <p:sldId xmlns:r="http://schemas.openxmlformats.org/officeDocument/2006/relationships" id="287" r:id="R7e0ea1de9bc34a02"/>
    <p:sldId xmlns:r="http://schemas.openxmlformats.org/officeDocument/2006/relationships" id="288" r:id="Rf9194001371243d2"/>
    <p:sldId xmlns:r="http://schemas.openxmlformats.org/officeDocument/2006/relationships" id="289" r:id="R1e2a6c8afdfe427f"/>
    <p:sldId xmlns:r="http://schemas.openxmlformats.org/officeDocument/2006/relationships" id="290" r:id="R1940161a0e72454c"/>
    <p:sldId xmlns:r="http://schemas.openxmlformats.org/officeDocument/2006/relationships" id="291" r:id="R3bc05e6b46b04385"/>
    <p:sldId xmlns:r="http://schemas.openxmlformats.org/officeDocument/2006/relationships" id="292" r:id="R73f5b1d34fac42ea"/>
    <p:sldId xmlns:r="http://schemas.openxmlformats.org/officeDocument/2006/relationships" id="293" r:id="R4e398c7eb37d45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50e09beb05464c" /><Relationship Type="http://schemas.openxmlformats.org/officeDocument/2006/relationships/slideMaster" Target="/ppt/slideMasters/slideMaster1.xml" Id="R273308bfb5444220" /><Relationship Type="http://schemas.openxmlformats.org/officeDocument/2006/relationships/notesMaster" Target="/ppt/notesMasters/notesMaster1.xml" Id="R8631834fff72424d" /><Relationship Type="http://schemas.openxmlformats.org/officeDocument/2006/relationships/presProps" Target="/ppt/presProps.xml" Id="R7077bf4754d745d7" /><Relationship Type="http://schemas.openxmlformats.org/officeDocument/2006/relationships/tableStyles" Target="/ppt/tableStyles.xml" Id="Rb3224d80a8914135" /><Relationship Type="http://schemas.openxmlformats.org/officeDocument/2006/relationships/slide" Target="/ppt/slides/slide1.xml" Id="R2b2dfa742d6d48bd" /><Relationship Type="http://schemas.openxmlformats.org/officeDocument/2006/relationships/slide" Target="/ppt/slides/slide2.xml" Id="R392eb356948642f7" /><Relationship Type="http://schemas.openxmlformats.org/officeDocument/2006/relationships/slide" Target="/ppt/slides/slide3.xml" Id="R5f76dabb1f2c407f" /><Relationship Type="http://schemas.openxmlformats.org/officeDocument/2006/relationships/slide" Target="/ppt/slides/slide4.xml" Id="R17ec01e3200d42cb" /><Relationship Type="http://schemas.openxmlformats.org/officeDocument/2006/relationships/slide" Target="/ppt/slides/slide5.xml" Id="Rc8845251963a4b2e" /><Relationship Type="http://schemas.openxmlformats.org/officeDocument/2006/relationships/slide" Target="/ppt/slides/slide6.xml" Id="R911ae8eb893e4352" /><Relationship Type="http://schemas.openxmlformats.org/officeDocument/2006/relationships/slide" Target="/ppt/slides/slide7.xml" Id="R8e4ffff5df1f4815" /><Relationship Type="http://schemas.openxmlformats.org/officeDocument/2006/relationships/slide" Target="/ppt/slides/slide8.xml" Id="Ra0aa6cd7d9ba4162" /><Relationship Type="http://schemas.openxmlformats.org/officeDocument/2006/relationships/slide" Target="/ppt/slides/slide9.xml" Id="Reb0cf98889b547e1" /><Relationship Type="http://schemas.openxmlformats.org/officeDocument/2006/relationships/slide" Target="/ppt/slides/slide10.xml" Id="R40d165b2188543cf" /><Relationship Type="http://schemas.openxmlformats.org/officeDocument/2006/relationships/slide" Target="/ppt/slides/slide11.xml" Id="Rc729bcf7ff03419b" /><Relationship Type="http://schemas.openxmlformats.org/officeDocument/2006/relationships/slide" Target="/ppt/slides/slide12.xml" Id="R111409556f454cda" /><Relationship Type="http://schemas.openxmlformats.org/officeDocument/2006/relationships/slide" Target="/ppt/slides/slide13.xml" Id="R8851847b6cf64d11" /><Relationship Type="http://schemas.openxmlformats.org/officeDocument/2006/relationships/slide" Target="/ppt/slides/slide14.xml" Id="R0efbaaf2acbd43e1" /><Relationship Type="http://schemas.openxmlformats.org/officeDocument/2006/relationships/slide" Target="/ppt/slides/slide15.xml" Id="R542269d1375b4075" /><Relationship Type="http://schemas.openxmlformats.org/officeDocument/2006/relationships/slide" Target="/ppt/slides/slide16.xml" Id="R6caeb18ec06141e6" /><Relationship Type="http://schemas.openxmlformats.org/officeDocument/2006/relationships/slide" Target="/ppt/slides/slide17.xml" Id="Radf7e53fddbc4457" /><Relationship Type="http://schemas.openxmlformats.org/officeDocument/2006/relationships/slide" Target="/ppt/slides/slide18.xml" Id="R2b18e04cfde04f0e" /><Relationship Type="http://schemas.openxmlformats.org/officeDocument/2006/relationships/slide" Target="/ppt/slides/slide19.xml" Id="Rb631a814e458415b" /><Relationship Type="http://schemas.openxmlformats.org/officeDocument/2006/relationships/slide" Target="/ppt/slides/slide20.xml" Id="R56b827a04e6b49b0" /><Relationship Type="http://schemas.openxmlformats.org/officeDocument/2006/relationships/slide" Target="/ppt/slides/slide21.xml" Id="R897669a23af546c0" /><Relationship Type="http://schemas.openxmlformats.org/officeDocument/2006/relationships/slide" Target="/ppt/slides/slide22.xml" Id="R663a8a70178d42bd" /><Relationship Type="http://schemas.openxmlformats.org/officeDocument/2006/relationships/slide" Target="/ppt/slides/slide23.xml" Id="R64dec1143d4b4923" /><Relationship Type="http://schemas.openxmlformats.org/officeDocument/2006/relationships/slide" Target="/ppt/slides/slide24.xml" Id="R8cd038faba7d414f" /><Relationship Type="http://schemas.openxmlformats.org/officeDocument/2006/relationships/slide" Target="/ppt/slides/slide25.xml" Id="Re29a7573231846f0" /><Relationship Type="http://schemas.openxmlformats.org/officeDocument/2006/relationships/slide" Target="/ppt/slides/slide26.xml" Id="R6b7c9dc82843427e" /><Relationship Type="http://schemas.openxmlformats.org/officeDocument/2006/relationships/slide" Target="/ppt/slides/slide27.xml" Id="Rfc56e131880744ef" /><Relationship Type="http://schemas.openxmlformats.org/officeDocument/2006/relationships/slide" Target="/ppt/slides/slide28.xml" Id="Rfb6688889c9b48ec" /><Relationship Type="http://schemas.openxmlformats.org/officeDocument/2006/relationships/slide" Target="/ppt/slides/slide29.xml" Id="Ra5a5d63b64d642be" /><Relationship Type="http://schemas.openxmlformats.org/officeDocument/2006/relationships/slide" Target="/ppt/slides/slide30.xml" Id="Rd1ff7601ddd54ddd" /><Relationship Type="http://schemas.openxmlformats.org/officeDocument/2006/relationships/slide" Target="/ppt/slides/slide31.xml" Id="Rf1693c0c0fe842cb" /><Relationship Type="http://schemas.openxmlformats.org/officeDocument/2006/relationships/slide" Target="/ppt/slides/slide32.xml" Id="R7e0ea1de9bc34a02" /><Relationship Type="http://schemas.openxmlformats.org/officeDocument/2006/relationships/slide" Target="/ppt/slides/slide33.xml" Id="Rf9194001371243d2" /><Relationship Type="http://schemas.openxmlformats.org/officeDocument/2006/relationships/slide" Target="/ppt/slides/slide34.xml" Id="R1e2a6c8afdfe427f" /><Relationship Type="http://schemas.openxmlformats.org/officeDocument/2006/relationships/slide" Target="/ppt/slides/slide35.xml" Id="R1940161a0e72454c" /><Relationship Type="http://schemas.openxmlformats.org/officeDocument/2006/relationships/slide" Target="/ppt/slides/slide36.xml" Id="R3bc05e6b46b04385" /><Relationship Type="http://schemas.openxmlformats.org/officeDocument/2006/relationships/slide" Target="/ppt/slides/slide37.xml" Id="R73f5b1d34fac42ea" /><Relationship Type="http://schemas.openxmlformats.org/officeDocument/2006/relationships/slide" Target="/ppt/slides/slide38.xml" Id="R4e398c7eb37d45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42cbe025b144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0dcfebcee24f00" /><Relationship Type="http://schemas.openxmlformats.org/officeDocument/2006/relationships/notesMaster" Target="/ppt/notesMasters/notesMaster1.xml" Id="R61a6d853edda4b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c620629460d4a91" /><Relationship Type="http://schemas.openxmlformats.org/officeDocument/2006/relationships/notesMaster" Target="/ppt/notesMasters/notesMaster1.xml" Id="R7b25e460f7e84e2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edb0f6a15d4d63" /><Relationship Type="http://schemas.openxmlformats.org/officeDocument/2006/relationships/notesMaster" Target="/ppt/notesMasters/notesMaster1.xml" Id="R9f77f0aeabff4e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a475d536344f70" /><Relationship Type="http://schemas.openxmlformats.org/officeDocument/2006/relationships/notesMaster" Target="/ppt/notesMasters/notesMaster1.xml" Id="R9f8590086eb042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ff24796c0474619" /><Relationship Type="http://schemas.openxmlformats.org/officeDocument/2006/relationships/notesMaster" Target="/ppt/notesMasters/notesMaster1.xml" Id="R0f69d74d790745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c199c351b3471e" /><Relationship Type="http://schemas.openxmlformats.org/officeDocument/2006/relationships/notesMaster" Target="/ppt/notesMasters/notesMaster1.xml" Id="Rd8bbec2b329343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01aeff19d6419f" /><Relationship Type="http://schemas.openxmlformats.org/officeDocument/2006/relationships/notesMaster" Target="/ppt/notesMasters/notesMaster1.xml" Id="R8c04ead89a87407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fec181feb346aa" /><Relationship Type="http://schemas.openxmlformats.org/officeDocument/2006/relationships/notesMaster" Target="/ppt/notesMasters/notesMaster1.xml" Id="R03cf491eea1940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4607da94374706" /><Relationship Type="http://schemas.openxmlformats.org/officeDocument/2006/relationships/notesMaster" Target="/ppt/notesMasters/notesMaster1.xml" Id="Rf412d454bd2245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9791ee46c0449d" /><Relationship Type="http://schemas.openxmlformats.org/officeDocument/2006/relationships/notesMaster" Target="/ppt/notesMasters/notesMaster1.xml" Id="R005d62ff80aa4a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0bd9d9250a451a" /><Relationship Type="http://schemas.openxmlformats.org/officeDocument/2006/relationships/notesMaster" Target="/ppt/notesMasters/notesMaster1.xml" Id="Re55165bc604e44d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3c3e883c224027" /><Relationship Type="http://schemas.openxmlformats.org/officeDocument/2006/relationships/notesMaster" Target="/ppt/notesMasters/notesMaster1.xml" Id="Rfa420c01752d471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efc28d951942a2" /><Relationship Type="http://schemas.openxmlformats.org/officeDocument/2006/relationships/notesMaster" Target="/ppt/notesMasters/notesMaster1.xml" Id="R53a1b030b4184e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000d1b1f7064c38" /><Relationship Type="http://schemas.openxmlformats.org/officeDocument/2006/relationships/notesMaster" Target="/ppt/notesMasters/notesMaster1.xml" Id="R6075c75d630241c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05ce2e223a473b" /><Relationship Type="http://schemas.openxmlformats.org/officeDocument/2006/relationships/notesMaster" Target="/ppt/notesMasters/notesMaster1.xml" Id="R1bcf00cb0a5e430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b0553f180f34bef" /><Relationship Type="http://schemas.openxmlformats.org/officeDocument/2006/relationships/notesMaster" Target="/ppt/notesMasters/notesMaster1.xml" Id="R5d4230e6028c41d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1d3180342c44346" /><Relationship Type="http://schemas.openxmlformats.org/officeDocument/2006/relationships/notesMaster" Target="/ppt/notesMasters/notesMaster1.xml" Id="R9367679f7e364ca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98766f9c90948ed" /><Relationship Type="http://schemas.openxmlformats.org/officeDocument/2006/relationships/notesMaster" Target="/ppt/notesMasters/notesMaster1.xml" Id="R17f7381c3b364c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81f13955d9b41cb" /><Relationship Type="http://schemas.openxmlformats.org/officeDocument/2006/relationships/notesMaster" Target="/ppt/notesMasters/notesMaster1.xml" Id="Rc0b85d6e6f574b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6987877ddb94fcf" /><Relationship Type="http://schemas.openxmlformats.org/officeDocument/2006/relationships/notesMaster" Target="/ppt/notesMasters/notesMaster1.xml" Id="R12398fd41125458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910692b7fe7492e" /><Relationship Type="http://schemas.openxmlformats.org/officeDocument/2006/relationships/notesMaster" Target="/ppt/notesMasters/notesMaster1.xml" Id="Rebe3c84578b949f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24409bd1d44477b" /><Relationship Type="http://schemas.openxmlformats.org/officeDocument/2006/relationships/notesMaster" Target="/ppt/notesMasters/notesMaster1.xml" Id="Rc4f08b4c2c03479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ecc589e8d5f4f95" /><Relationship Type="http://schemas.openxmlformats.org/officeDocument/2006/relationships/notesMaster" Target="/ppt/notesMasters/notesMaster1.xml" Id="R4ad7b3a73908471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2468b8dbcbf4f8a" /><Relationship Type="http://schemas.openxmlformats.org/officeDocument/2006/relationships/notesMaster" Target="/ppt/notesMasters/notesMaster1.xml" Id="Ra1e7e95e60bc417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ee7023763744035" /><Relationship Type="http://schemas.openxmlformats.org/officeDocument/2006/relationships/notesMaster" Target="/ppt/notesMasters/notesMaster1.xml" Id="Rbde290c2884143d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afdf48a56634bbf" /><Relationship Type="http://schemas.openxmlformats.org/officeDocument/2006/relationships/notesMaster" Target="/ppt/notesMasters/notesMaster1.xml" Id="R60b3b25c29214eb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bdf8b689b154b65" /><Relationship Type="http://schemas.openxmlformats.org/officeDocument/2006/relationships/notesMaster" Target="/ppt/notesMasters/notesMaster1.xml" Id="R788457f93b8d426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4c1b60691b74c73" /><Relationship Type="http://schemas.openxmlformats.org/officeDocument/2006/relationships/notesMaster" Target="/ppt/notesMasters/notesMaster1.xml" Id="Ra4ad80f18864465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4643c862b244ea2" /><Relationship Type="http://schemas.openxmlformats.org/officeDocument/2006/relationships/notesMaster" Target="/ppt/notesMasters/notesMaster1.xml" Id="Rf1b9c43e409f4fa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a709668f05e4cf5" /><Relationship Type="http://schemas.openxmlformats.org/officeDocument/2006/relationships/notesMaster" Target="/ppt/notesMasters/notesMaster1.xml" Id="R0a8c10b5851d42c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010d2edc45449fa" /><Relationship Type="http://schemas.openxmlformats.org/officeDocument/2006/relationships/notesMaster" Target="/ppt/notesMasters/notesMaster1.xml" Id="Rd5f4f1282e454f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09a4638734b844a8" /><Relationship Type="http://schemas.openxmlformats.org/officeDocument/2006/relationships/notesMaster" Target="/ppt/notesMasters/notesMaster1.xml" Id="R568f65d898c54a2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ee001cd8c124122" /><Relationship Type="http://schemas.openxmlformats.org/officeDocument/2006/relationships/notesMaster" Target="/ppt/notesMasters/notesMaster1.xml" Id="Reeae05cbeb75427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e4f4366be3d4ba0" /><Relationship Type="http://schemas.openxmlformats.org/officeDocument/2006/relationships/notesMaster" Target="/ppt/notesMasters/notesMaster1.xml" Id="Re2f78ce398ee4da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acdce21fddd429f" /><Relationship Type="http://schemas.openxmlformats.org/officeDocument/2006/relationships/notesMaster" Target="/ppt/notesMasters/notesMaster1.xml" Id="R6027204e6a624ac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3a48cce05134899" /><Relationship Type="http://schemas.openxmlformats.org/officeDocument/2006/relationships/notesMaster" Target="/ppt/notesMasters/notesMaster1.xml" Id="Rff18939ee0cd46b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145bdc711204f24" /><Relationship Type="http://schemas.openxmlformats.org/officeDocument/2006/relationships/notesMaster" Target="/ppt/notesMasters/notesMaster1.xml" Id="R4d95c5f88c444b81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5c4ad9591714e1e" /><Relationship Type="http://schemas.openxmlformats.org/officeDocument/2006/relationships/notesMaster" Target="/ppt/notesMasters/notesMaster1.xml" Id="Rdf9a0d13cdca46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分鐘循環顯示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講述：歡迎各位。請先確認帳號可以使用，不要急著送出建置需求。今天會比較兩條路徑，請先保留 Lovable 的可用額度。 如果今天的 5 點已經用完，請先向我示意，我會私下提供群組加入方式。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操作：打開學員講義的環境準備。請已完成的人協助鄰座。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檢核：學員能指出自己的工具、帳號與教材所在位置。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轉場：接著確認本機起始專案。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講述：起始專案尚未實作搜尋、收藏或衝堂提示。請先不要打開參考解答。設定及安裝時間會另外記錄，正式建置才開始 15 分鐘計時。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 starter 終端機示範兩個指令，指出需要停留在有 package.json 的資料夾。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檢核：學員能看到空白頁，知道本機網址。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轉場：最後確認額度與卡關時的接續方法。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時間：準備時段，約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講述：免費建置額度不是固定五次提示。如果今天的 5 點已用完，或可用額度不足，請向我示意，我會私下提供群組加入方式。加入後依現場安排確認是否能繼續實作。若仍無法建置，保留當下狀態，使用離線版完成驗收練習。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操作：查看帳號餘額。由講師私下提供邀請並協助加入群組，確認實作入口可用。群組加入屬環境準備，另外記錄設定時間。指出離線版本作為下一層備援。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檢核：每人知道自己的額度來源。額度用完者能向講師取得群組加入方式；仍無法實作者知道離線檔案位置。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轉場：13:30 開始正式課程。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時間：13:30–13:31，1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講述：我是林建宏 Wolke。我把自己定位為一名啟發者，透過分享開發經驗，幫助大家理解問題並動手實作。我是 Google Developer Expert、LINE Expert，也是技術書作者，持續分享 AI 人機協作、提示工程與程式開發。今天用同一份 Web 需求，親自觀察兩種工具的建置、修改與驗收。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操作：約 30 秒介紹背景，指出 Medium 文章與著作。接著說明本次以 Codex 桌面 App 示範通用工具，CLI 操作放在附錄。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檢核：確認全場能看清投影字體。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轉場：先看看今天要完成的作品。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時間：13:31–13:33，2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講述：展示採真實議程附件的參考版。今天要完成的是找議程、收藏、重新整理後保留，再加上衝堂提示。這張畫面只是其中一種 UI，不要求學員模仿。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操作：現場開啟離線參考版，搜尋林建宏，收藏 4996、5030，重新整理，確認收藏仍在。切第二版加入 5018 看提醒。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檢核：請學員說出畫面可見但尚未證明的功能，例如重新整理保存。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轉場：接下來說明今天要留下什麼。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時間：13:33–13:35，2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講述：請舉手讓我知道大家主要使用哪套工具。你可以沿用自己熟悉的工具，只要使用相同需求及資料，並記下條件。今天希望每個人都能留下可操作作品和自己的觀察。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操作：快速詢問工具分布。指出兩段 15 分鐘建置與各 5 分鐘修改。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檢核：確認學員知道可以自選通用工具，不必現場換裝。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轉場：先看兩類工具在工作流程中的差別。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時間：13:35–13:37，2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講述：通用工具可以在多種專案中工作，場景工具把特定開發流程整合在一起。兩者能力有重疊，不能只憑介面分類就推斷誰一定比較好。今天選 Web 開發作為共同任務。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操作：指出本機預覽與平台預覽的差異。本次 Lovable 新專案使用平台原生技術堆疊，本機為 React、TypeScript 與 Vite。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檢核：學員理解比較的是整個工作流程，無法單獨歸因於模型。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轉場：接著看兩套 AI 工具如何完成相同任務。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時間：13:37–13:39，2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講述：本課只比較 Lovable 與通用 AI 工具，講師以 Codex 桌面 App 示範。兩套各自從新專案開始，使用相同資料與短提示，先完成初版，再加入衝堂提示。90 分鐘內以實作、試用及驗收觀察差異；UI 可以自由設計。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操作：對照兩條流程，指出平台預覽與本機預覽。提醒學員：初版各 15 分鐘、修改各 5 分鐘，驗收也包含在內。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檢核：確認學員知道今天只有兩套 AI 工具需要操作，並依相同 UX 條件驗收。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轉場：現在把完成標準寫清楚。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時間：13:39–13:41，2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講述：我們固定資料與 UX 邏輯，不固定畫面。所有議程兩天各 35 筆、共 70 筆；使用者能搜尋、用日期和主題一起篩選、收藏並保留即可。資料可能有多位講者與多個標籤，不能漏掉。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操作：快速指向 A1–A6 文件，確認學員找到表格。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檢核：請一位學員說出 A3 的預期，例如 AI 搜尋加 Web 主題應為零筆。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轉場：接著定義如何計時。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時間：13:41–13:43，2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講述：設定與套件安裝另計。每輪從開始補充或送出該輪提示時起算，生成等待、除錯與驗收都算進去。到截止時沒通過就保留未完成狀態。不要把截止的十五分鐘寫成十五分鐘完成。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操作：展示紀錄表的狀態與通過 ID 欄位。說明除錯時間包含在經過時間內，不能再加總一次。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檢核：確認學員能區分未取得、未測及零。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轉場：最後把規格整理成可貼給工具的提示。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時間：13:43–13:45，2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講述：人不需要先寫成工程規格才開始。上傳資料，講清楚想做什麼、用起來要怎樣，再讓 Agent 做出可試用的第一版。色彩、版型、字型都可以自由發揮。驗收表拿在自己手上，發現缺漏再描述操作與預期。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操作：直接複製本頁四句提示。下一頁提供 JSON 附件位置與完整網址，先上傳再送出。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JSON 是附件，不需複製 70 筆資料；不把 UI 相似度當成功條件。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轉場：先確認這份資料從哪裡來，以及要上傳哪個檔案。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時間：13:45–13:47，2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講述：官網議程是公開來源；我們把兩天 70 筆場次整理成固定 JSON 快照。投影片寫出來源及附件完整網址。目前 GitHub repo 為私人，學員可使用教材包 materials 裡的 JSON；沒有 repo 權限時不要卡在 GitHub 登入。提示與資料分開，上傳完再送出第 11 頁提示。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操作：示範從教材包選取 hwdc-agenda-2026.json 上傳，確認附件後貼第 11 頁提示。指出預覽入口並開始驗收。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檢核：學員準備好送出提示及計時。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轉場：下一頁會固定顯示任務。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時間：13:47–14:03，1 分鐘說明加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講述：計時從 13:48 開始。大家要在這十五分鐘裡建置並操作六個驗收項目。畫面出現後就開始檢查，不要把最後一分鐘全部留給驗收。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操作：第 5 分鐘提醒查看預覽。第 10 分鐘提醒轉入驗收。最後 2 分鐘提醒保存紀錄。依現場狀況走動但不逐台長時間排障。 額度用完者先由講師私下提供群組加入方式；仍無法接續時依 2 分鐘規則切離線版。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檢核：完成條件是可操作初版及 A1–A6 紀錄。截止未完成同樣保留觀察。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轉場：時間到後一起回報完成狀態。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時間：14:03–14:05，2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講述：搜尋林建宏，日期選 10/14，主題選 AI 開發工具實戰和流程改造，應只剩 4996。改成 SDLC 相關議題為零，改 10/15 也為零。另以陳宜昌的三個主題標籤檢查多標籤是否遺漏。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操作：依 A3 實際切換條件，不要求特定按鈕位置。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檢核：條件是 AND；同一場的多個 tags 都能被找出。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轉場：接下來從空白起點使用通用工具。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時間：14:05–14:06，1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講述：今天以 Codex 桌面 App 示範通用開發代理。開啟正確資料夾很重要，工具需要看到這次實驗的檔案。其他工具沿用相同需求與資料即可。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操作：桌面選 Codex，開啟獨立 starter 副本。指出專案路徑與檔案清單。官方介面更新時，以軟體開發及本機資料夾功能辨認。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檢核：確認沒有學員直接把第一條路徑的程式交給第二條路徑。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轉場：下一頁直接列出可貼上的完整提示。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時間：14:06–14:06:40，40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講述：這次直接貼本頁提示，資料位置寫在第一行。本機檔案與上傳 Lovable 的附件內容一致，UI 不必一樣。驗收表由人操作，發現問題再補充。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操作：複製本頁完整內容至 Codex，確認專案是獨立 starter。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檢核：學員知道資料的位置及共同規格。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轉場：接著確認結果如何執行。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時間：14:06:40–14:07:20，40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講述：代理回覆已完成之後，仍需確認預覽真的可用。請看它改了哪些檔案，並保留錯誤原文。只有本機頁面開啟且驗收成立，才算對應功能完成。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操作：展示終端機及檔案差異入口。若預覽無法啟動，依兩分鐘備援規則繼續。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檢核：學員知道如何找到錯誤資訊。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轉場：現在開始第二條路徑的計時。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時間：14:07:20–14:23，40 秒說明加 15 分鐘實作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講述：13:48 那一輪已經結束，請不要把未完成的工作混到這一輪。這次從 14:08 計時，依相同規格做一份新作品。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操作：14:08 開始，14:13 提醒看預覽，14:18 提醒驗收，14:21 提醒留紀錄，14:23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檢核：完成條件是第二份可操作版本及六項紀錄。若使用備援，明示來源。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轉場：時間到，一起確認最容易漏掉的保存。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時間：14:23–14:25，2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講述：請確認我的議程只顯示收藏，排序正確，重新整理後仍在。保存是在同一瀏覽器與同一網址下比較。若埠號改變，瀏覽器會視為另一個來源。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操作：請學員記下本輪通過項目、時間及主要卡關原因，保留目前的收藏供下一輪檢查。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檢核：兩條路徑都有可辨識的結果狀態。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轉場：現在需求要改變了。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時間：14:25–14:25:20，20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講述：現在增加一個需求：讓使用者知道哪些收藏時間衝突。提醒要列出相關議程，但不自動取消任何收藏。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操作：展示第二版的衝堂區域，快速指出有兩場名稱與時段。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檢核：學員理解修改的範圍。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轉場：先把邊界說清楚。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時間：14:25:20–14:25:40，20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講述：用真實場次練習邊界：5030 和 5009 部分重疊；4996 包含 5018；4996 和 4993 同時段；4957 結束 10:10 正好接 4958，因此不衝堂。再比 4996 和 4992，鐘點相同但日期不同，不能誤報。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操作：每次只收藏兩場，檢查完整日期時間。數學判斷式可放講義，不必要求大家把它寫進首輪提示。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檢核：區分部分重疊、包含、相同、首尾相接與跨日。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轉場：最後補上修改時必須保留的行為。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時間：14:25:40–14:26，20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講述：這個提醒要看全部收藏，不受目前搜尋與篩選影響。請維持原來的儲存鍵與格式，避免改完功能卻清掉收藏。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操作：直接複製本頁三句提示，在兩套工具各自的初版接續修改。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檢核：學員準備好在各自的第一版繼續修改。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轉場：開始各五分鐘。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時間：14:26–14:36，共 10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講述：先用五分鐘修改 Lovable，14:31 切換通用工具。兩條路徑各保留自己的提示與結果，不互相複製程式。若額度不足，先保留狀態並向講師取得群組加入方式。若改變實作環境，記錄切換前後的條件，確認仍是自己的初版專案及收藏；無法接續時使用備援版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操作：14:26 開始第一段，14:29 提醒驗收，14:31 切換，14:34 提醒驗收，14:36 截止。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檢核：完成條件是 B1–B6 的結果紀錄。沒有測到的項目填未測。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轉場：一起檢查修改有沒有影響原功能。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時間：14:36–14:40，4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講述：加入新功能後重做 A1–A6。特別確認第一版原有收藏沒有遺失，日期與多標籤篩選仍正確。此圖展示 4957 與 4958 相接沒有提示。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操作：保留約兩分鐘操作，再邀請兩位學員各用一句話分享：一個成功案例或一個預期與實際不符的地方。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檢核：學生知道 AI 修改也可能破壞舊功能，紀錄可重現。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轉場：接著用紀錄討論效率。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時間：14:40–14:43，3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講述：這是上次長提示與 12 筆合成資料的操作彩排。兩套最後都完成。Codex 初版約 1 分 55 秒、修改約 1 分 3 秒；Lovable 初版約 4 分 22 秒、修改核心約 3 分 33 秒，精確手機尺寸在截止後補測。代理已看過解答，且第二輪交錯操作，不能據此排名。新版改用真實附件、短提示和自由 UI，必須另測。 詳細紀錄見 evidence/rehearsal-observations.md。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操作：先比較通過項目，再看時間與限制。補充 Lovable 衝堂區可直接取消，Codex 由卡片取消，示範 UX 路徑的差異。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檢核：觀察時間不被解讀成普遍速度；沒有把舊成績當作新條件成績。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轉場：我們用一個可重現錯誤來看除錯工作。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時間：14:43–14:45，2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講述：若沒有適合教學的實測錯誤，就用明確標示的刻意植入案例。把小於寫成小於等於會使 4957 與 4958 首尾相接被誤判。修正後，真正重疊仍應提醒，跨日不能混在一起。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操作：把範本中的操作填成收藏 4957、4958，實際填看到衝堂提示，預期填 10:10 首尾相接應不衝堂。送出後重做邊界驗收。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檢核：學員能說出修正後要測的兩種結果。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轉場：接著把時間與費用放在一起看。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時間：14:45–14:48，3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講述：本頁屬舊版 12 筆資料、長提示的彩排。Lovable 逐訊息實耗為初版 2 credits、修改 3.10，共 5.10。使用 Business 每月 1,200 credits 正常月費 US$588 全數分攤，單位 US$0.49，合計 US$2.499，約 US$2.50。此分攤未把每日附送點數或訂閱功能另外估值。工作區目前有全額訂閱優惠，當期訂閱帳單為 US$0，因此表中的金額不是專案實扣。若以 Business 加購 US$30／50 credits 換算，則為 US$3.06，兩個口徑不相加。Codex 在兩段實作時間窗共 743,895 輸入 tokens（其中 730,150 快取、13,745 未快取）及 10,380 輸出。依 GPT-6 Astra Standard 每百萬 tokens 的 250／25／1250 credits，換算 34.665 Codex credits。另採官方 2,500 credits 等值 US$100 的面額假設，得到約 US$1.39。這不是已核實的額度扣除或帳單。速度模式未記錄，若依加購額度的 Fast 2 倍／Ultrafast 6 倍試算，約 US$2.77／US$8.32。Codex 長對話及交錯操作使時間窗歸屬只能近似，和 Lovable 平台內訊息耗點的邊界不完全一致。這些結果不足以判定誰較便宜。人的主動工時與等待另外記錄，缺值不補零。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操作：先指認直接取得的用量，再指認換算假設。需要細節時，開啟教材 evidence/cost-check-20261013.html，展示兩張 Lovable 訊息耗點截圖、Codex token 明細與公式。提醒新條件的 70 筆議程比較仍待測。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檢核：學員能區分實耗、正常訂閱分攤、Standard 情境估算與帳單實扣，不把不同平台 credits 當成相同單位，也不重複加總快取輸入或推理輸出。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轉場：除了這次用量，接著看修改範圍與後續接手會帶來什麼工作。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本地舊條件彩排紀錄</a:t>
            </a:r>
          </a:p>
          <a:p xmlns:a="http://schemas.openxmlformats.org/drawingml/2006/main">
            <a:r>
              <a:t>rehearsal-observations.md</a:t>
            </a:r>
          </a:p>
          <a:p xmlns:a="http://schemas.openxmlformats.org/drawingml/2006/main">
            <a:r>
              <a:t>OpenAI Codex for students</a:t>
            </a:r>
          </a:p>
          <a:p xmlns:a="http://schemas.openxmlformats.org/drawingml/2006/main">
            <a:r>
              <a:t>https://developers.openai.com/community/students</a:t>
            </a:r>
          </a:p>
          <a:p xmlns:a="http://schemas.openxmlformats.org/drawingml/2006/main">
            <a:r>
              <a:t>舊彩排用量與費用補充</a:t>
            </a:r>
          </a:p>
          <a:p xmlns:a="http://schemas.openxmlformats.org/drawingml/2006/main">
            <a:r>
              <a:t>cost-check-20261013.md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時間：14:48–14:50，2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講述：讓兩位學員用不同 UI 展示同一任務：找到議程、收藏、看衝堂、決定取消或保留。上一輪 Lovable 在提醒區直接加取消按鈕，Codex 由卡片取消；兩者都能完成，但步驟不同。討論這些操作是否清楚，再分享個人的視覺風格。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操作：邀請鄰座互相試用 60 秒，再以 60 秒分享差異；不投票選工具冠軍。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檢核：能區分 UX 任務與 UI 表現，使用者找得到下一步。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轉場：把這些觀察帶回自己的工作情境。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時間：14:50–14:52，2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講述：選型從工作條件開始。要快速驗證新 Web 想法時，看看場景整合能節省哪些步驟。既有專案則先確認工具能否處理現有檔案與測試。持續維護需要累積更多紀錄，再調整組合。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操作：請學員寫下下一個真實專案及最重要的驗收條件。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檢核：學員給的理由能連結到本次觀察，不只說偏好某個品牌。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轉場：用 PDCA 把這種選擇變成可以重複的流程。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時間：14:52–14:54，2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講述：把今天做過的事情連回 PDCA。Plan 是我們固定的需求與資料，Do 是建置，Check 是驗收，Act 是修改方式與下一輪的選擇。模型能力的調整也應根據任務難度與驗收結果，不能只看單次價格。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操作：指出專案中需求、紀錄及錯誤重現三類文件。請學員保留一個下一輪要改善的點。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檢核：學員知道如何把一次體驗變成可重複流程。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轉場：最後看教材裡能接著練什麼。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時間：14:54–14:55，1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講述：講義整理了今天的步驟與提示，兩版解答供課後比對。完成者可練習行事曆匯出，注意時區及中文文字。先保留自己的紀錄，才能看出自己在哪一步需要改善。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操作：展示教材資料夾及 extension-ics.md 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檢核：學員知道離線版本、講義和參考答案的位置。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轉場：最後五分鐘開放問題。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時間：14:55–15:00，5 分鐘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講述：歡迎分享今天遇到的需求理解、修改或驗收問題。也可以把下一個專案的條件說出來，我們一起檢查選型理由。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操作：優先回覆能讓全場受益的問題。個別安裝問題留待課後。15:00 準時結束。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檢核：學員至少能說出一個條件與相對應的觀察。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轉場：謝謝大家，教材可繼續用於課後練習。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時間：附錄，視問題使用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講述：桌面 App 與 CLI 都可在專案上下文中工作。這裡示範最少的對應操作，不要求全場臨時換介面。CLI 需要先完成安裝和登入，設定與可用功能仍應記錄。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操作：在準備好的專案資料夾啟動 codex，引用相同檔案。需要查看額度時用 /status。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 CLI 是另一個操作入口，並非本課額外必裝工具。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轉場：回到實作或 Q&amp;A。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時間：附錄，準備時段使用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講述：第一次 npm ci 需要網路。請讀取錯誤原文，不要盲目重試。版本不符先完成環境或改用備援，本課不安排逐台重裝。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操作：指向套件安裝及本機網址，說明埠號已使用時工具可能改用其他埠。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檢核：學員能分辨資料夾錯誤、版本錯誤與套件下載失敗。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轉場：兩分鐘無法接續時切備援。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時間：附錄，現場排錯使用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講述：Lovable 的 5 點已用完或額度不足時，講師會私下提供群組加入方式。加入後確認可以繼續操作；若仍無法建置或服務中斷，再使用離線參考版。使用個人額度、講師群組或離線版，皆在紀錄中註明，保留切換原因。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操作：先提供群組加入協助；仍無法接續者，打開 offline/reference-v1.html 做驗收。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檢核：學員知道如何維持進度與紀錄來源。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轉場：回到下一個教學步驟。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時間：附錄，課後延伸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講述：先用這兩句人話描述想要的結果。實際 .ics 格式的欄位、跳脫、換行與時區，放在講義驗收及參考實作。匯入自己的行事曆軟體確認，不只相信文字回覆。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操作：複製本頁提示進行課後練習。檢查 4996 台北 13:00 對應 05:00 UTC，5030 台北 15:30 對應 07:30 UTC。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檢核：學員能說出至少一個畫面以外的驗收問題，例如 UTC 換算。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轉場：回到教材導覽。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時間：附錄，填表時使用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講述：有用的紀錄要能追溯條件。請寫驗收 ID，而不是只有感想。未取得、未測與零有不同意義：沒有查到用量不能填零，没有測功能不能填通過。 使用講師提供群組時，記下額度來源與切換時間。看不到個人用量時標示未取得。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操作：開啟完整範本，示範如何記下截止未完成及用量未知。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檢核：學員能依自己的資料填表，不虛構缺值。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轉場：需要更新簡報時，從這份紀錄取數。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時間：附錄，供查閱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講述：議程附件是官網公開快照，70 筆場次與 12 筆休息原始資料分開保存。來源、擷取日期、台北時區正規化有紀錄，開課兩套工具使用同一份。主辦資訊以官網為準。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操作：直接點選本頁官方網址，附件則看第 12 頁；完整來源記錄仍保留於 sources.md。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檢核：來源與限制可辨識。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轉場：結束。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來源（查核 2026-10-13）：</a:t>
            </a:r>
          </a:p>
          <a:p xmlns:a="http://schemas.openxmlformats.org/drawingml/2006/main">
            <a:r>
              <a:t>HWDC 公開議程</a:t>
            </a:r>
          </a:p>
          <a:p xmlns:a="http://schemas.openxmlformats.org/drawingml/2006/main">
            <a:r>
              <a:t>https://hwdc.ithome.com.tw/2026/lab/4996</a:t>
            </a:r>
          </a:p>
          <a:p xmlns:a="http://schemas.openxmlformats.org/drawingml/2006/main">
            <a:r>
              <a:t>Lovable FAQ</a:t>
            </a:r>
          </a:p>
          <a:p xmlns:a="http://schemas.openxmlformats.org/drawingml/2006/main">
            <a:r>
              <a:t>https://docs.lovable.dev/introduction/faq</a:t>
            </a:r>
          </a:p>
          <a:p xmlns:a="http://schemas.openxmlformats.org/drawingml/2006/main">
            <a:r>
              <a:t>Lovable subscription plans</a:t>
            </a:r>
          </a:p>
          <a:p xmlns:a="http://schemas.openxmlformats.org/drawingml/2006/main">
            <a:r>
              <a:t>https://docs.lovable.dev/introduction/subscription-plans</a:t>
            </a:r>
          </a:p>
          <a:p xmlns:a="http://schemas.openxmlformats.org/drawingml/2006/main">
            <a:r>
              <a:t>Lovable credits and usage</a:t>
            </a:r>
          </a:p>
          <a:p xmlns:a="http://schemas.openxmlformats.org/drawingml/2006/main">
            <a:r>
              <a:t>https://docs.lovable.dev/introduction/credits-and-usage</a:t>
            </a:r>
          </a:p>
          <a:p xmlns:a="http://schemas.openxmlformats.org/drawingml/2006/main">
            <a:r>
              <a:t>Lovable GitHub sync</a:t>
            </a:r>
          </a:p>
          <a:p xmlns:a="http://schemas.openxmlformats.org/drawingml/2006/main">
            <a:r>
              <a:t>https://docs.lovable.dev/integrations/github</a:t>
            </a:r>
          </a:p>
          <a:p xmlns:a="http://schemas.openxmlformats.org/drawingml/2006/main">
            <a:r>
              <a:t>OpenAI desktop quickstart</a:t>
            </a:r>
          </a:p>
          <a:p xmlns:a="http://schemas.openxmlformats.org/drawingml/2006/main">
            <a:r>
              <a:t>https://learn.chatgpt.com/docs/quickstart</a:t>
            </a:r>
          </a:p>
          <a:p xmlns:a="http://schemas.openxmlformats.org/drawingml/2006/main">
            <a:r>
              <a:t>OpenAI authentication</a:t>
            </a:r>
          </a:p>
          <a:p xmlns:a="http://schemas.openxmlformats.org/drawingml/2006/main">
            <a:r>
              <a:t>https://learn.chatgpt.com/docs/auth</a:t>
            </a:r>
          </a:p>
          <a:p xmlns:a="http://schemas.openxmlformats.org/drawingml/2006/main">
            <a:r>
              <a:t>OpenAI pricing</a:t>
            </a:r>
          </a:p>
          <a:p xmlns:a="http://schemas.openxmlformats.org/drawingml/2006/main">
            <a:r>
              <a:t>https://learn.chatgpt.com/docs/pricing</a:t>
            </a:r>
          </a:p>
          <a:p xmlns:a="http://schemas.openxmlformats.org/drawingml/2006/main">
            <a:r>
              <a:t>Codex CLI</a:t>
            </a:r>
          </a:p>
          <a:p xmlns:a="http://schemas.openxmlformats.org/drawingml/2006/main">
            <a:r>
              <a:t>https://learn.chatgpt.com/docs/codex/cli</a:t>
            </a:r>
          </a:p>
          <a:p xmlns:a="http://schemas.openxmlformats.org/drawingml/2006/main">
            <a:r>
              <a:t>RFC 5545 iCalendar</a:t>
            </a:r>
          </a:p>
          <a:p xmlns:a="http://schemas.openxmlformats.org/drawingml/2006/main">
            <a:r>
              <a:t>https://www.rfc-editor.org/rfc/rfc5545</a:t>
            </a:r>
          </a:p>
          <a:p xmlns:a="http://schemas.openxmlformats.org/drawingml/2006/main">
            <a:r>
              <a:t>Wolke 的 Medium 個人頁</a:t>
            </a:r>
          </a:p>
          <a:p xmlns:a="http://schemas.openxmlformats.org/drawingml/2006/main">
            <a:r>
              <a:t>https://wolkesau.medium.com/</a:t>
            </a:r>
          </a:p>
          <a:p xmlns:a="http://schemas.openxmlformats.org/drawingml/2006/main">
            <a:r>
              <a:t>Wolke@林建宏 自我介紹</a:t>
            </a:r>
          </a:p>
          <a:p xmlns:a="http://schemas.openxmlformats.org/drawingml/2006/main">
            <a:r>
              <a:t>https://medium.com/wolkesau/wolke-林建宏-自我介紹-6fbddfef865a</a:t>
            </a:r>
          </a:p>
          <a:p xmlns:a="http://schemas.openxmlformats.org/drawingml/2006/main">
            <a:r>
              <a:t>Wolke 的 Medium 著作頁</a:t>
            </a:r>
          </a:p>
          <a:p xmlns:a="http://schemas.openxmlformats.org/drawingml/2006/main">
            <a:r>
              <a:t>https://wolkesau.medium.com/books</a:t>
            </a:r>
          </a:p>
          <a:p xmlns:a="http://schemas.openxmlformats.org/drawingml/2006/main">
            <a:r>
              <a:t>HWDC 2026 官方議程與公開資料</a:t>
            </a:r>
          </a:p>
          <a:p xmlns:a="http://schemas.openxmlformats.org/drawingml/2006/main">
            <a:r>
              <a:t>https://hwdc.ithome.com.tw/2026/agenda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61efd105db499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edbae3e3c14f0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5478f32e2443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ba3594bb2348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813f99d74a47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388b458dc043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F1C6E9-4CB3-4A75-BC3F-6935EB45B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E2E2A9-2E9B-4F03-998A-278DC7B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1902D0-541C-4BD6-8DA2-06CF6DBFF9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6A4F12-8166-43D3-A467-8421C9365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F9F0D5-867A-4D95-9ED7-47B831E51C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DFF615C-E31E-43E8-AD6A-F2714513D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A320EC9-EF31-475B-8259-639F62BABE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B5D494F-AA88-4704-926E-9F2F9871193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4901014-A8C4-46E2-9A31-842DFAB5CB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CF4C6C-B686-4422-9F4D-B4E1AC46B4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a260a9b38d4a14" /><Relationship Type="http://schemas.openxmlformats.org/officeDocument/2006/relationships/slideLayout" Target="/ppt/slideLayouts/slideLayout1.xml" Id="R162628a76376491a" /><Relationship Type="http://schemas.openxmlformats.org/officeDocument/2006/relationships/slideLayout" Target="/ppt/slideLayouts/slideLayout2.xml" Id="R679728436cea492b" /><Relationship Type="http://schemas.openxmlformats.org/officeDocument/2006/relationships/slideLayout" Target="/ppt/slideLayouts/slideLayout3.xml" Id="R72b6730be5a548ba" /><Relationship Type="http://schemas.openxmlformats.org/officeDocument/2006/relationships/slideLayout" Target="/ppt/slideLayouts/slideLayout4.xml" Id="R580222f0086941a6" /><Relationship Type="http://schemas.openxmlformats.org/officeDocument/2006/relationships/slideLayout" Target="/ppt/slideLayouts/slideLayout5.xml" Id="R0f619118f6304b79" /><Relationship Type="http://schemas.openxmlformats.org/officeDocument/2006/relationships/slideLayout" Target="/ppt/slideLayouts/slideLayout6.xml" Id="R8ca0d29311a94f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2628a76376491a"/>
    <p:sldLayoutId xmlns:r="http://schemas.openxmlformats.org/officeDocument/2006/relationships" id="2147483650" r:id="R679728436cea492b"/>
    <p:sldLayoutId xmlns:r="http://schemas.openxmlformats.org/officeDocument/2006/relationships" id="2147483651" r:id="R72b6730be5a548ba"/>
    <p:sldLayoutId xmlns:r="http://schemas.openxmlformats.org/officeDocument/2006/relationships" id="2147483652" r:id="R580222f0086941a6"/>
    <p:sldLayoutId xmlns:r="http://schemas.openxmlformats.org/officeDocument/2006/relationships" id="2147483653" r:id="R0f619118f6304b79"/>
    <p:sldLayoutId xmlns:r="http://schemas.openxmlformats.org/officeDocument/2006/relationships" id="2147483654" r:id="R8ca0d29311a94f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f52ea3df8440ae" /><Relationship Type="http://schemas.openxmlformats.org/officeDocument/2006/relationships/notesSlide" Target="/ppt/notesSlides/notesSlide1.xml" Id="R9afdd7bd28db46b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e836c2f10e48ca" /><Relationship Type="http://schemas.openxmlformats.org/officeDocument/2006/relationships/notesSlide" Target="/ppt/notesSlides/notesSlide2.xml" Id="Rf678399d714e4b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dc20fcd2464a21" /><Relationship Type="http://schemas.openxmlformats.org/officeDocument/2006/relationships/notesSlide" Target="/ppt/notesSlides/notesSlide3.xml" Id="Rcbeccd6743bf42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392efcd3424a9f" /><Relationship Type="http://schemas.openxmlformats.org/officeDocument/2006/relationships/notesSlide" Target="/ppt/notesSlides/notesSlide4.xml" Id="R329ee1414d444e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bb0ad1ba1b4057" /><Relationship Type="http://schemas.openxmlformats.org/officeDocument/2006/relationships/image" Target="/ppt/media/image.png" Id="R56b28a8ad97b45f4" /><Relationship Type="http://schemas.openxmlformats.org/officeDocument/2006/relationships/notesSlide" Target="/ppt/notesSlides/notesSlide5.xml" Id="R66ccc3670af8437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b2dfdf854e4266" /><Relationship Type="http://schemas.openxmlformats.org/officeDocument/2006/relationships/notesSlide" Target="/ppt/notesSlides/notesSlide6.xml" Id="R567f5a1eb18743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5041fc18fb452a" /><Relationship Type="http://schemas.openxmlformats.org/officeDocument/2006/relationships/notesSlide" Target="/ppt/notesSlides/notesSlide7.xml" Id="R1ad0ec4f1eb94b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e568e2274a49c9" /><Relationship Type="http://schemas.openxmlformats.org/officeDocument/2006/relationships/notesSlide" Target="/ppt/notesSlides/notesSlide8.xml" Id="R3df3402b2c2645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47643b2fa74772" /><Relationship Type="http://schemas.openxmlformats.org/officeDocument/2006/relationships/notesSlide" Target="/ppt/notesSlides/notesSlide9.xml" Id="R4046491b8d9946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ce084edf9b4a23" /><Relationship Type="http://schemas.openxmlformats.org/officeDocument/2006/relationships/notesSlide" Target="/ppt/notesSlides/notesSlide10.xml" Id="R8fa6b11e2d97454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4fe0ff55da4be6" /><Relationship Type="http://schemas.openxmlformats.org/officeDocument/2006/relationships/notesSlide" Target="/ppt/notesSlides/notesSlide11.xml" Id="Rb696d1e2239343e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28a1a5159048b6" /><Relationship Type="http://schemas.openxmlformats.org/officeDocument/2006/relationships/hyperlink" Target="https://hwdc.ithome.com.tw/2026/agenda" TargetMode="External" Id="R5d3ffb0dfd3c4bdd" /><Relationship Type="http://schemas.openxmlformats.org/officeDocument/2006/relationships/hyperlink" Target="https://github.com/Wolke/hwdc-2026-ai-cli-vs-lovable/blob/main/HWDC-workshop/materials/hwdc-agenda-2026.json" TargetMode="External" Id="R9036879e98534168" /><Relationship Type="http://schemas.openxmlformats.org/officeDocument/2006/relationships/hyperlink" Target="https://github.com/Wolke/hwdc-2026-ai-cli-vs-lovable/blob/main/HWDC-workshop/materials/hwdc-agenda-2026.json" TargetMode="External" Id="R1f67978084634acb" /><Relationship Type="http://schemas.openxmlformats.org/officeDocument/2006/relationships/notesSlide" Target="/ppt/notesSlides/notesSlide12.xml" Id="Raa753f60f56e43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fc8bcdc745419d" /><Relationship Type="http://schemas.openxmlformats.org/officeDocument/2006/relationships/notesSlide" Target="/ppt/notesSlides/notesSlide13.xml" Id="Re9c5b0885eec4af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b4a47b76d24998" /><Relationship Type="http://schemas.openxmlformats.org/officeDocument/2006/relationships/image" Target="/ppt/media/image2.png" Id="R6cc88f57bcc64c9f" /><Relationship Type="http://schemas.openxmlformats.org/officeDocument/2006/relationships/notesSlide" Target="/ppt/notesSlides/notesSlide14.xml" Id="R0d2d73c7fec1446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fe47ecbdb14742" /><Relationship Type="http://schemas.openxmlformats.org/officeDocument/2006/relationships/notesSlide" Target="/ppt/notesSlides/notesSlide15.xml" Id="Rf3a36b4d258e438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5e8a80e1a14ada" /><Relationship Type="http://schemas.openxmlformats.org/officeDocument/2006/relationships/notesSlide" Target="/ppt/notesSlides/notesSlide16.xml" Id="Rc62c3ec9986a4b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078a3beef14325" /><Relationship Type="http://schemas.openxmlformats.org/officeDocument/2006/relationships/notesSlide" Target="/ppt/notesSlides/notesSlide17.xml" Id="Re426d4b0eb3e4e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e6d5d5be4545f7" /><Relationship Type="http://schemas.openxmlformats.org/officeDocument/2006/relationships/notesSlide" Target="/ppt/notesSlides/notesSlide18.xml" Id="R9d0a71fcc562431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f890ba36554ebe" /><Relationship Type="http://schemas.openxmlformats.org/officeDocument/2006/relationships/image" Target="/ppt/media/image3.png" Id="R8992a232d10a4b15" /><Relationship Type="http://schemas.openxmlformats.org/officeDocument/2006/relationships/notesSlide" Target="/ppt/notesSlides/notesSlide19.xml" Id="R3579ecd8dab5436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f7bb2afde24832" /><Relationship Type="http://schemas.openxmlformats.org/officeDocument/2006/relationships/image" Target="/ppt/media/image4.png" Id="R53c5cf547a934e4a" /><Relationship Type="http://schemas.openxmlformats.org/officeDocument/2006/relationships/notesSlide" Target="/ppt/notesSlides/notesSlide20.xml" Id="R9661734e4f2a4aa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81069f6bee4d4b" /><Relationship Type="http://schemas.openxmlformats.org/officeDocument/2006/relationships/notesSlide" Target="/ppt/notesSlides/notesSlide21.xml" Id="Rd204590c680c497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83a3282e9e4427" /><Relationship Type="http://schemas.openxmlformats.org/officeDocument/2006/relationships/notesSlide" Target="/ppt/notesSlides/notesSlide22.xml" Id="Rd19aafbac9a4428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8d6586a98f4e8b" /><Relationship Type="http://schemas.openxmlformats.org/officeDocument/2006/relationships/notesSlide" Target="/ppt/notesSlides/notesSlide23.xml" Id="Rbf9647661aae436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795486acdf4969" /><Relationship Type="http://schemas.openxmlformats.org/officeDocument/2006/relationships/image" Target="/ppt/media/image5.png" Id="Re2571a35c36e49b1" /><Relationship Type="http://schemas.openxmlformats.org/officeDocument/2006/relationships/notesSlide" Target="/ppt/notesSlides/notesSlide24.xml" Id="R3e0fc77c184b4e5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be6ed805d54a75" /><Relationship Type="http://schemas.openxmlformats.org/officeDocument/2006/relationships/notesSlide" Target="/ppt/notesSlides/notesSlide25.xml" Id="Rb1d0512ec14d4f0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d102bbccb543c2" /><Relationship Type="http://schemas.openxmlformats.org/officeDocument/2006/relationships/notesSlide" Target="/ppt/notesSlides/notesSlide26.xml" Id="R0a126596dd6342e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343277076042bf" /><Relationship Type="http://schemas.openxmlformats.org/officeDocument/2006/relationships/hyperlink" Target="https://docs.lovable.dev/introduction/subscription-plans" TargetMode="External" Id="R6a1cf7312df34f2c" /><Relationship Type="http://schemas.openxmlformats.org/officeDocument/2006/relationships/hyperlink" Target="https://learn.chatgpt.com/docs/pricing" TargetMode="External" Id="Re0f02177c1d14421" /><Relationship Type="http://schemas.openxmlformats.org/officeDocument/2006/relationships/notesSlide" Target="/ppt/notesSlides/notesSlide27.xml" Id="Rf3da2ecacd62417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b0d232677314dc5" /><Relationship Type="http://schemas.openxmlformats.org/officeDocument/2006/relationships/image" Target="/ppt/media/image6.png" Id="R40f8bf7a0da34b1c" /><Relationship Type="http://schemas.openxmlformats.org/officeDocument/2006/relationships/notesSlide" Target="/ppt/notesSlides/notesSlide28.xml" Id="R515a55e3766749b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0bc5e2b2e4e59" /><Relationship Type="http://schemas.openxmlformats.org/officeDocument/2006/relationships/notesSlide" Target="/ppt/notesSlides/notesSlide29.xml" Id="Rbfd4f708d9734cf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fafeeb93c04f56" /><Relationship Type="http://schemas.openxmlformats.org/officeDocument/2006/relationships/notesSlide" Target="/ppt/notesSlides/notesSlide30.xml" Id="R939ec7c3ada94ba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9a79d65b1044db" /><Relationship Type="http://schemas.openxmlformats.org/officeDocument/2006/relationships/notesSlide" Target="/ppt/notesSlides/notesSlide31.xml" Id="Rc35c7b4a161e425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e559b26ad642dc" /><Relationship Type="http://schemas.openxmlformats.org/officeDocument/2006/relationships/notesSlide" Target="/ppt/notesSlides/notesSlide32.xml" Id="Ra98ce4eed1a3462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f30dc7053f4706" /><Relationship Type="http://schemas.openxmlformats.org/officeDocument/2006/relationships/notesSlide" Target="/ppt/notesSlides/notesSlide33.xml" Id="Rf35f1ec0ebd7476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294f310cb7431a" /><Relationship Type="http://schemas.openxmlformats.org/officeDocument/2006/relationships/notesSlide" Target="/ppt/notesSlides/notesSlide34.xml" Id="Rcf547746f18c4e6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156e8f7edb4c8f" /><Relationship Type="http://schemas.openxmlformats.org/officeDocument/2006/relationships/notesSlide" Target="/ppt/notesSlides/notesSlide35.xml" Id="R17b82cd9b07d412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c408c2d4ba4b27" /><Relationship Type="http://schemas.openxmlformats.org/officeDocument/2006/relationships/hyperlink" Target="https://www.rfc-editor.org/rfc/rfc5545" TargetMode="External" Id="R4887ec4535634922" /><Relationship Type="http://schemas.openxmlformats.org/officeDocument/2006/relationships/notesSlide" Target="/ppt/notesSlides/notesSlide36.xml" Id="Rf24dce6cde8242c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3c79287a0e4767" /><Relationship Type="http://schemas.openxmlformats.org/officeDocument/2006/relationships/notesSlide" Target="/ppt/notesSlides/notesSlide37.xml" Id="R81a74b7a99004c9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4631866655484e" /><Relationship Type="http://schemas.openxmlformats.org/officeDocument/2006/relationships/hyperlink" Target="https://hwdc.ithome.com.tw/2026/agenda" TargetMode="External" Id="R2cd3e542bdf04de2" /><Relationship Type="http://schemas.openxmlformats.org/officeDocument/2006/relationships/hyperlink" Target="https://docs.lovable.dev/introduction/faq" TargetMode="External" Id="R73c594d989e14e71" /><Relationship Type="http://schemas.openxmlformats.org/officeDocument/2006/relationships/hyperlink" Target="https://docs.lovable.dev/introduction/credits-and-usage" TargetMode="External" Id="R9f2d4c57f0fc4db5" /><Relationship Type="http://schemas.openxmlformats.org/officeDocument/2006/relationships/hyperlink" Target="https://learn.chatgpt.com/docs/quickstart" TargetMode="External" Id="R6fc65d8f53dd40f5" /><Relationship Type="http://schemas.openxmlformats.org/officeDocument/2006/relationships/hyperlink" Target="https://learn.chatgpt.com/docs/auth" TargetMode="External" Id="R4e442ba0cd034cab" /><Relationship Type="http://schemas.openxmlformats.org/officeDocument/2006/relationships/hyperlink" Target="https://www.rfc-editor.org/rfc/rfc5545" TargetMode="External" Id="R71638f2f062546a7" /><Relationship Type="http://schemas.openxmlformats.org/officeDocument/2006/relationships/notesSlide" Target="/ppt/notesSlides/notesSlide38.xml" Id="Rfaf86836b70b44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F79B50-03C2-4D6C-9BFD-7B4AC476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入場準備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8FE1B2F-E6E1-4DD2-A5B3-4F20A4F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13:00–13:30　環境準備時間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51250D3-256E-4539-ADA4-9F8D9F19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422CECE-E8D0-46AD-ACE8-E841A5A2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帳號已登入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60772FC-A9F7-4E87-B95D-88812E52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Lovable，以及你慣用的通用 AI 工具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53A93E5-DF24-4DC3-8EA4-BBC3FE8A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電腦能執行專案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E6A4933-D286-4BDD-A30E-2EA49EF98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Node.js、npm、瀏覽器與穩定網路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F616B2B-F0D2-4325-AC5A-6A549AF0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教材已解壓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69E2EA5A-B265-42E4-900D-E17C679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先開啟學員講義，再準備空白專案</a:t>
            </a:r>
          </a:p>
        </p:txBody>
      </p:sp>
    </p:spTree>
    <p:extLst>
      <p:ext uri="{BB962C8B-B14F-4D97-AF65-F5344CB8AC3E}">
        <p14:creationId xmlns:p14="http://schemas.microsoft.com/office/powerpoint/2010/main" val="5237652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0">
            <a:extLst xmlns:a="http://schemas.openxmlformats.org/drawingml/2006/main">
              <a:ext uri="{FF2B5EF4-FFF2-40B4-BE49-F238E27FC236}">
                <a16:creationId xmlns:a16="http://schemas.microsoft.com/office/drawing/2014/main" id="{A6D09E17-FB4C-4A9C-96C9-E2798BB4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教材與起始專案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B82C77A-7505-4BC6-B5B1-2DFA100E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先把空白頁跑起來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2F3E6B9-0889-48FE-8971-099F041C3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447A879-821D-4549-859F-0DD1E0D82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C1DDB5E5-9C05-491A-815E-8F27622CD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解壓 starter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9B39F20-EAD5-4EF9-8487-EB27F3CA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空白工具鏈與 70 筆 HWDC 公開議程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E063854-86DA-419B-B337-DA9A16E0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20D467E-47DD-48E4-847F-3F0E3CDB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ci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577ADD8-E736-4D68-B60C-D1EDDFFD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第一次安裝需要網路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D8975ACB-78C5-4713-ADEC-69A714F6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AFE9DD2-A16C-4D56-B2E1-73BD6E4A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npm run dev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11155778-6C21-4F58-8869-E6BD0464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開啟終端機顯示的本機網址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187E8A3D-D7BE-4A79-93DC-1CD7C9F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看到「環境已就緒」後，保留這份空白起點</a:t>
            </a:r>
          </a:p>
        </p:txBody>
      </p:sp>
    </p:spTree>
    <p:extLst>
      <p:ext uri="{BB962C8B-B14F-4D97-AF65-F5344CB8AC3E}">
        <p14:creationId xmlns:p14="http://schemas.microsoft.com/office/powerpoint/2010/main" val="17529550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A3D76228-EBEE-4549-9390-18041C2E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額度與求助方式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904B0F0-A286-4C16-AE9D-AF725FD0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先看餘額，再開始實作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A5E80DA-8A40-42FD-999F-8454E0D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4397567-1196-4964-84ED-37F830CA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免費建置額度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FC92C-496F-4DD3-B6D3-35BB01DF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點／日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F031012-4C42-4D3F-8F02-53A73661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另有每月 30 點上限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每次建置耗點依任務而異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46D3031A-CF45-400F-B89D-DCF87A89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 5 點已用完？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5EC92A5-F6E7-4028-BCA5-DB73FE16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9813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請先向講師示意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709311A-29EC-461D-BBE8-15C9BF79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91477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講師私下提供群組加入方式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FD223ADC-F623-4DB2-AE76-1DAD6930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48225"/>
            <a:ext cx="476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加入後確認可繼續實作</a:t>
            </a:r>
          </a:p>
        </p:txBody>
      </p:sp>
      <p:sp>
        <p:nvSpPr>
          <p:cNvPr id="12" name="group-fallback">
            <a:extLst xmlns:a="http://schemas.openxmlformats.org/drawingml/2006/main">
              <a:ext uri="{FF2B5EF4-FFF2-40B4-BE49-F238E27FC236}">
                <a16:creationId xmlns:a16="http://schemas.microsoft.com/office/drawing/2014/main" id="{BD9B612A-2F47-4CDC-BE22-AFC16159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若仍無法建置或卡關超過 2 分鐘，保留紀錄後使用離線版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1074125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544249C-15E6-429E-A759-7E8FE0AD9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HWDC 2026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1B6FC9-A900-4A67-B5DE-BCC75084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 AI CLI vs.</a:t>
            </a:r>
          </a:p>
          <a:p xmlns:a="http://schemas.openxmlformats.org/drawingml/2006/main">
            <a:pPr algn="l">
              <a:buNone/>
              <a:defRPr sz="51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51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場景專用 AI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3E68E5-6303-4E6B-B2D1-561791BA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以 Lovable Web 開發為例的效能實測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C4860C-9370-407E-861C-F083D190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林建宏 Wolke Lin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3C8D719-1D9B-4439-BE4E-DD9676E7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HWDC 2026　10/14　13:30–15:00</a:t>
            </a:r>
          </a:p>
        </p:txBody>
      </p:sp>
      <p:sp>
        <p:nvSpPr>
          <p:cNvPr id="7" name="speaker-credentials">
            <a:extLst xmlns:a="http://schemas.openxmlformats.org/drawingml/2006/main">
              <a:ext uri="{FF2B5EF4-FFF2-40B4-BE49-F238E27FC236}">
                <a16:creationId xmlns:a16="http://schemas.microsoft.com/office/drawing/2014/main" id="{A9680F8C-024A-4B90-84F1-B5F1833D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Google Developer Expert　／　LINE Expert</a:t>
            </a:r>
          </a:p>
        </p:txBody>
      </p:sp>
      <p:sp>
        <p:nvSpPr>
          <p:cNvPr id="8" name="speaker-expertise">
            <a:extLst xmlns:a="http://schemas.openxmlformats.org/drawingml/2006/main">
              <a:ext uri="{FF2B5EF4-FFF2-40B4-BE49-F238E27FC236}">
                <a16:creationId xmlns:a16="http://schemas.microsoft.com/office/drawing/2014/main" id="{E6BA29FC-300C-459B-9470-41D1FB5B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AI 人機協作與程式開發教學　／　技術書作者</a:t>
            </a:r>
          </a:p>
        </p:txBody>
      </p:sp>
      <p:sp>
        <p:nvSpPr>
          <p:cNvPr id="9" name="speaker-medium">
            <a:extLst xmlns:a="http://schemas.openxmlformats.org/drawingml/2006/main">
              <a:ext uri="{FF2B5EF4-FFF2-40B4-BE49-F238E27FC236}">
                <a16:creationId xmlns:a16="http://schemas.microsoft.com/office/drawing/2014/main" id="{AA9927DC-7BDF-4DC1-AE89-0911063E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medium.com/@wolkesau</a:t>
            </a:r>
          </a:p>
        </p:txBody>
      </p:sp>
    </p:spTree>
    <p:extLst>
      <p:ext uri="{BB962C8B-B14F-4D97-AF65-F5344CB8AC3E}">
        <p14:creationId xmlns:p14="http://schemas.microsoft.com/office/powerpoint/2010/main" val="5815983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F5A15BB-0FF2-416B-9FEA-8BC598FAD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今天的成品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7BD5DE1-79AF-45D0-9F0B-AE7E8622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研討會議程收藏器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2AEDAC5-4B7B-452B-B395-1CE53784B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5E65D2-775B-4F36-8D12-223BCE7DAC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28a8ad97b45f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0796"/>
            <a:ext cx="7810500" cy="4609907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274AAF4-28C6-4503-B554-092F6BDD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查詢議程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7E15D00-CDA1-432F-B92C-5B4529CC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收藏並保留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BE02DF01-B565-4815-BF76-78F3092A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第二輪加入衝堂提示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051A040F-ADE5-4164-81E4-8C238429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4389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真實議程參考解答，UI 只是其中一種可能</a:t>
            </a:r>
          </a:p>
        </p:txBody>
      </p:sp>
    </p:spTree>
    <p:extLst>
      <p:ext uri="{BB962C8B-B14F-4D97-AF65-F5344CB8AC3E}">
        <p14:creationId xmlns:p14="http://schemas.microsoft.com/office/powerpoint/2010/main" val="1946475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CA123E8-F1C6-46BB-B240-575E283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學習目標與流程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C847ED-4025-4B33-860D-45AC6CD20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每一步都留下可檢查的成果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6DBD2D-3B87-431A-9F30-2E30E260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D767BC4-7FFC-4C1F-9B58-5A96620E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兩個初版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1AF4BE6-6859-4ADB-A389-4408301A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同一份真實附件、UX 一致，UI 自由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CC26D08-45B2-4C78-87E1-F0831A8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一次需求變更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D907031-6F03-4C79-B2B8-A68424E1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兩套工具各修改，再做回歸檢查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DD9D4EF-B26F-45B0-B9F7-D831465A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一份選型理由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441B6AB-7F47-4BFE-B975-07D25411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958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根據完成度、時間與用量說明選擇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B3489EFB-C854-4510-8B38-8EDD8C47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最後互相試用：相同任務，不同介面</a:t>
            </a:r>
          </a:p>
        </p:txBody>
      </p:sp>
    </p:spTree>
    <p:extLst>
      <p:ext uri="{BB962C8B-B14F-4D97-AF65-F5344CB8AC3E}">
        <p14:creationId xmlns:p14="http://schemas.microsoft.com/office/powerpoint/2010/main" val="3377350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B7479BF-F720-4A0C-9588-EB6D42B8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通用與場景專用工具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DF29EF-45D3-4E1C-8842-74BDB2B3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以工作範圍與整合方式理解差異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BF7F-1CE5-4D52-8DC7-799D4B19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E48583-91BB-4AD8-B858-5880E0FB96B5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4095750"/>
                <a:gridCol w="4533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面向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通用開發工具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本次路徑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工作起點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既有目錄與檔案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平台新專案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執行環境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本機工具鏈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平台整合預覽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修改方式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提示、檔案與終端機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提示與平台流程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比較重點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需求、驗收與紀錄相同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技術環境差異另列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7668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B42FDB1E-25CA-494F-B1D1-BEB11058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 AI 工具的開發流程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B42234-C273-41D5-99D8-5C35E2CA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788669F-38B1-4925-8771-A8F57586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Lovable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1142F27-9641-4F4E-8398-10A83782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上傳議程附件、貼短提示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AB58D699-DEB8-4CB9-91AF-CF4B726F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平台生成、開啟預覽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36A2992-6FAD-4110-9E6F-5B68EC7F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56441F3-059E-4309-B26E-BE5FA9EF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5162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0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0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通用 AI（Codex App）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2E5D9AE6-C87C-470A-B5C9-D5D8270D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開啟 starter、貼相同提示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F6122330-25E9-40DD-BD40-5918D3427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8620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Agent 建置、開啟本機預覽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4661D19D-D484-477B-BD86-8703837B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516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32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操作驗收，再提出修改</a:t>
            </a:r>
          </a:p>
        </p:txBody>
      </p:sp>
      <p:sp>
        <p:nvSpPr>
          <p:cNvPr id="15" name="text-14">
            <a:extLst xmlns:a="http://schemas.openxmlformats.org/drawingml/2006/main">
              <a:ext uri="{FF2B5EF4-FFF2-40B4-BE49-F238E27FC236}">
                <a16:creationId xmlns:a16="http://schemas.microsoft.com/office/drawing/2014/main" id="{A047578F-2479-4975-8445-8E37A164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同一份資料與 UX 驗收標準，UI 自由發揮</a:t>
            </a:r>
          </a:p>
        </p:txBody>
      </p:sp>
    </p:spTree>
    <p:extLst>
      <p:ext uri="{BB962C8B-B14F-4D97-AF65-F5344CB8AC3E}">
        <p14:creationId xmlns:p14="http://schemas.microsoft.com/office/powerpoint/2010/main" val="8786471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94754084-6F83-4273-8EF0-C9A2969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共同需求與完成標準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788A799-21C7-4C9E-8BD7-F7C54B54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A97417-3D7E-46DD-965B-81EEB582EAAE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2762250"/>
                <a:gridCol w="64389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驗收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功能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要看到的結果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A1–A2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清單與搜尋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兩天 70 筆、日期清楚、可搜尋講者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日期與主題篩選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條件同時生效，多標籤皆可查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A4–A5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收藏與我的議程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無重複、可取消、依時間排序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A6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儲存與手機版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重新整理保留、390px 可操作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F267C6-68FB-4864-88BC-ED9593B31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比較任務能否完成；色彩、版型與視覺風格自由</a:t>
            </a:r>
          </a:p>
        </p:txBody>
      </p:sp>
    </p:spTree>
    <p:extLst>
      <p:ext uri="{BB962C8B-B14F-4D97-AF65-F5344CB8AC3E}">
        <p14:creationId xmlns:p14="http://schemas.microsoft.com/office/powerpoint/2010/main" val="1618455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77F5A3-730D-457A-88C7-54D9685A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實測規則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FAC9BC-D55E-4B6A-8350-F217D55F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B5D51-2C8B-4D52-A4C3-91D6BA93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D4214E8-B70E-44F6-B746-B7CD5930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5095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 分鐘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8D69F4-A583-464A-B0E3-96E0882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0958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建置、等待、除錯、驗收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全部計入本輪時間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6103B5A-3E4D-4CA6-AD59-3E1F64DF0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7964F49-FF1B-491E-88AD-B4103B95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838450"/>
            <a:ext cx="476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67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67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分鐘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8B86E6F-6204-4071-B490-E79D8A3B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48175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修改與回歸檢查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未完成就記錄截止狀態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669C54A-8019-46FC-B712-2E888E0C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設定時間另計。沒有用量資料時填「未取得」</a:t>
            </a:r>
          </a:p>
        </p:txBody>
      </p:sp>
    </p:spTree>
    <p:extLst>
      <p:ext uri="{BB962C8B-B14F-4D97-AF65-F5344CB8AC3E}">
        <p14:creationId xmlns:p14="http://schemas.microsoft.com/office/powerpoint/2010/main" val="19600046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5989A51A-D6E2-4EAA-BFC6-A8A3150C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1D2B079-AC25-4BFE-87D4-593D43D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先上傳 hwdc-agenda-2026.json；附件位置與網址見下一頁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E3AA776-0E48-444D-86DD-3E8F0529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20A9BBA-C3DF-44E2-8DFD-8D723CA3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09728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5087F3A-42E0-4341-A126-4DD72219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直接複製這四句，UI 由你或 Agent 自由發揮</a:t>
            </a:r>
          </a:p>
        </p:txBody>
      </p:sp>
    </p:spTree>
    <p:extLst>
      <p:ext uri="{BB962C8B-B14F-4D97-AF65-F5344CB8AC3E}">
        <p14:creationId xmlns:p14="http://schemas.microsoft.com/office/powerpoint/2010/main" val="1503695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660424DD-81E8-4F55-9909-FA480B36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資料附件與來源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E428C39-04AE-4063-B5D4-EC2D7A60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4AEBFEE-E351-4965-B6DF-001A17E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下載同一份 JSON，再上傳至 Lovable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6D0C38E-F90D-4E92-B829-3698D2C5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官方議程（公開來源）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992CD32-7E9F-4AEE-AA21-AAB11443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5d3ffb0dfd3c4bdd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A4BCDB1-DAF4-427F-AFF5-7CE9290E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6227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上傳附件：hwdc-agenda-2026.json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9DC622-09AA-48DA-B8F9-1460EDB34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教材包位置：HWDC-workshop/materials/hwdc-agenda-2026.json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944C65D-5967-4FC9-9518-493AB870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0025"/>
            <a:ext cx="10972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GitHub 附件（私人 repo，需存取權）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D2BD64-0A0A-45C9-A350-E6DDE369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10972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9036879e98534168"/>
              </a:rPr>
              <a:t>https://github.com/Wolke/hwdc-2026-ai-cli-vs-lovable/blob/main/</a:t>
            </a:r>
          </a:p>
          <a:p xmlns:a="http://schemas.openxmlformats.org/drawingml/2006/main">
            <a:pPr algn="l">
              <a:buNone/>
              <a:defRPr sz="19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1f67978084634acb"/>
              </a:rPr>
              <a:t>HWDC-workshop/materials/hwdc-agenda-2026.json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7C3DF7E-876D-4F94-B307-BBD7C275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兩天共 70 筆｜2026-10-13 快照｜兩套工具使用同一份</a:t>
            </a:r>
          </a:p>
        </p:txBody>
      </p:sp>
    </p:spTree>
    <p:extLst>
      <p:ext uri="{BB962C8B-B14F-4D97-AF65-F5344CB8AC3E}">
        <p14:creationId xmlns:p14="http://schemas.microsoft.com/office/powerpoint/2010/main" val="1403638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EF9FD0A-DC75-4CF1-847F-E93204EE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A：Lovable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5FDAD60-2A98-4CC3-9F74-AE838B29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初版建置與驗收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9F3FE7C-3E69-4392-B7D0-CAA2251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43853A5-EF90-4122-95A8-33E9BB18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A287C8-A4A1-4D6F-AA5E-F25AE9A6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F571FED-D447-4D7A-B625-330598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送出短提示與 HWDC 議程附件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BE0B59F-4201-4420-B98C-B59AB384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A1–A6，記下失敗項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FFD8B94-5BB9-4DE0-9EDF-AE2D4E9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保存耗時、追加提示及用量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9D611A6-B623-4B09-86AA-D7C4AE6A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額度用完：向講師取得群組加入方式；仍卡關時使用離線版</a:t>
            </a:r>
          </a:p>
        </p:txBody>
      </p:sp>
    </p:spTree>
    <p:extLst>
      <p:ext uri="{BB962C8B-B14F-4D97-AF65-F5344CB8AC3E}">
        <p14:creationId xmlns:p14="http://schemas.microsoft.com/office/powerpoint/2010/main" val="23896362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5A9CFBD3-8EDB-43E1-9FA2-0945138F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初版驗收與紀錄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4DFEB14-1555-4FFD-8106-0877621E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搜尋、日期與主題條件要一起成立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ED42E19-4891-4BBE-A7FC-6CD21D426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3EBE0-1855-4404-81E1-B02CD52F8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88f57bcc64c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F372EE7-3461-49EE-8199-DB6FA8A3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搜尋林建宏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06E2CED-4E0E-4D48-BCF0-6BD9512F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日期選 10/14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EACB6491-2D0E-4260-8137-A5339E56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選相符主題：1 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FC83A5AD-455D-4A9F-976C-02820A77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A3：改成 10/15 或不相符主題時，應為 0 筆</a:t>
            </a:r>
          </a:p>
        </p:txBody>
      </p:sp>
    </p:spTree>
    <p:extLst>
      <p:ext uri="{BB962C8B-B14F-4D97-AF65-F5344CB8AC3E}">
        <p14:creationId xmlns:p14="http://schemas.microsoft.com/office/powerpoint/2010/main" val="175076311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F1F8358-C076-4A41-AAB4-C529D64F4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 App 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DE33344-9707-4B42-A3C7-2B343F77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B86E424-5C6B-41E9-A806-1BFCC279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1CA4B6-FD2B-49C5-91AF-95B7E960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526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選擇 Codex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EAC72AA-AE2F-4F69-BBFB-50BC4DF9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開啟本次 starter 的獨立副本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84C76FC-C977-4B2D-A62E-68E995A3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2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55DDC2-4DDB-47FB-AC5F-B92D93AD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09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指定資料檔，貼短提示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CA7E6B1-AF30-4D09-BB22-DC12D6E41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338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同一份 UX 任務，讓 Agent 決定畫面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02C8DB4-D2F1-4C41-A5D2-9C7517E5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67225"/>
            <a:ext cx="5905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34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3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538BE7EB-5E80-4DDF-96AC-3CC1167D1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4672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查看修改與預覽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047B103-5769-4BEC-B1A2-F1EC3065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911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確認啟動方式、檔案差異及錯誤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50976A37-0AF5-4CFE-9186-C969C3E5D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本輪使用全新起點，不帶入 Lovable 產生的程式</a:t>
            </a:r>
          </a:p>
        </p:txBody>
      </p:sp>
    </p:spTree>
    <p:extLst>
      <p:ext uri="{BB962C8B-B14F-4D97-AF65-F5344CB8AC3E}">
        <p14:creationId xmlns:p14="http://schemas.microsoft.com/office/powerpoint/2010/main" val="11137034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E68090E5-D57D-432C-B63F-3EE1EB1A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初版 prompt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0122D6A-29C2-4815-99D4-8AB3D371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C79B299-FF55-49CD-99BB-E4B975CF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開啟獨立 starter，直接貼上以下內容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365B46F-4A11-4E1F-9BF6-BE1A8613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資料檔：src/sessions.json（與 HWDC 議程附件相同）。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8AA1729-BA35-4C5E-A65C-3CCECAEA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09728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請用附件的 HWDC 議程做一個繁體中文「我的議程」網站：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能搜尋議程或講者、依日期和主題篩選、加入或取消收藏，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並查看自己的議程；重新整理後收藏要保留。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搜尋與篩選可以一起用，日期時間要清楚，手機也能操作。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資料照附件，保留來源。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UI 風格自由發揮，不用登入。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做好後請開啟預覽，讓我試用。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2720D5A-DA5E-4E41-AA7E-7E29C4DB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資料與 Lovable 相同；完成後依 A1–A6 驗收</a:t>
            </a:r>
          </a:p>
        </p:txBody>
      </p:sp>
    </p:spTree>
    <p:extLst>
      <p:ext uri="{BB962C8B-B14F-4D97-AF65-F5344CB8AC3E}">
        <p14:creationId xmlns:p14="http://schemas.microsoft.com/office/powerpoint/2010/main" val="2874762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0A9DF51-07B8-48C5-B395-A5DB43B6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執行與檢查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1DAB6B-ED7C-4F86-AD50-2F7EBA71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DA4B83-239C-4209-A264-1335F1BE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預覽有啟動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DFE0D69-A99D-4A69-9820-BC8883DD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確認網址與終端機狀態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2C7D4E-1912-4558-BB0B-560FE856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修改看得懂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8470181-A0E8-429F-8927-4EFBF5417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知道改動哪些檔案及功能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B506502-4A42-4961-AEA3-02F2AE44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結果有驗證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899D762-E37F-4A57-BC8B-58E186D1B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依 A1–A6 操作，記下仍有問題的項目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0512298-8EF6-4493-9E95-6AA1C93B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啟動失敗時，先保留原始錯誤訊息</a:t>
            </a:r>
          </a:p>
        </p:txBody>
      </p:sp>
    </p:spTree>
    <p:extLst>
      <p:ext uri="{BB962C8B-B14F-4D97-AF65-F5344CB8AC3E}">
        <p14:creationId xmlns:p14="http://schemas.microsoft.com/office/powerpoint/2010/main" val="12825785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02E2D21-8265-4304-8B33-CC01EDCE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實作 B：通用 AI 工具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402BEFE-4A84-4769-93D5-2ABF9E97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從空白專案完成相同需求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DCD4668-B705-4817-8455-5AAE54B3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1FAE04-2496-4BC9-B2E6-BF18D0AE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15:00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EB2752F-05A9-490F-8035-C87D400F2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D8FAA00-B0F9-41FC-A924-037DF177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短提示＋相同 HWDC 議程資料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803AAA9F-40FC-44F6-8E8D-EDADBEA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讓工具實作並啟動預覽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A1DF9A7-48F7-4B28-B216-BD329DE9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操作 A1–A6，記錄結果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DA8A882-02E6-446A-B70B-656E44FB3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講師用 Codex App，你可以沿用已準備好的工具</a:t>
            </a:r>
          </a:p>
        </p:txBody>
      </p:sp>
    </p:spTree>
    <p:extLst>
      <p:ext uri="{BB962C8B-B14F-4D97-AF65-F5344CB8AC3E}">
        <p14:creationId xmlns:p14="http://schemas.microsoft.com/office/powerpoint/2010/main" val="121089745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9CBE2849-FE87-47D1-8699-375B07F2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同標準驗收與紀錄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368F6AD-C5E0-4610-B144-7985A770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重新整理後，收藏仍要保留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7A3F00F-1684-4774-BC62-21A28A04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E1279A-3C05-4EC1-B475-E1049A167E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92a232d10a4b1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1B17D1A-87DA-447E-85F5-AC3A10F5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 4996、5030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AEDDE77-22F0-4436-AF9E-3EFA7135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切到我的議程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569427AE-36AF-4681-95D3-5BCC5A67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重新整理再確認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F24D1F9-D1D1-4EA4-B670-CA9EDAB4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參考解答示範 A4–A6。兩套工具使用同一張驗收表</a:t>
            </a:r>
          </a:p>
        </p:txBody>
      </p:sp>
    </p:spTree>
    <p:extLst>
      <p:ext uri="{BB962C8B-B14F-4D97-AF65-F5344CB8AC3E}">
        <p14:creationId xmlns:p14="http://schemas.microsoft.com/office/powerpoint/2010/main" val="144724035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B26C35C-0B71-4FB1-8BCA-CC0DB76B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新需求：收藏衝堂提示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1414242-86ED-47F4-BFE7-955AB8A4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使用者需要知道哪些收藏無法同時參加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101DB11-3E76-4C7D-8F18-5FBBC5C2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60D444-70A1-46DC-9872-76FB386F96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c5cf547a934e4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6166E8E-36C7-453A-887A-36FB4FA2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比較全部收藏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8E5686D-E1EB-49BF-B1EB-A49F988E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指出兩場與時段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DB186AB7-812F-4F07-9897-F5FEAFAB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由使用者自行決定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1AC6034D-3373-4232-8D77-E68A5C3D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第二版參考解答。提示不會自動移除收藏</a:t>
            </a:r>
          </a:p>
        </p:txBody>
      </p:sp>
    </p:spTree>
    <p:extLst>
      <p:ext uri="{BB962C8B-B14F-4D97-AF65-F5344CB8AC3E}">
        <p14:creationId xmlns:p14="http://schemas.microsoft.com/office/powerpoint/2010/main" val="201992263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B0F05471-F0C3-4CA1-9CA2-17000C3F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時間重疊案例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5996EFA-B5C3-4712-AEEF-0A66E4F4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029EB-798D-47AD-8B01-E0167F2CDF92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6572250"/>
                <a:gridCol w="2057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組合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時間關係（10/14）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預期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5030 + 5009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15:30–17:30／15:15–15:45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+ 5018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13:00–15:00／13:30–14:00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4996 + 4993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13:00–15:00／13:00–15:00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4957 + 4958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10:00–10:10／10:10–10:55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不衝堂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F658ABC-4F81-4C08-8806-18424DF0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日期也要一起比較：4996（10/14）與 4992（10/15）不衝堂</a:t>
            </a:r>
          </a:p>
        </p:txBody>
      </p:sp>
    </p:spTree>
    <p:extLst>
      <p:ext uri="{BB962C8B-B14F-4D97-AF65-F5344CB8AC3E}">
        <p14:creationId xmlns:p14="http://schemas.microsoft.com/office/powerpoint/2010/main" val="1174834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77949654-C8BD-461D-8771-C627CA82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 prompt：衝堂提醒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763EBDD-7774-4264-A125-9FB85D7B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在自己的初版專案繼續，兩套工具使用相同提示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CF22C90-A57D-4B17-BC1F-84B8B8AF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22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7F0E5398-D50A-426E-AFE9-C189A18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請在「我的議程」加上衝堂提醒，指出時間重疊的收藏，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讓我自己決定要不要取消。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要看全部收藏，不受搜尋或篩選影響；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一場結束剛好接下一場不算衝堂，不同日期也不要混在一起。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請保留原本的收藏和功能，取消收藏後立即更新提醒。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完成後讓我試用。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4E37F1-B941-4255-A5CE-41125266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送出前保留收藏；修改後檢查 B1–B6 與原有功能</a:t>
            </a:r>
          </a:p>
        </p:txBody>
      </p:sp>
    </p:spTree>
    <p:extLst>
      <p:ext uri="{BB962C8B-B14F-4D97-AF65-F5344CB8AC3E}">
        <p14:creationId xmlns:p14="http://schemas.microsoft.com/office/powerpoint/2010/main" val="21017312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2F1F8CB-3EB8-4B7E-ADE9-E124B545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兩套工具各修改一次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282F023-14D0-412C-8ADA-7ACE4D63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每套工具 5 分鐘，包含修改與驗收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85E8AB5-9CE3-4C78-8477-B1C932F5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6EBC5D9-3EAC-49AF-AB97-21A628F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4476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96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96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5 + 5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93BCBED-AF62-423E-B97E-E7FD4EEA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包含驗收與紀錄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72AB610-EDC4-4160-9B27-78AE5E47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先在 Lovable 修改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252C813-089B-4DAC-B67D-647BCC409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9565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再在通用工具修改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3E0B681-BD4D-4448-8B78-1484F80D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95800"/>
            <a:ext cx="5791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兩份結果分別記錄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8C466CB-545F-4EBB-B9D3-2356A118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到時保存狀態，14:36 開始共同回歸檢查</a:t>
            </a:r>
          </a:p>
        </p:txBody>
      </p:sp>
    </p:spTree>
    <p:extLst>
      <p:ext uri="{BB962C8B-B14F-4D97-AF65-F5344CB8AC3E}">
        <p14:creationId xmlns:p14="http://schemas.microsoft.com/office/powerpoint/2010/main" val="80170935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23CF8F81-B6A9-49D0-B833-B30C9FA4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回歸檢查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A43134A-A17A-4023-985A-E24A0218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新功能與原有功能都要成立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70966A5-24E1-4387-907A-4F76E47B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EBD7E6-C4A6-4FED-AB4D-BC37C1FF04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571a35c36e49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33800" y="1791166"/>
            <a:ext cx="7810500" cy="4056718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098ADFD-B600-44F8-9426-DADB9D75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首尾相接不提醒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DC72289B-08FC-4630-A860-3A384F04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取消收藏即時更新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C35BF59-7001-4C7F-9F9B-C7C92587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276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A1–A6 仍通過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3CF73393-3FCA-406B-9F30-135180C6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19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4957 與 4958 於 10:10 相接，不誤報衝堂</a:t>
            </a:r>
          </a:p>
        </p:txBody>
      </p:sp>
    </p:spTree>
    <p:extLst>
      <p:ext uri="{BB962C8B-B14F-4D97-AF65-F5344CB8AC3E}">
        <p14:creationId xmlns:p14="http://schemas.microsoft.com/office/powerpoint/2010/main" val="39196199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C841637-42B5-4548-A5B0-01B11F50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上一輪彩排觀察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00C1C9C-7C43-4B4A-9FAC-934F611A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舊條件：長提示、12 筆合成資料、指定配色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5FC938-4BBB-4B73-BD9F-4D32FB463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0AEE13-868C-4F99-A8FE-02A9D987FA80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4029075"/>
                <a:gridCol w="4029075"/>
              </a:tblGrid>
              <a:tr h="7620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AI 工具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初版含驗收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修改含回歸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 分 22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核心 3 分 33 秒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手機於截止後補測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3335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Codex App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55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1 分 3 秒｜6/6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EEB6F40-D9A7-4756-9824-74EC30DF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看過解答且交錯操作，非工具排名；新版短提示尚未重測</a:t>
            </a:r>
          </a:p>
        </p:txBody>
      </p:sp>
    </p:spTree>
    <p:extLst>
      <p:ext uri="{BB962C8B-B14F-4D97-AF65-F5344CB8AC3E}">
        <p14:creationId xmlns:p14="http://schemas.microsoft.com/office/powerpoint/2010/main" val="193046901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07300E7-6D6C-48AE-8299-60B250DE8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除錯 prompt：首尾相接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C0612C-3977-4432-8410-E67FB1CA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以下是刻意植入錯誤的教學案例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59A565-B32A-4D43-A099-496B6080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26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ADAFDF3-5BC1-4493-A132-8C118B157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B23429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B23429"/>
                </a:solidFill>
                <a:latin typeface="Heiti TC"/>
                <a:ea typeface="Heiti TC"/>
                <a:cs typeface="Heiti TC"/>
              </a:rPr>
              <a:t>錯誤：a.start &lt;= b.end &amp;&amp; b.start &lt;= a.end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5BFC32D-71B5-4999-842A-8CACC870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修正：a.start &lt; b.end &amp;&amp; b.start &lt; a.end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77A59BE-F7A5-4B30-850A-472E51A3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可直接貼上的除錯提示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BB7FB33-4183-47F4-A956-26A80B17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972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我操作「＿＿」時，出現「＿＿」，但我預期是「＿＿」。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請重現並修好，保留現有收藏與其他功能。修好後告訴我怎麼確認。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40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/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（有錯誤訊息或畫面時，再附上。）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C11778DE-4219-46E4-B2DC-3F1AA2CF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本例：收藏 4957、4958 卻提醒衝堂；預期首尾相接不提醒</a:t>
            </a:r>
          </a:p>
        </p:txBody>
      </p:sp>
    </p:spTree>
    <p:extLst>
      <p:ext uri="{BB962C8B-B14F-4D97-AF65-F5344CB8AC3E}">
        <p14:creationId xmlns:p14="http://schemas.microsoft.com/office/powerpoint/2010/main" val="156241905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2594D432-F5A8-477B-99B1-19493EAE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彩排用量與費用換算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79FB219-2491-4096-82E0-4F34F256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27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104D10-3413-43C3-BEB8-792941F84A9A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619250"/>
                <a:gridCol w="4343400"/>
                <a:gridCol w="4857750"/>
              </a:tblGrid>
              <a:tr h="8382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階段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Lovable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實耗／月費分攤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Codex</a:t>
                      </a:r>
                    </a:p>
                    <a:p>
                      <a:r>
                        <a:rPr sz="2100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總 tokens／Standard 估算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T w="9525">
                      <a:solidFill>
                        <a:srgbClr val="D9E3F0"/>
                      </a:solidFill>
                      <a:prstDash val="solid"/>
                    </a:lnT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初版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US$0.98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343,319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US$0.78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3.10 credits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US$1.52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410,956 tokens</a:t>
                      </a:r>
                    </a:p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約 US$0.61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合計</a:t>
                      </a:r>
                    </a:p>
                  </a:txBody>
                  <a:tcPr marL="152400" marR="133350" marT="57150" marB="57150" anchor="ctr">
                    <a:lnL w="9525">
                      <a:solidFill>
                        <a:srgbClr val="D9E3F0"/>
                      </a:solidFill>
                      <a:prstDash val="solid"/>
                    </a:lnL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5.10 credits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US$2.50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754,275 tokens</a:t>
                      </a:r>
                    </a:p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約 US$1.39</a:t>
                      </a:r>
                    </a:p>
                  </a:txBody>
                  <a:tcPr marL="152400" marR="133350" marT="57150" marB="57150" anchor="ctr">
                    <a:lnR w="9525">
                      <a:solidFill>
                        <a:srgbClr val="D9E3F0"/>
                      </a:solidFill>
                      <a:prstDash val="solid"/>
                    </a:lnR>
                    <a:lnB w="9525">
                      <a:solidFill>
                        <a:srgbClr val="D9E3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cost-scope">
            <a:extLst xmlns:a="http://schemas.openxmlformats.org/drawingml/2006/main">
              <a:ext uri="{FF2B5EF4-FFF2-40B4-BE49-F238E27FC236}">
                <a16:creationId xmlns:a16="http://schemas.microsoft.com/office/drawing/2014/main" id="{E58ADBC1-13E8-4DBA-AEC0-BE84E553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9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950">
                <a:solidFill>
                  <a:srgbClr val="607185"/>
                </a:solidFill>
                <a:latin typeface="Heiti TC"/>
                <a:ea typeface="Heiti TC"/>
                <a:cs typeface="Heiti TC"/>
              </a:rPr>
              <a:t>2026/10/13 舊條件彩排，12 筆資料、長提示</a:t>
            </a:r>
          </a:p>
        </p:txBody>
      </p:sp>
      <p:sp>
        <p:nvSpPr>
          <p:cNvPr id="13" name="cost-limitations">
            <a:extLst xmlns:a="http://schemas.openxmlformats.org/drawingml/2006/main">
              <a:ext uri="{FF2B5EF4-FFF2-40B4-BE49-F238E27FC236}">
                <a16:creationId xmlns:a16="http://schemas.microsoft.com/office/drawing/2014/main" id="{7650DD54-1F58-41A8-AE66-AA482504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530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美元為牌價換算，實際專案扣款未取得。</a:t>
            </a:r>
          </a:p>
          <a:p xmlns:a="http://schemas.openxmlformats.org/drawingml/2006/main">
            <a:pPr algn="l">
              <a:defRPr sz="1875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1875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速度模式未取得，無法據此判定誰較便宜。</a:t>
            </a:r>
          </a:p>
        </p:txBody>
      </p:sp>
      <p:sp>
        <p:nvSpPr>
          <p:cNvPr id="14" name="cost-source-0">
            <a:extLst xmlns:a="http://schemas.openxmlformats.org/drawingml/2006/main">
              <a:ext uri="{FF2B5EF4-FFF2-40B4-BE49-F238E27FC236}">
                <a16:creationId xmlns:a16="http://schemas.microsoft.com/office/drawing/2014/main" id="{17676577-FD83-4F54-8CDC-9A271DDA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a1cf7312df34f2c"/>
              </a:rPr>
              <a:t>Lovable 訂閱牌價：https://docs.lovable.dev/introduction/subscription-plans</a:t>
            </a:r>
          </a:p>
        </p:txBody>
      </p:sp>
      <p:sp>
        <p:nvSpPr>
          <p:cNvPr id="15" name="cost-source-1">
            <a:extLst xmlns:a="http://schemas.openxmlformats.org/drawingml/2006/main">
              <a:ext uri="{FF2B5EF4-FFF2-40B4-BE49-F238E27FC236}">
                <a16:creationId xmlns:a16="http://schemas.microsoft.com/office/drawing/2014/main" id="{A54B9222-DB82-4BCF-B990-E9B0A705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defRPr sz="1350">
                <a:solidFill>
                  <a:srgbClr val="607185"/>
                </a:solidFill>
                <a:latin typeface="Heiti TC"/>
                <a:ea typeface="Heiti TC"/>
                <a:cs typeface="Heiti TC"/>
              </a:defRPr>
            </a:pPr>
            <a:r>
              <a:rPr sz="1350">
                <a:solidFill>
                  <a:srgbClr val="607185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e0f02177c1d14421"/>
              </a:rPr>
              <a:t>Codex 額度牌價：https://learn.chatgpt.com/docs/pricing</a:t>
            </a:r>
          </a:p>
        </p:txBody>
      </p:sp>
    </p:spTree>
    <p:extLst>
      <p:ext uri="{BB962C8B-B14F-4D97-AF65-F5344CB8AC3E}">
        <p14:creationId xmlns:p14="http://schemas.microsoft.com/office/powerpoint/2010/main" val="176688833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F90A4341-CE97-4CD0-BCE1-7C7E569C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同一個 UX，不同的 UI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BA311BB-68BD-4B41-895F-62BD4986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讓同學試用相同任務，再討論操作差異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43861FF-2AB4-4EAF-9379-9004909E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28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124C9-91A3-4841-B7D3-4B588EDF23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f8bf7a0da34b1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726" y="1724025"/>
            <a:ext cx="2095049" cy="4533900"/>
          </a:xfrm>
          <a:prstGeom xmlns:a="http://schemas.openxmlformats.org/drawingml/2006/main" prst="rect">
            <a:avLst/>
          </a:prstGeom>
        </p:spPr>
      </p:pic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C80A925-5FB0-42B0-A737-CA5DF30F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找到想聽的議程</a:t>
            </a:r>
          </a:p>
        </p:txBody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8196DD99-085E-4BEF-A741-C7EBD61C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收藏後能找回來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70678D47-A395-4522-B870-1552FC0A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衝堂看得懂、能處理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623B412-5CAE-4F34-8FA0-87887FF55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714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視覺風格各自發揮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BA95CF66-46D6-43B3-BC18-7C54C7C4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6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參考畫面非標準答案；390px 仍須可操作</a:t>
            </a:r>
          </a:p>
        </p:txBody>
      </p:sp>
    </p:spTree>
    <p:extLst>
      <p:ext uri="{BB962C8B-B14F-4D97-AF65-F5344CB8AC3E}">
        <p14:creationId xmlns:p14="http://schemas.microsoft.com/office/powerpoint/2010/main" val="85794612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6272520-14FD-4073-98A1-E95110B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情境選型表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BDFF813-945B-44BC-B19D-3D580FF9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先確定工作條件，再選擇起手方式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0DDF7AC-9341-4E07-B736-980981B2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3ECF2-49D3-4A86-B09D-3D9FCD8656B8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4667250"/>
                <a:gridCol w="3200400"/>
              </a:tblGrid>
              <a:tr h="85725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情境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先檢查的條件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選型方向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快速驗證新想法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預覽速度、流程契合、額度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評估場景工具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修改既有專案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檔案、工具鏈、測試與權限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評估通用工具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持續迭代與交接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回歸、程式碼、知識與成本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依紀錄調整組合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D7F25A7-5A0D-496B-9F17-7F77C0DF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此表是決策框架，個別專案仍需驗證</a:t>
            </a:r>
          </a:p>
        </p:txBody>
      </p:sp>
    </p:spTree>
    <p:extLst>
      <p:ext uri="{BB962C8B-B14F-4D97-AF65-F5344CB8AC3E}">
        <p14:creationId xmlns:p14="http://schemas.microsoft.com/office/powerpoint/2010/main" val="201218645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C0B195C1-56C3-4009-82D5-845E9A41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PDCA 與專案知識管理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395CF1-9A93-415F-8014-2D087E40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30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64BA5-2666-4294-B994-19A4D16B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Plan　留下規格與完成標準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46A4B8-A170-450B-9B0D-DF89160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需求、資料、限制與驗收案例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78B6D361-4A22-4242-AB52-C4711810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Do／Check　保留程式與驗證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E9E46C4-EA1F-4963-B4F1-8C41C4A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實際執行、紀錄錯誤、檢查回歸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49F7743-397A-4D4D-8416-32E51450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Act　依結果調整下一輪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B66FE3C-DA99-4E38-9251-CE151EB2A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修改範圍、提示、工具與模型投入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093914D-59B6-4C9F-BC5A-C11613A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工具換了，需求與驗收紀錄仍能沿用</a:t>
            </a:r>
          </a:p>
        </p:txBody>
      </p:sp>
    </p:spTree>
    <p:extLst>
      <p:ext uri="{BB962C8B-B14F-4D97-AF65-F5344CB8AC3E}">
        <p14:creationId xmlns:p14="http://schemas.microsoft.com/office/powerpoint/2010/main" val="208594776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D39A25B1-6325-45C2-83D0-2F40205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課後延伸與教材導覽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D2CE6DC-4AEB-436A-8658-35C77869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31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2FD8DF2-ED2D-444C-9B56-CCF199AB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學員講義與提示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AA8E51E-64D6-4FF8-9F40-219F9F70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可直接沿用到下一個專案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D91A6D5-1D4D-4819-9CE5-0D6B4312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兩版參考解答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5240931-7D36-4472-8802-88C7BD1B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比對 UX 邏輯，不要求畫面長一樣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E8E7C20-1967-428F-86C6-3DA26F03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70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行事曆匯出練習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B01A49E-23A1-4F54-9ABE-6E58B094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10668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將收藏輸出為 .ics 並驗證時間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1941C85D-8DA3-418C-B278-0F9A2CFD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保留自己的實驗紀錄，再打開參考答案</a:t>
            </a:r>
          </a:p>
        </p:txBody>
      </p:sp>
    </p:spTree>
    <p:extLst>
      <p:ext uri="{BB962C8B-B14F-4D97-AF65-F5344CB8AC3E}">
        <p14:creationId xmlns:p14="http://schemas.microsoft.com/office/powerpoint/2010/main" val="995206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4BBC1E1-DB36-4108-ADBE-EBF53DBC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Q&amp;A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C0C1C2-07D5-4D32-9813-D769D8EE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請用一個驗收條件，說明你的選擇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654008-231B-4100-92DF-309E715E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32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E60CF8-6CBC-451A-8F33-9BB4638AE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1085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你的下一個專案</a:t>
            </a:r>
          </a:p>
          <a:p xmlns:a="http://schemas.openxmlformats.org/drawingml/2006/main">
            <a:pPr algn="l">
              <a:buNone/>
              <a:defRPr sz="4950" b="1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4950" b="1">
                <a:solidFill>
                  <a:srgbClr val="155EBD"/>
                </a:solidFill>
                <a:latin typeface="Heiti TC"/>
                <a:ea typeface="Heiti TC"/>
                <a:cs typeface="Heiti TC"/>
              </a:rPr>
              <a:t>會先用哪套工具？</a:t>
            </a:r>
          </a:p>
        </p:txBody>
      </p:sp>
    </p:spTree>
    <p:extLst>
      <p:ext uri="{BB962C8B-B14F-4D97-AF65-F5344CB8AC3E}">
        <p14:creationId xmlns:p14="http://schemas.microsoft.com/office/powerpoint/2010/main" val="98475391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DDF54339-6B6B-4C95-A6EC-33CAF5FC9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CLI 對應操作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2752EF9-06D4-4307-95AC-E52C0A64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附錄：已完成安裝與登入時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0E78CFE-32ED-4E17-AB8E-D4C32BB6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33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B99306A-6F13-4F30-B718-00F6E73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cd 你的專案資料夾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codex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/status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7DFCCD-0177-433B-AE4C-FF7908CC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同樣引用需求、資料與驗收文件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18AA4F7-1069-40A4-B71D-4533F420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/status 查看可取得的用量狀態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109B02-31A2-4057-80DB-7866AAE6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詳細安裝方式依官方文件</a:t>
            </a:r>
          </a:p>
        </p:txBody>
      </p:sp>
    </p:spTree>
    <p:extLst>
      <p:ext uri="{BB962C8B-B14F-4D97-AF65-F5344CB8AC3E}">
        <p14:creationId xmlns:p14="http://schemas.microsoft.com/office/powerpoint/2010/main" val="2886187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0">
            <a:extLst xmlns:a="http://schemas.openxmlformats.org/drawingml/2006/main">
              <a:ext uri="{FF2B5EF4-FFF2-40B4-BE49-F238E27FC236}">
                <a16:creationId xmlns:a16="http://schemas.microsoft.com/office/drawing/2014/main" id="{3875B6AE-256F-4463-AA2B-59521FDF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macOS／Windows 環境檢查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CDDD76-1753-4537-9F41-4C1C0B33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附錄：在含 package.json 的資料夾執行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842134-661D-48FF-B763-10DDEB20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34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D8A4A8B-7FD2-4E3E-898F-0DA8F981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5429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defPPr>
          </a:lstStyle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node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--version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ci</a:t>
            </a:r>
          </a:p>
          <a:p xmlns:a="http://schemas.openxmlformats.org/drawingml/2006/main">
            <a:pPr algn="l">
              <a:buNone/>
              <a:defRPr sz="2850" b="0">
                <a:solidFill>
                  <a:srgbClr val="155EBD"/>
                </a:solidFill>
                <a:latin typeface="Menlo"/>
                <a:ea typeface="Menlo"/>
                <a:cs typeface="Menlo"/>
              </a:defRPr>
            </a:pPr>
            <a:r>
              <a:rPr sz="2850" b="0">
                <a:solidFill>
                  <a:srgbClr val="155EBD"/>
                </a:solidFill>
                <a:latin typeface="Menlo"/>
                <a:ea typeface="Menlo"/>
                <a:cs typeface="Menlo"/>
              </a:rPr>
              <a:t>npm run dev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EA601FA7-D1C3-4132-90E8-78DE7244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09550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macOS：終端機進入專案目錄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2951B7B-DF9A-4229-9221-B749983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05175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Windows：在資料夾開啟終端機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95519B3-B0C0-4730-9C30-92029A0E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14850"/>
            <a:ext cx="5124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採 Node.js 24，預先安裝套件</a:t>
            </a:r>
          </a:p>
        </p:txBody>
      </p:sp>
    </p:spTree>
    <p:extLst>
      <p:ext uri="{BB962C8B-B14F-4D97-AF65-F5344CB8AC3E}">
        <p14:creationId xmlns:p14="http://schemas.microsoft.com/office/powerpoint/2010/main" val="180496831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54D1C329-D056-49C7-9E4A-4C9F0D6C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額度、網路與啟動問題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0D5294B-571E-4A8C-B611-A2CD3815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4557D-6652-45F4-A022-86C80BE8300F}"/>
              </a:ext>
            </a:extLst>
          </p:cNvPr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3905250"/>
                <a:gridCol w="396240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狀況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先留下的紀錄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接續方式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Lovable 額度用完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餘額與未完成項目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向講師取得群組加入方式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服務無回應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當下畫面與時間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換本機參考版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本機啟動失敗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指令與錯誤原文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2 分鐘後切備援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收藏沒有保留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網址、埠號、儲存警告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確認同一來源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group-fallback">
            <a:extLst xmlns:a="http://schemas.openxmlformats.org/drawingml/2006/main">
              <a:ext uri="{FF2B5EF4-FFF2-40B4-BE49-F238E27FC236}">
                <a16:creationId xmlns:a16="http://schemas.microsoft.com/office/drawing/2014/main" id="{4FC2B5E4-8189-42B7-BEE1-552D4D81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群組加入後仍無法建置時，使用離線參考版驗收</a:t>
            </a:r>
          </a:p>
        </p:txBody>
      </p:sp>
    </p:spTree>
    <p:extLst>
      <p:ext uri="{BB962C8B-B14F-4D97-AF65-F5344CB8AC3E}">
        <p14:creationId xmlns:p14="http://schemas.microsoft.com/office/powerpoint/2010/main" val="188546920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0">
            <a:extLst xmlns:a="http://schemas.openxmlformats.org/drawingml/2006/main">
              <a:ext uri="{FF2B5EF4-FFF2-40B4-BE49-F238E27FC236}">
                <a16:creationId xmlns:a16="http://schemas.microsoft.com/office/drawing/2014/main" id="{7432C822-7135-465D-99EB-0A556697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延伸 prompt：匯出行事曆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A0FA820-CB2C-4EA0-9F8D-C71194EFE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36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71F0B3B-823A-4A43-AA79-DDAD4C9A5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選做練習，不占正式課程的 15／5 分鐘比較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2DE6D43-88DE-4801-8323-FA06B2F8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09728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請讓我把全部收藏下載成 .ics 行事曆檔，不受搜尋或篩選影響，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匯入後要有正確的議程名稱、日期時間與會議室。</a:t>
            </a:r>
          </a:p>
          <a:p xmlns:a="http://schemas.openxmlformats.org/drawingml/2006/main">
            <a:pPr algn="l">
              <a:buNone/>
              <a:defRPr sz="22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/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請保留原有收藏與功能，沒有收藏時提示我先收藏。</a:t>
            </a:r>
          </a:p>
          <a:p xmlns:a="http://schemas.openxmlformats.org/drawingml/2006/main">
            <a:pPr algn="l">
              <a:buNone/>
              <a:defRPr sz="2550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550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完成後給我檔案，並說明怎麼驗證匯入結果。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B2D93460-090C-4E1C-BBAE-399584D4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檢查：兩場都匯入、日期時間與中文正確、原功能仍可用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C0C50C34-22EC-4FB2-96A9-D4BAD83F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1875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4887ec4535634922"/>
              </a:rPr>
              <a:t>格式參考：https://www.rfc-editor.org/rfc/rfc5545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07773995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B10E3FC-81CC-4654-A614-CEFED6DA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完整實測紀錄表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168A339-AC7D-4E99-BEF7-7DC67ADC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附錄：可直接複製 measurement-template.md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EEB7AD0-D4F8-4CC4-8785-C346AE28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37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A74757-A40E-4898-8A84-AAB1107BABE0}"/>
              </a:ext>
            </a:extLst>
          </p:cNvPr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820400" cy="4038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6953250"/>
                <a:gridCol w="2152650"/>
              </a:tblGrid>
              <a:tr h="807720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分類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必填內容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155EBD"/>
                          </a:solidFill>
                          <a:latin typeface="Heiti TC"/>
                          <a:ea typeface="Heiti TC"/>
                          <a:cs typeface="Heiti TC"/>
                        </a:rPr>
                        <a:t>缺資料時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T w="9525">
                      <a:solidFill>
                        <a:srgbClr val="D7E2EF"/>
                      </a:solidFill>
                      <a:prstDash val="solid"/>
                    </a:lnT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EDF3FC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條件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工具、模型、方案、版本、起始狀態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未取得／未揭露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時間、通過 ID、完成或截止狀態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投入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追加提示、主動工時、等待、用量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未取得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7720"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7E2EF"/>
                      </a:solidFill>
                      <a:prstDash val="solid"/>
                    </a:lnL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提示、截圖、程式、錯誤與修正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0">
                          <a:solidFill>
                            <a:srgbClr val="17283E"/>
                          </a:solidFill>
                          <a:latin typeface="Heiti TC"/>
                          <a:ea typeface="Heiti TC"/>
                          <a:cs typeface="Heiti TC"/>
                        </a:rPr>
                        <a:t>明確記錄原因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7E2EF"/>
                      </a:solidFill>
                      <a:prstDash val="solid"/>
                    </a:lnR>
                    <a:lnB w="9525">
                      <a:solidFill>
                        <a:srgbClr val="D7E2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321025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FB994DA1-F84A-4E11-8D10-B4937FC8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資料與官方參考網址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CBFA961-FB1E-475B-BE1D-79A9D736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10972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查核日期：2026-10-13；JSON 附件完整網址見第 12 頁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FAB65C-4353-4F93-9436-47863489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912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r">
              <a:buNone/>
              <a:defRPr sz="1500" b="0">
                <a:solidFill>
                  <a:srgbClr val="52647B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2647B"/>
                </a:solidFill>
                <a:latin typeface="Heiti TC"/>
                <a:ea typeface="Heiti TC"/>
                <a:cs typeface="Heiti TC"/>
              </a:rPr>
              <a:t>38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AC549FD-124D-41AE-86C5-63980313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HWDC 議程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66799B7-6799-4866-9637-747B206D9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9240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2cd3e542bdf04de2"/>
              </a:rPr>
              <a:t>https://hwdc.ithome.com.tw/2026/agenda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A39DC5D-AB7E-4811-AE00-2DF4226F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技術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547C206-3E72-40D4-A4A7-4700B669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717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3c594d989e14e71"/>
              </a:rPr>
              <a:t>https://docs.lovable.dev/introduction/faq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EA24E9F4-6D59-4039-BD67-1E5CC02F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Lovable 額度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11B5D85-1C05-4EA2-BAE1-2B8B9134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194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9f2d4c57f0fc4db5"/>
              </a:rPr>
              <a:t>https://docs.lovable.dev/introduction/credits-and-usage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8C3C4018-BF68-49C7-886B-2CEB96DF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671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桌面</a:t>
            </a:r>
          </a:p>
        </p:txBody>
      </p:sp>
      <p:sp>
        <p:nvSpPr>
          <p:cNvPr id="12" name="v4-38-8">
            <a:extLst xmlns:a="http://schemas.openxmlformats.org/drawingml/2006/main">
              <a:ext uri="{FF2B5EF4-FFF2-40B4-BE49-F238E27FC236}">
                <a16:creationId xmlns:a16="http://schemas.microsoft.com/office/drawing/2014/main" id="{EC86F266-742B-4101-B852-7FEC9F548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671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6fc65d8f53dd40f5"/>
              </a:rPr>
              <a:t>https://learn.chatgpt.com/docs/quickstart</a:t>
            </a:r>
          </a:p>
        </p:txBody>
      </p:sp>
      <p:sp>
        <p:nvSpPr>
          <p:cNvPr id="13" name="v4-38-9">
            <a:extLst xmlns:a="http://schemas.openxmlformats.org/drawingml/2006/main">
              <a:ext uri="{FF2B5EF4-FFF2-40B4-BE49-F238E27FC236}">
                <a16:creationId xmlns:a16="http://schemas.microsoft.com/office/drawing/2014/main" id="{A4F7825E-40B9-479F-8266-C734AB50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Codex 登入／計費</a:t>
            </a:r>
          </a:p>
        </p:txBody>
      </p:sp>
      <p:sp>
        <p:nvSpPr>
          <p:cNvPr id="14" name="v4-38-10">
            <a:extLst xmlns:a="http://schemas.openxmlformats.org/drawingml/2006/main">
              <a:ext uri="{FF2B5EF4-FFF2-40B4-BE49-F238E27FC236}">
                <a16:creationId xmlns:a16="http://schemas.microsoft.com/office/drawing/2014/main" id="{7208D0E7-AF9A-4A6F-B490-C00171C7C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5148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4e442ba0cd034cab"/>
              </a:rPr>
              <a:t>https://learn.chatgpt.com/docs/auth</a:t>
            </a:r>
          </a:p>
        </p:txBody>
      </p:sp>
      <p:sp>
        <p:nvSpPr>
          <p:cNvPr id="15" name="v4-38-11">
            <a:extLst xmlns:a="http://schemas.openxmlformats.org/drawingml/2006/main">
              <a:ext uri="{FF2B5EF4-FFF2-40B4-BE49-F238E27FC236}">
                <a16:creationId xmlns:a16="http://schemas.microsoft.com/office/drawing/2014/main" id="{5B76C102-FC49-4639-BF42-A49ED624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09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17283E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7283E"/>
                </a:solidFill>
                <a:latin typeface="Heiti TC"/>
                <a:ea typeface="Heiti TC"/>
                <a:cs typeface="Heiti TC"/>
              </a:rPr>
              <a:t>行事曆格式</a:t>
            </a:r>
          </a:p>
        </p:txBody>
      </p:sp>
      <p:sp>
        <p:nvSpPr>
          <p:cNvPr id="16" name="v4-38-12">
            <a:extLst xmlns:a="http://schemas.openxmlformats.org/drawingml/2006/main">
              <a:ext uri="{FF2B5EF4-FFF2-40B4-BE49-F238E27FC236}">
                <a16:creationId xmlns:a16="http://schemas.microsoft.com/office/drawing/2014/main" id="{0B9DD709-96CE-45FC-BBF2-ADBDAB39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62550"/>
            <a:ext cx="8077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155EBD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155EBD"/>
                </a:solidFill>
                <a:latin typeface="Heiti TC"/>
                <a:ea typeface="Heiti TC"/>
                <a:cs typeface="Heiti TC"/>
                <a:hlinkClick xmlns:r="http://schemas.openxmlformats.org/officeDocument/2006/relationships" r:id="R71638f2f062546a7"/>
              </a:rPr>
              <a:t>https://www.rfc-editor.org/rfc/rfc5545</a:t>
            </a:r>
          </a:p>
        </p:txBody>
      </p:sp>
    </p:spTree>
    <p:extLst>
      <p:ext uri="{BB962C8B-B14F-4D97-AF65-F5344CB8AC3E}">
        <p14:creationId xmlns:p14="http://schemas.microsoft.com/office/powerpoint/2010/main" val="1608723155"/>
      </p:ext>
    </p:extLst>
  </p:cSld>
</p:sld>
</file>

<file path=ppt/theme/theme1.xml><?xml version="1.0" encoding="utf-8"?>
<a:theme xmlns:a="http://schemas.openxmlformats.org/drawingml/2006/main" name="ChatGPT">
  <a:themeElements>
    <a:clrScheme name="HWDC workshop">
      <a:dk1>
        <a:srgbClr val="000000"/>
      </a:dk1>
      <a:lt1>
        <a:srgbClr val="FFFFFF"/>
      </a:lt1>
      <a:dk2>
        <a:srgbClr val="17283E"/>
      </a:dk2>
      <a:lt2>
        <a:srgbClr val="EDF3FC"/>
      </a:lt2>
      <a:accent1>
        <a:srgbClr val="155EBD"/>
      </a:accent1>
      <a:accent2>
        <a:srgbClr val="148677"/>
      </a:accent2>
      <a:accent3>
        <a:srgbClr val="D28C1F"/>
      </a:accent3>
      <a:accent4>
        <a:srgbClr val="9E382E"/>
      </a:accent4>
      <a:accent5>
        <a:srgbClr val="7165AA"/>
      </a:accent5>
      <a:accent6>
        <a:srgbClr val="32815B"/>
      </a:accent6>
      <a:hlink>
        <a:srgbClr val="155EBD"/>
      </a:hlink>
      <a:folHlink>
        <a:srgbClr val="7165AA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HWDC worksh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2026-10-13T07:31:00.1380000Z</dcterms:created>
  <dcterms:modified xsi:type="dcterms:W3CDTF">2026-10-13T07:31:00.1380000Z</dcterms:modified>
</coreProperties>
</file>